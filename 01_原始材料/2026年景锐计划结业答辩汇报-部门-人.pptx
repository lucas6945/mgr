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528" r:id="rId3"/>
    <p:sldId id="305" r:id="rId5"/>
    <p:sldId id="484" r:id="rId6"/>
    <p:sldId id="343" r:id="rId7"/>
    <p:sldId id="529" r:id="rId8"/>
    <p:sldId id="514" r:id="rId9"/>
    <p:sldId id="530" r:id="rId10"/>
    <p:sldId id="517" r:id="rId11"/>
    <p:sldId id="495" r:id="rId12"/>
    <p:sldId id="527" r:id="rId13"/>
    <p:sldId id="306" r:id="rId14"/>
  </p:sldIdLst>
  <p:sldSz cx="9144000" cy="5143500" type="screen16x9"/>
  <p:notesSz cx="9926320" cy="6797675"/>
  <p:custDataLst>
    <p:tags r:id="rId20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丹" initials="李丹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C0"/>
    <a:srgbClr val="FF0000"/>
    <a:srgbClr val="092C82"/>
    <a:srgbClr val="FF5050"/>
    <a:srgbClr val="01458E"/>
    <a:srgbClr val="ABE9D1"/>
    <a:srgbClr val="6987BD"/>
    <a:srgbClr val="267BC2"/>
    <a:srgbClr val="1F3187"/>
    <a:srgbClr val="427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86060" autoAdjust="0"/>
  </p:normalViewPr>
  <p:slideViewPr>
    <p:cSldViewPr snapToGrid="0">
      <p:cViewPr varScale="1">
        <p:scale>
          <a:sx n="145" d="100"/>
          <a:sy n="145" d="100"/>
        </p:scale>
        <p:origin x="6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7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429B9-0576-4692-8E7A-E3F007E328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B2AE7-519A-48E0-AD55-49282C1E08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96858-2A89-49EA-98E7-DFD60D5E81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14961-F65A-4D26-8BA8-63FDB50B39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页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74197" y="609599"/>
            <a:ext cx="8617879" cy="41466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buFont typeface="Wingdings" panose="05000000000000000000" pitchFamily="2" charset="2"/>
              <a:buNone/>
              <a:defRPr sz="18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1pPr>
            <a:lvl2pPr marL="716280" indent="-259080">
              <a:lnSpc>
                <a:spcPct val="125000"/>
              </a:lnSpc>
              <a:buFont typeface="Wingdings" panose="05000000000000000000" pitchFamily="2" charset="2"/>
              <a:buChar char="n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2pPr>
            <a:lvl3pPr marL="1254125" indent="-339725">
              <a:lnSpc>
                <a:spcPct val="125000"/>
              </a:lnSpc>
              <a:buFont typeface="Wingdings" panose="05000000000000000000" pitchFamily="2" charset="2"/>
              <a:buChar char="p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3pPr>
            <a:lvl4pPr marL="1616075" indent="-244475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4pPr>
            <a:lvl5pPr marL="2062480" indent="-233680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-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74197" y="609599"/>
            <a:ext cx="8617879" cy="4146699"/>
          </a:xfrm>
          <a:prstGeom prst="rect">
            <a:avLst/>
          </a:prstGeom>
        </p:spPr>
        <p:txBody>
          <a:bodyPr/>
          <a:lstStyle>
            <a:lvl1pPr marL="269875" indent="-269875">
              <a:lnSpc>
                <a:spcPct val="125000"/>
              </a:lnSpc>
              <a:buFont typeface="Wingdings" panose="05000000000000000000" pitchFamily="2" charset="2"/>
              <a:buChar char="Ø"/>
              <a:defRPr sz="18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1pPr>
            <a:lvl2pPr marL="716280" indent="-259080">
              <a:lnSpc>
                <a:spcPct val="125000"/>
              </a:lnSpc>
              <a:buFont typeface="Wingdings" panose="05000000000000000000" pitchFamily="2" charset="2"/>
              <a:buChar char="n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2pPr>
            <a:lvl3pPr marL="1254125" indent="-339725">
              <a:lnSpc>
                <a:spcPct val="125000"/>
              </a:lnSpc>
              <a:buFont typeface="Wingdings" panose="05000000000000000000" pitchFamily="2" charset="2"/>
              <a:buChar char="p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3pPr>
            <a:lvl4pPr marL="1616075" indent="-244475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4pPr>
            <a:lvl5pPr marL="2062480" indent="-233680">
              <a:lnSpc>
                <a:spcPct val="125000"/>
              </a:lnSpc>
              <a:buFont typeface="Arial" panose="020B0604020202020204" pitchFamily="34" charset="0"/>
              <a:buChar char="•"/>
              <a:defRPr sz="1800" b="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-图表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-正文较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61290" y="4866005"/>
            <a:ext cx="53975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3BD1972F-2EEE-4A0E-B49C-BB088E7DE62D}" type="slidenum">
              <a:rPr lang="zh-CN" altLang="en-US" sz="900" b="0" kern="1200" cap="none" spc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z="900" b="0" kern="1200" cap="none" spc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403498" y="112711"/>
            <a:ext cx="7488578" cy="34094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5383"/>
            <a:ext cx="9144000" cy="13104"/>
          </a:xfrm>
          <a:prstGeom prst="rect">
            <a:avLst/>
          </a:prstGeom>
        </p:spPr>
      </p:pic>
      <p:pic>
        <p:nvPicPr>
          <p:cNvPr id="9" name="图片 8" descr="ppt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026" y="171249"/>
            <a:ext cx="1281803" cy="292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/>
          <p:cNvSpPr>
            <a:spLocks noGrp="1"/>
          </p:cNvSpPr>
          <p:nvPr>
            <p:ph idx="1"/>
          </p:nvPr>
        </p:nvSpPr>
        <p:spPr>
          <a:xfrm>
            <a:off x="457200" y="1200153"/>
            <a:ext cx="8229601" cy="3394472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1pPr>
            <a:lvl2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TW" altLang="en-US" noProof="1"/>
              <a:t>按一下以編輯母片文字樣式</a:t>
            </a:r>
            <a:endParaRPr lang="zh-TW" altLang="en-US" noProof="1"/>
          </a:p>
          <a:p>
            <a:pPr lvl="1"/>
            <a:r>
              <a:rPr lang="zh-TW" altLang="en-US" noProof="1"/>
              <a:t>第二層</a:t>
            </a:r>
            <a:endParaRPr lang="zh-TW" altLang="en-US" noProof="1"/>
          </a:p>
          <a:p>
            <a:pPr lvl="2"/>
            <a:r>
              <a:rPr lang="zh-TW" altLang="en-US" noProof="1"/>
              <a:t>第三層</a:t>
            </a:r>
            <a:endParaRPr lang="zh-TW" altLang="en-US" noProof="1"/>
          </a:p>
          <a:p>
            <a:pPr lvl="3"/>
            <a:r>
              <a:rPr lang="zh-TW" altLang="en-US" noProof="1"/>
              <a:t>第四層</a:t>
            </a:r>
            <a:endParaRPr lang="zh-TW" altLang="en-US" noProof="1"/>
          </a:p>
          <a:p>
            <a:pPr lvl="4"/>
            <a:r>
              <a:rPr lang="zh-TW" altLang="en-US" noProof="1"/>
              <a:t>第五層</a:t>
            </a:r>
            <a:endParaRPr lang="zh-TW" altLang="en-US" noProof="1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051299" y="4932358"/>
            <a:ext cx="1041402" cy="15478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5B97505E-3EB3-4447-B3F7-99CB90D72FEC}" type="datetime1">
              <a:rPr lang="zh-TW" altLang="en-US"/>
            </a:fld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02443" y="4932358"/>
            <a:ext cx="3105151" cy="15478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457949" y="4932358"/>
            <a:ext cx="2182416" cy="15478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336CCA2F-4672-40EE-9E25-DD8B20F92138}" type="slidenum">
              <a:rPr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11"/>
          <p:cNvPicPr/>
          <p:nvPr userDrawn="1"/>
        </p:nvPicPr>
        <p:blipFill>
          <a:blip r:embed="rId11"/>
          <a:stretch>
            <a:fillRect/>
          </a:stretch>
        </p:blipFill>
        <p:spPr>
          <a:xfrm>
            <a:off x="0" y="541323"/>
            <a:ext cx="9144000" cy="18000"/>
          </a:xfrm>
          <a:prstGeom prst="rect">
            <a:avLst/>
          </a:prstGeom>
        </p:spPr>
      </p:pic>
      <p:pic>
        <p:nvPicPr>
          <p:cNvPr id="9" name="图片 8" descr="ppt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5735" y="100330"/>
            <a:ext cx="1671320" cy="3829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28065" y="1592580"/>
            <a:ext cx="6914515" cy="213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200000"/>
              </a:lnSpc>
            </a:pPr>
            <a:r>
              <a:rPr 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1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、请结合在景锐的所学与收获，根据此模版制作个人答辩汇报</a:t>
            </a:r>
            <a:r>
              <a:rPr lang="en-US" altLang="zh-CN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ppt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，汇报时长为</a:t>
            </a:r>
            <a:r>
              <a:rPr lang="en-US" altLang="zh-CN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20min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，届时将以一级部门为单位组织答辩，</a:t>
            </a:r>
            <a:r>
              <a:rPr lang="en-US" altLang="zh-CN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PPT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提交时间为</a:t>
            </a:r>
            <a:r>
              <a:rPr lang="en-US" altLang="zh-CN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8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月</a:t>
            </a:r>
            <a:r>
              <a:rPr lang="en-US" altLang="zh-CN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20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日，提交至共享盘内；</a:t>
            </a:r>
            <a:endParaRPr lang="zh-CN" altLang="en-US" sz="1400" i="0" u="none" strike="noStrike">
              <a:solidFill>
                <a:srgbClr val="3741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200000"/>
              </a:lnSpc>
            </a:pPr>
            <a:r>
              <a:rPr lang="en-US" altLang="zh-CN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2</a:t>
            </a:r>
            <a:r>
              <a:rPr lang="zh-CN" altLang="en-US" sz="14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、现场将邀请部门领导担任答辩评委，评审结果将直接影响是否能从景锐顺利结业，请大家认真准备。</a:t>
            </a:r>
            <a:endParaRPr lang="en-US" sz="1400" b="0" i="0" u="none" strike="noStrike">
              <a:solidFill>
                <a:srgbClr val="3741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200000"/>
              </a:lnSpc>
            </a:pPr>
            <a:endParaRPr lang="en-US" sz="1400" b="0" i="0" u="none" strike="noStrike">
              <a:solidFill>
                <a:srgbClr val="3741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368290" y="85725"/>
            <a:ext cx="377571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sz="18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结业汇报说明</a:t>
            </a:r>
            <a:r>
              <a:rPr lang="en-US" altLang="zh-CN" sz="18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18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此页需删除</a:t>
            </a:r>
            <a:endParaRPr lang="zh-CN" altLang="en-US" sz="1800" b="1" dirty="0" smtClean="0">
              <a:solidFill>
                <a:srgbClr val="1F43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" y="3078841"/>
            <a:ext cx="9143776" cy="206465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7402" y="1527149"/>
            <a:ext cx="7537251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5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Medium" panose="00000600000000000000" charset="-122"/>
              </a:rPr>
              <a:t>202</a:t>
            </a:r>
            <a:r>
              <a:rPr lang="en-US" altLang="zh-CN" sz="35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Medium" panose="00000600000000000000" charset="-122"/>
              </a:rPr>
              <a:t>6</a:t>
            </a:r>
            <a:r>
              <a:rPr lang="zh-CN" altLang="en-US" sz="35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Medium" panose="00000600000000000000" charset="-122"/>
              </a:rPr>
              <a:t>年</a:t>
            </a:r>
            <a:r>
              <a:rPr lang="zh-CN" altLang="en-US" sz="35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Medium" panose="00000600000000000000" charset="-122"/>
                <a:sym typeface="+mn-ea"/>
              </a:rPr>
              <a:t>景锐计划结业</a:t>
            </a:r>
            <a:r>
              <a:rPr lang="zh-CN" altLang="en-US" sz="3500" b="1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Medium" panose="00000600000000000000" charset="-122"/>
              </a:rPr>
              <a:t>答辩汇报</a:t>
            </a:r>
            <a:endParaRPr lang="zh-CN" altLang="zh-CN" sz="2800" b="1" dirty="0">
              <a:solidFill>
                <a:srgbClr val="1F43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armonyOS Sans SC Medium" panose="00000600000000000000" charset="-122"/>
            </a:endParaRPr>
          </a:p>
        </p:txBody>
      </p:sp>
      <p:sp>
        <p:nvSpPr>
          <p:cNvPr id="21" name="TextBox 32"/>
          <p:cNvSpPr txBox="1"/>
          <p:nvPr/>
        </p:nvSpPr>
        <p:spPr>
          <a:xfrm>
            <a:off x="6022437" y="3464896"/>
            <a:ext cx="3113595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部门</a:t>
            </a:r>
            <a:r>
              <a:rPr lang="zh-CN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人：</a:t>
            </a:r>
            <a:endParaRPr lang="en-US" altLang="zh-CN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50" y="-8890"/>
            <a:ext cx="912939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ppt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02" y="557786"/>
            <a:ext cx="2139260" cy="488945"/>
          </a:xfrm>
          <a:prstGeom prst="rect">
            <a:avLst/>
          </a:prstGeom>
        </p:spPr>
      </p:pic>
      <p:pic>
        <p:nvPicPr>
          <p:cNvPr id="6" name="图片 5" descr="ppt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775" y="557786"/>
            <a:ext cx="1989049" cy="604880"/>
          </a:xfrm>
          <a:prstGeom prst="rect">
            <a:avLst/>
          </a:prstGeom>
        </p:spPr>
      </p:pic>
      <p:pic>
        <p:nvPicPr>
          <p:cNvPr id="8" name="图片 7" descr="微信图片_2023052615163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69856" y="425180"/>
            <a:ext cx="1567000" cy="621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3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2626" y="0"/>
            <a:ext cx="9156626" cy="5150603"/>
          </a:xfrm>
          <a:prstGeom prst="rect">
            <a:avLst/>
          </a:prstGeom>
        </p:spPr>
      </p:pic>
      <p:pic>
        <p:nvPicPr>
          <p:cNvPr id="9" name="图片 8" descr="产品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968" y="1600133"/>
            <a:ext cx="888892" cy="888892"/>
          </a:xfrm>
          <a:prstGeom prst="rect">
            <a:avLst/>
          </a:prstGeom>
        </p:spPr>
      </p:pic>
      <p:sp>
        <p:nvSpPr>
          <p:cNvPr id="12" name="等腰三角形 11"/>
          <p:cNvSpPr/>
          <p:nvPr/>
        </p:nvSpPr>
        <p:spPr>
          <a:xfrm>
            <a:off x="1282608" y="3096554"/>
            <a:ext cx="144378" cy="124463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45"/>
          </a:p>
        </p:txBody>
      </p:sp>
      <p:sp>
        <p:nvSpPr>
          <p:cNvPr id="15" name="文本框 19"/>
          <p:cNvSpPr txBox="1"/>
          <p:nvPr/>
        </p:nvSpPr>
        <p:spPr>
          <a:xfrm>
            <a:off x="595281" y="2400300"/>
            <a:ext cx="1526265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175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录</a:t>
            </a:r>
            <a:endParaRPr lang="zh-CN" altLang="en-US" sz="3175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2788920" y="1261745"/>
            <a:ext cx="4432935" cy="262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0" tIns="45714" rIns="91430" bIns="45714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一、我的学习收获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二、我的应用实践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三、我的行动计划</a:t>
            </a:r>
            <a:endParaRPr lang="zh-CN" altLang="en-US" sz="2000" b="1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5368290" y="85725"/>
            <a:ext cx="3775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一、我的学习收获</a:t>
            </a:r>
            <a:endParaRPr 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内容占位符 1"/>
          <p:cNvSpPr txBox="1"/>
          <p:nvPr>
            <p:custDataLst>
              <p:tags r:id="rId1"/>
            </p:custDataLst>
          </p:nvPr>
        </p:nvSpPr>
        <p:spPr>
          <a:xfrm>
            <a:off x="1172845" y="2232660"/>
            <a:ext cx="7696472" cy="470157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5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1pPr>
            <a:lvl2pPr marL="716280" indent="-259080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Wingdings" panose="05000000000000000000" pitchFamily="2" charset="2"/>
              <a:buChar char="n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2pPr>
            <a:lvl3pPr marL="1254125" indent="-339725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Wingdings" panose="05000000000000000000" pitchFamily="2" charset="2"/>
              <a:buChar char="p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3pPr>
            <a:lvl4pPr marL="1616075" indent="-244475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4pPr>
            <a:lvl5pPr marL="2062480" indent="-233680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ea"/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总结四个主题的学习收获与心得，阐述培训后对管理角色的新认知</a:t>
            </a:r>
            <a:endParaRPr lang="zh-CN" altLang="en-US" sz="16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</a:endParaRPr>
          </a:p>
          <a:p>
            <a:pPr>
              <a:buFont typeface="+mj-ea"/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参考提纲：① 四个主题学习总结与心得 ② 对管理角色的新认知</a:t>
            </a:r>
            <a:endParaRPr lang="zh-CN" altLang="en-US" sz="16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3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2626" y="0"/>
            <a:ext cx="9156626" cy="5150603"/>
          </a:xfrm>
          <a:prstGeom prst="rect">
            <a:avLst/>
          </a:prstGeom>
        </p:spPr>
      </p:pic>
      <p:pic>
        <p:nvPicPr>
          <p:cNvPr id="9" name="图片 8" descr="产品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968" y="1600133"/>
            <a:ext cx="888892" cy="888892"/>
          </a:xfrm>
          <a:prstGeom prst="rect">
            <a:avLst/>
          </a:prstGeom>
        </p:spPr>
      </p:pic>
      <p:sp>
        <p:nvSpPr>
          <p:cNvPr id="12" name="等腰三角形 11"/>
          <p:cNvSpPr/>
          <p:nvPr/>
        </p:nvSpPr>
        <p:spPr>
          <a:xfrm>
            <a:off x="1282608" y="3096554"/>
            <a:ext cx="144378" cy="124463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45"/>
          </a:p>
        </p:txBody>
      </p:sp>
      <p:sp>
        <p:nvSpPr>
          <p:cNvPr id="15" name="文本框 19"/>
          <p:cNvSpPr txBox="1"/>
          <p:nvPr/>
        </p:nvSpPr>
        <p:spPr>
          <a:xfrm>
            <a:off x="595281" y="2400300"/>
            <a:ext cx="1526265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175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录</a:t>
            </a:r>
            <a:endParaRPr lang="zh-CN" altLang="en-US" sz="3175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2788920" y="1261745"/>
            <a:ext cx="4432935" cy="262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0" tIns="45714" rIns="91430" bIns="45714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一、我的学习收获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二、我的应用实践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三、我的行动计划</a:t>
            </a:r>
            <a:endParaRPr lang="zh-CN" altLang="en-US" sz="2000" b="1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5368290" y="85725"/>
            <a:ext cx="3775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</a:t>
            </a:r>
            <a:r>
              <a:rPr 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、我的应用实践</a:t>
            </a:r>
            <a:endParaRPr 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内容占位符 1"/>
          <p:cNvSpPr txBox="1"/>
          <p:nvPr>
            <p:custDataLst>
              <p:tags r:id="rId1"/>
            </p:custDataLst>
          </p:nvPr>
        </p:nvSpPr>
        <p:spPr>
          <a:xfrm>
            <a:off x="809625" y="1687830"/>
            <a:ext cx="7819844" cy="88392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5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1pPr>
            <a:lvl2pPr marL="716280" indent="-259080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Wingdings" panose="05000000000000000000" pitchFamily="2" charset="2"/>
              <a:buChar char="n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2pPr>
            <a:lvl3pPr marL="1254125" indent="-339725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Wingdings" panose="05000000000000000000" pitchFamily="2" charset="2"/>
              <a:buChar char="p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3pPr>
            <a:lvl4pPr marL="1616075" indent="-244475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4pPr>
            <a:lvl5pPr marL="2062480" indent="-233680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buFont typeface="+mj-ea"/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选取一个做得最好的主题和一个有待提升的主题，各结合1-2个工作案例进行分析，总结优秀经验与不足。</a:t>
            </a:r>
            <a:endParaRPr lang="zh-CN" altLang="en-US" sz="16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algn="l">
              <a:lnSpc>
                <a:spcPct val="150000"/>
              </a:lnSpc>
              <a:buFont typeface="+mj-ea"/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参考提纲：① 优秀案例分析：做法、成果与经验沉淀 ② 待提升案例分析：卡点、反思与改进思路</a:t>
            </a:r>
            <a:endParaRPr lang="zh-CN" altLang="en-US" sz="16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32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2626" y="0"/>
            <a:ext cx="9156626" cy="5150603"/>
          </a:xfrm>
          <a:prstGeom prst="rect">
            <a:avLst/>
          </a:prstGeom>
        </p:spPr>
      </p:pic>
      <p:pic>
        <p:nvPicPr>
          <p:cNvPr id="9" name="图片 8" descr="产品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968" y="1600133"/>
            <a:ext cx="888892" cy="888892"/>
          </a:xfrm>
          <a:prstGeom prst="rect">
            <a:avLst/>
          </a:prstGeom>
        </p:spPr>
      </p:pic>
      <p:sp>
        <p:nvSpPr>
          <p:cNvPr id="12" name="等腰三角形 11"/>
          <p:cNvSpPr/>
          <p:nvPr/>
        </p:nvSpPr>
        <p:spPr>
          <a:xfrm>
            <a:off x="1282608" y="3096554"/>
            <a:ext cx="144378" cy="124463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45"/>
          </a:p>
        </p:txBody>
      </p:sp>
      <p:sp>
        <p:nvSpPr>
          <p:cNvPr id="15" name="文本框 19"/>
          <p:cNvSpPr txBox="1"/>
          <p:nvPr/>
        </p:nvSpPr>
        <p:spPr>
          <a:xfrm>
            <a:off x="595281" y="2400300"/>
            <a:ext cx="1526265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175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录</a:t>
            </a:r>
            <a:endParaRPr lang="zh-CN" altLang="en-US" sz="3175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2788920" y="1261745"/>
            <a:ext cx="4432935" cy="262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0" tIns="45714" rIns="91430" bIns="45714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一、我的学习收获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二、我的应用实践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defTabSz="914400" ea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000" b="1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三、我的行动计划</a:t>
            </a:r>
            <a:endParaRPr lang="zh-CN" altLang="en-US" sz="2000" b="1" kern="0" dirty="0" smtClean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/>
          <p:nvPr>
            <p:custDataLst>
              <p:tags r:id="rId1"/>
            </p:custDataLst>
          </p:nvPr>
        </p:nvSpPr>
        <p:spPr>
          <a:xfrm>
            <a:off x="693420" y="1934210"/>
            <a:ext cx="7486015" cy="88392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25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1pPr>
            <a:lvl2pPr marL="716280" indent="-259080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Wingdings" panose="05000000000000000000" pitchFamily="2" charset="2"/>
              <a:buChar char="n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2pPr>
            <a:lvl3pPr marL="1254125" indent="-339725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Wingdings" panose="05000000000000000000" pitchFamily="2" charset="2"/>
              <a:buChar char="p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3pPr>
            <a:lvl4pPr marL="1616075" indent="-244475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4pPr>
            <a:lvl5pPr marL="2062480" indent="-233680" algn="l" defTabSz="685800" rtl="0" eaLnBrk="1" latinLnBrk="0" hangingPunct="1">
              <a:lnSpc>
                <a:spcPct val="125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kern="1200" baseline="0">
                <a:solidFill>
                  <a:srgbClr val="092C82"/>
                </a:solidFill>
                <a:latin typeface="Arial Unicode MS" panose="020B0604020202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ea"/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回顾</a:t>
            </a:r>
            <a:r>
              <a:rPr lang="en-US" altLang="zh-CN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IDP</a:t>
            </a: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达成情况，复盘管理实践中的不足，与上级沟通制定下一阶段改进计划。</a:t>
            </a:r>
            <a:endParaRPr lang="zh-CN" altLang="en-US" sz="16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</a:endParaRPr>
          </a:p>
          <a:p>
            <a:pPr>
              <a:buFont typeface="+mj-ea"/>
            </a:pP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参考提纲：① </a:t>
            </a:r>
            <a:r>
              <a:rPr lang="en-US" altLang="zh-CN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IDP</a:t>
            </a: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</a:rPr>
              <a:t>达成情况总结 ② 个人差距与反思 ③ 未来行动计划</a:t>
            </a:r>
            <a:endParaRPr lang="zh-CN" altLang="en-US" sz="16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68290" y="85725"/>
            <a:ext cx="3775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三、我的行动计划</a:t>
            </a:r>
            <a:endParaRPr 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316230" y="633095"/>
            <a:ext cx="4946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IDP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看板（年底纳入组长年度工作总结）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16230" y="1180465"/>
          <a:ext cx="8429625" cy="3856355"/>
        </p:xfrm>
        <a:graphic>
          <a:graphicData uri="http://schemas.openxmlformats.org/drawingml/2006/table">
            <a:tbl>
              <a:tblPr/>
              <a:tblGrid>
                <a:gridCol w="511175"/>
                <a:gridCol w="1019175"/>
                <a:gridCol w="1350645"/>
                <a:gridCol w="2774315"/>
                <a:gridCol w="2774315"/>
              </a:tblGrid>
              <a:tr h="351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维度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需要提升的能力项</a:t>
                      </a:r>
                      <a:endParaRPr lang="en-US" altLang="en-US" sz="9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能力提升目标</a:t>
                      </a:r>
                      <a:endParaRPr lang="en-US" altLang="en-US" sz="9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能力提升计划</a:t>
                      </a:r>
                      <a:endParaRPr lang="en-US" altLang="en-US" sz="9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900" b="1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当前完成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情况总结</a:t>
                      </a:r>
                      <a:endParaRPr lang="zh-CN" altLang="en-US" sz="9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01675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团队层面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  </a:t>
                      </a:r>
                      <a:endParaRPr lang="en-US" altLang="en-US" sz="9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1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231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个人层面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  </a:t>
                      </a:r>
                      <a:endParaRPr lang="en-US" altLang="en-US" sz="9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7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23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9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368290" y="85725"/>
            <a:ext cx="3775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三、我的行动计划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68290" y="85725"/>
            <a:ext cx="3775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我的行动计划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ppt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96" y="3785543"/>
            <a:ext cx="9143776" cy="135795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62255" y="1906474"/>
            <a:ext cx="58391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solidFill>
                  <a:srgbClr val="1F43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Medium" panose="00000600000000000000" charset="-122"/>
              </a:rPr>
              <a:t>让学习成为一种习惯！</a:t>
            </a:r>
            <a:endParaRPr lang="zh-CN" altLang="en-US" sz="3600" dirty="0">
              <a:solidFill>
                <a:srgbClr val="1F43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armonyOS Sans SC Medium" panose="000006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50" y="-8890"/>
            <a:ext cx="912939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23.5,&quot;left&quot;:52.45,&quot;top&quot;:83.4,&quot;width&quot;:601.35}"/>
</p:tagLst>
</file>

<file path=ppt/tags/tag2.xml><?xml version="1.0" encoding="utf-8"?>
<p:tagLst xmlns:p="http://schemas.openxmlformats.org/presentationml/2006/main">
  <p:tag name="KSO_WM_UNIT_PLACING_PICTURE_USER_VIEWPORT" val="{&quot;height&quot;:1627,&quot;width&quot;:4104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663*312"/>
  <p:tag name="TABLE_ENDDRAG_RECT" val="24*52*663*312"/>
</p:tagLst>
</file>

<file path=ppt/tags/tag7.xml><?xml version="1.0" encoding="utf-8"?>
<p:tagLst xmlns:p="http://schemas.openxmlformats.org/presentationml/2006/main">
  <p:tag name="KSO_WPP_MARK_KEY" val="a054b142-8335-43b6-bf41-40f79c311978"/>
  <p:tag name="COMMONDATA" val="eyJoZGlkIjoiYmFlYTVlNTBmMjExM2Q4NjIzYzI2MzJhOTU0MWFjZDk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593</Words>
  <Application>WPS 演示</Application>
  <PresentationFormat>全屏显示(16:9)</PresentationFormat>
  <Paragraphs>72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 Unicode MS</vt:lpstr>
      <vt:lpstr>DFKai-SB</vt:lpstr>
      <vt:lpstr>MingLiU-ExtB</vt:lpstr>
      <vt:lpstr>Noto Sans SC</vt:lpstr>
      <vt:lpstr>HarmonyOS Sans SC Medium</vt:lpstr>
      <vt:lpstr>思源黑体 CN Bold</vt:lpstr>
      <vt:lpstr>黑体</vt:lpstr>
      <vt:lpstr>Calibri</vt:lpstr>
      <vt:lpstr>KSOFD72470BC</vt:lpstr>
      <vt:lpstr>Segoe Print</vt:lpstr>
      <vt:lpstr>PMingLiU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陈昭</dc:creator>
  <cp:lastModifiedBy>盆子会</cp:lastModifiedBy>
  <cp:revision>331</cp:revision>
  <cp:lastPrinted>2022-11-02T11:52:00Z</cp:lastPrinted>
  <dcterms:created xsi:type="dcterms:W3CDTF">2018-07-10T01:06:00Z</dcterms:created>
  <dcterms:modified xsi:type="dcterms:W3CDTF">2026-08-06T01:39:16Z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5BF5A9BB9C264B8AA13E3FAAB1C878BF</vt:lpwstr>
  </property>
</Properties>
</file>