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531" r:id="rId3"/>
    <p:sldId id="532" r:id="rId5"/>
    <p:sldId id="533" r:id="rId6"/>
    <p:sldId id="534" r:id="rId7"/>
    <p:sldId id="535" r:id="rId8"/>
    <p:sldId id="546" r:id="rId9"/>
    <p:sldId id="536" r:id="rId10"/>
    <p:sldId id="537" r:id="rId11"/>
    <p:sldId id="538" r:id="rId12"/>
    <p:sldId id="539" r:id="rId13"/>
    <p:sldId id="548" r:id="rId14"/>
    <p:sldId id="540" r:id="rId15"/>
    <p:sldId id="547" r:id="rId16"/>
    <p:sldId id="541" r:id="rId17"/>
    <p:sldId id="542" r:id="rId18"/>
    <p:sldId id="543" r:id="rId19"/>
    <p:sldId id="544" r:id="rId20"/>
  </p:sldIdLst>
  <p:sldSz cx="9144000" cy="5143500" type="screen16x9"/>
  <p:notesSz cx="9926320" cy="6797675"/>
  <p:custDataLst>
    <p:tags r:id="rId26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丹" initials="李丹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C0"/>
    <a:srgbClr val="FF0000"/>
    <a:srgbClr val="092C82"/>
    <a:srgbClr val="FF5050"/>
    <a:srgbClr val="01458E"/>
    <a:srgbClr val="ABE9D1"/>
    <a:srgbClr val="6987BD"/>
    <a:srgbClr val="267BC2"/>
    <a:srgbClr val="1F3187"/>
    <a:srgbClr val="427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86060" autoAdjust="0"/>
  </p:normalViewPr>
  <p:slideViewPr>
    <p:cSldViewPr snapToGrid="0">
      <p:cViewPr varScale="1">
        <p:scale>
          <a:sx n="145" d="100"/>
          <a:sy n="145" d="100"/>
        </p:scale>
        <p:origin x="6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429B9-0576-4692-8E7A-E3F007E328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B2AE7-519A-48E0-AD55-49282C1E08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96858-2A89-49EA-98E7-DFD60D5E81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各位领导、老师好，我是通信协议室的周晶。今天我汇报的主题是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带着目标，管人理事：链路层副主任角色转型实践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参加景锐计划之前，我对管理的理解更多停留在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把事干成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遇到复杂问题，我习惯自己判断、自己协调、自己兜底。景锐学习之后，我对副主任角色有了更清晰的认识：管理不是替团队做更多事，而是带着组织目标，把人管起来，把事理清楚，让团队形成持续作战能力。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今天我会围绕学习收获、应用实践和下一阶段行动计划展开，重点讲我在链路层团队中的角色定位、当前困境、做得相对好的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角实践、做得不够的过程闭环案例，以及后续围绕全向定向融合的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计划。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我的汇报主线是五个词：目标牵引、角色转型、案例实践、机制沉淀、融合提效。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部分，我会先讲学习收获。景锐的四个主题，在我这里可以收束成一句话：带着目标，去管人和理事。这里既包括我对管理的重新理解，也包括我作为链路层副主任的岗位定位，以及为什么在当前业务和人员结构下必须转管理方式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第二部分，我会讲应用实践。做得好的部分，我会重点讲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角机制，尤其是对湘湘的选择性引导、对任霜的支持式沟通、对符兵的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培养，以及这些动作如何沉淀成团队行为准则和工作重排。做得不好的部分，我会讲泰利评审闭环不足，这个案例提醒我过程管理必须敢于提要求、定节点、不轻易让步。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第三部分，我会回到原答辩提纲，按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达成情况总结、个人差距与反思、未来行动计划来讲。下一阶段我不只是继续做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角，而是要以全向定向大融合为牵引，把技术方向、流程规则和人力培养结合起来。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景锐学习对我最大的改变，是让我把管理从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经验反应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变成了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有框架地行动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我现在对管理的理解，可以概括为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带着目标，去管人和理事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目标是前提。没有目标，管人就容易变成单纯催进度，理事就容易变成处理琐事。对我所在的链路层团队来说，目标有三层：第一是科室绩效目标，要按期交付、质量稳定、过程可追溯；第二是产品线目标，要支撑全向、定向多个型号交付，同时支撑民品业务转型；第三是团队目标，要减少单点依赖，让团队能力能持续增长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人，主要对应培训中的培养与沟通、激励与引导。不同成员要用不同方式。对湘湘这样的骨干，要授权和给位置；对任霜，要支持和认可；对泰利，要先指令式给清楚边界；对符兵和周非凡，要给学习路径和真实任务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理事，主要对应自我管理与工作分派、目标与过程管理。我的变化是，不再只问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这件事我能不能做完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，而是问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目标是否清楚、责任是否明确、节点是否可查、风险是否能提前暴露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SMART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、四象限和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99%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检查，都是把事情理清楚的工具。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第二个学习收获，是我对自己岗位定位的重新理解。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我过去容易把自己当成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大号技术骨干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。技术难题我来判断，复杂接口我去协调，关键问题我来兜底。但副主任的价值不应该只是个人技术能力更强，而是要在三个层面产生作用。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是技术引领者。链路层现在面对的不只是传统维护工作，而是全向、定向、民品系列多条线并行。我的技术积累要用在大特性牵引、整体方向把握和重大方案把关上，比如无中心、分裂融合、分层分簇、空分复用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1Gbps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、可靠传输等能力，最终目标是让整个网络能力更强、架构更稳。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第二是流程规则制定者。架构设计、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、自测试、评审闭环，不能只靠个人习惯推进，要形成规则。比如链路层代码架构、模块化规则、数据面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辅助开发、自验证流程，这些是团队长期效率的基础。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第三是资源调配与人力培养者。当前人员能力有差异，项目压力也不均衡。我的职责不是让最强的人一直扛，而是通过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A/B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角、任务重排、全向定向融合，把不同成员组合起来，形成团队能力。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为什么我必须转变管理方式？核心原因是链路层现在的业务和人员结构都发生了变化。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上，不只是项目变多，而是项目、特性和规模同时放大。全向、定向除了当前型号和历史项目，还要面对民品转型，新起全向和定向民品系列项目。定向民品又有一体式、分布式、小型化、单阵面等不同形态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链路层特性也从前期多年维护的三大模块，也就是组网、资源分配、数据传输，扩展到无中心、分裂融合、分层分簇、自适应速率、功率、频率、空分复用、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、可靠传输、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1Gbps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等能力。网络层还会带来异构网络、网络回环、端到端重传、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TCP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业务代理等联动需求。节点规模也从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节点扩展到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节点，后续甚至会到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64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人员上，困难也很现实。湘湘有能力、有态度，但毕业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，复杂方案火候还需要继续磨；任霜有能力，但在交接文档、主动输出上需要推动，而且怀孕期间不能碰射频设备，后续还有产假风险；符兵转入时间不长，很多事情还需要指点；泰利能力一般，又涉及武汉分部和出差安排；武汉分部成员本地缺项目和设备，工作连续性容易被打断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所以我的判断是，如果继续靠我个人兜底，团队会越来越忙，但组织能力不会同步增长。必须通过管理动作，把业务压力转化为机制建设和人才培养的机会。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我的汇报主线是五个词：目标牵引、角色转型、案例实践、机制沉淀、融合提效。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部分，我会先讲学习收获。景锐的四个主题，在我这里可以收束成一句话：带着目标，去管人和理事。这里既包括我对管理的重新理解，也包括我作为链路层副主任的岗位定位，以及为什么在当前业务和人员结构下必须转管理方式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第二部分，我会讲应用实践。做得好的部分，我会重点讲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角机制，尤其是对湘湘的选择性引导、对任霜的支持式沟通、对符兵的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培养，以及这些动作如何沉淀成团队行为准则和工作重排。做得不好的部分，我会讲泰利评审闭环不足，这个案例提醒我过程管理必须敢于提要求、定节点、不轻易让步。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第三部分，我会回到原答辩提纲，按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达成情况总结、个人差距与反思、未来行动计划来讲。下一阶段我不只是继续做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角，而是要以全向定向大融合为牵引，把技术方向、流程规则和人力培养结合起来。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前面讲的是认知和定位，接下来进入应用实践。这个部分的主题，从个人兜底到团队机制，主要目标是：从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个人接口型团队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，调整成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目标清楚、主责明确、有人备份、过程闭环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的团队。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我把这一部分分成三层。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第一层是机制主干，就是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角机制和工作重排。先把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谁牵头、谁承接、谁把关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说清楚，否则后面的培养和激励都没有落点。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第二层是人员推动。机制立起来以后，人不一定天然就会动起来，所以要通过个人谈心、选择性引导、支持式沟通和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培养，让不同成员在自己的能力边界内承接真实任务。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第三层是运行固化。一次谈心、一次授权，都不能保证机制长期有效，所以还要有行为准则、月度目标对齐和检查节奏，让团队形成稳定工作习惯。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第一个优秀案例，是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角机制中对湘湘的选择性引导。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湘湘是定向组网方向的骨干，上半年做了多跳组网、无中心等核心功能。下半年还有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节点、无中心、分裂融合、分层分簇、模块化和自验证等任务。如果这些事情继续都回到我这里，团队会越来越被动。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所以我没有简单对湘湘说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你以后多承担点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，而是按选择性引导的方式去沟通。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第一步，先给价值锚点。我先认可她上半年做的事情，告诉她多跳组网、无中心这些都是协议核心功能，领导和外界都特别关注，这不是普通执行任务。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第二步，再给角色定位。下半年组网相关工作由她主导，尤其是任务拆分、方案初判、带泰利把功能做稳。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第三步，明确支持边界。我不会把风险全甩给她，我会负责垫后。遇到跨科室争议、高风险方案、资源协调时，我介入压阵。这样她感受到的是授权和支持，而不是单纯加活。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第四步，把现实约束讲清楚。泰利出差会影响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节点等任务连续性，任霜后续又有离岗风险，如果组网方向还不能前推，后续系统和项目负责人要功能、要性能时，我们就会非常被动。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通过这套引导，湘湘的角色从执行骨干转向方向主责，泰利则作为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角承接明确子模块。我自己的角色从日常问题接口，转成关键方案和风险节点把关。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第二个优秀案例，是资源管理方向的任霜沟通激励和符兵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任霜是资源管理方向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角，经验比较完整，但她预计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月中旬离岗，孕期也不能碰射频设备。如果我们等到离岗前才处理，就一定会变成紧急风险。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任霜，我采用的是支持式沟通和激励。先讲事实：评审后缺少阶段结论，其他模块缺少输入。再追问原因：哪些已经完成，哪些已经有结论，哪些需要支持。沟通后我修正了判断，她不是没有进展，而是倾向于等结果成熟后再同步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我重新定义交接这件事：交接不是给她额外加负担，而是让她休假后少被反复追问，也让她的资源管理经验成为团队资产。同时降低门槛，不要求一次写完整大手册，而是每周沉淀一个能用的小包，包括主流程、接口边界、常见问题、验证方法和风险台账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对符兵，我用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培养。自适应速率专题难度比较大，我先做新方案，讲解旧方案存在的问题、适用边界和改进目标；然后要求他按新方案实现，先不让他独立拍复杂技术路线，而是聚焦真实实现。后续他做时隙级测量维测小方案，我审核方案、实现、测试结果和遗留问题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这个案例的关键，是把资源管理从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任霜脑子里的经验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，逐步转为团队可见的交接包、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角跟做和风险分层。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如果优秀案例只停留在某一次沟通，就还不是管理能力。我的下一步是把这些做法沉淀成团队机制。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目前我希望链路层团队先固化三条行为准则。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第一，工作结果汇报和风险上报。成员不能等我追问才说进展，尤其是风险和阻塞，要主动说清楚影响、需要谁支持、最晚什么时候处理。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方案记录和自测试记录。过去我们很多知识停留在个人脑子里，或者只体现在代码里。后续不仅要交代码结果，也要沉淀方案、验证路径、测试结论和踩坑记录。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第三，评审记录和闭环。评审意见不能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听过就算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，必须变成问题清单、责任人、关闭时间和确认人。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在运行节奏上，我会把月度例会作为目标对齐的固定场景。每次月度例会之后，列出每个组员下个月的目标，不是泛泛写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继续推进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，而是写清责任人、输出物、时间点和验收方式。同时，对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角贡献和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角成长做公开认可，让带教和成长成为看得见的团队成果。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周度看任务和风险，双周走动检查带教和输出，月度复盘目标和贡献。这样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角、激励、自测试、评审闭环才能真正跑起来。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如果优秀案例只停留在某一次沟通，就还不是管理能力。我的下一步是把这些做法沉淀成团队机制。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目前我希望链路层团队先固化三条行为准则。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第一，工作结果汇报和风险上报。成员不能等我追问才说进展，尤其是风险和阻塞，要主动说清楚影响、需要谁支持、最晚什么时候处理。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方案记录和自测试记录。过去我们很多知识停留在个人脑子里，或者只体现在代码里。后续不仅要交代码结果，也要沉淀方案、验证路径、测试结论和踩坑记录。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第三，评审记录和闭环。评审意见不能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听过就算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，必须变成问题清单、责任人、关闭时间和确认人。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在运行节奏上，我会把月度例会作为目标对齐的固定场景。每次月度例会之后，列出每个组员下个月的目标，不是泛泛写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继续推进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，而是写清责任人、输出物、时间点和验收方式。同时，对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角贡献和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角成长做公开认可，让带教和成长成为看得见的团队成果。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周度看任务和风险，双周走动检查带教和输出，月度复盘目标和贡献。这样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角、激励、自测试、评审闭环才能真正跑起来。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做得不好的案例，我选择泰利的评审闭环问题。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4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日备份中心方案第二轮评审后，专家提出了一些问题。泰利没有及时把这些意见真正理解和闭环，更多停留在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回复过、沟通过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的层面。到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日交付节点，才发现方案设计和代码开发与评审要求存在偏差，最后需要重新纠偏和返工。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这个案例表面上是泰利能力不足，或者评审意见没消化。但作为管理者，我必须反思自己的责任。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第一，我对能力待提升成员的任务边界和验收标准给得还不够硬。对这类成员，不能只说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你跟一下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，而要明确告诉他要输出什么、什么时候输出、谁确认、什么标准算完成。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第二，评审意见没有强制闭环。听过、回复过，不等于理解了；理解了，也不等于改到位了。必须有关闭证据。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第三，我的过程检查靠后，没有在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节点及时纠偏。如果等到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99%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甚至交付前才检查，管理者其实已经错过了最好的纠偏窗口。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，我也意识到自己有时怕要求太硬会影响成员积极性，但培训让我认识到，管理者该提要求时必须提要求，定要求、定时间节点，不做无原则让步。否则短期是照顾情绪，长期是让成员和项目一起承担更大风险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后续我会把评审闭环作为硬规则：评审当天形成闭环清单，不清楚的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小时内确认，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看中间输出，未闭环不得进入下一阶段。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我的汇报主线是五个词：目标牵引、角色转型、案例实践、机制沉淀、融合提效。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部分，我会先讲学习收获。景锐的四个主题，在我这里可以收束成一句话：带着目标，去管人和理事。这里既包括我对管理的重新理解，也包括我作为链路层副主任的岗位定位，以及为什么在当前业务和人员结构下必须转管理方式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第二部分，我会讲应用实践。做得好的部分，我会重点讲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角机制，尤其是对湘湘的选择性引导、对任霜的支持式沟通、对符兵的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培养，以及这些动作如何沉淀成团队行为准则和工作重排。做得不好的部分，我会讲泰利评审闭环不足，这个案例提醒我过程管理必须敢于提要求、定节点、不轻易让步。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第三部分，我会回到原答辩提纲，按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达成情况总结、个人差距与反思、未来行动计划来讲。下一阶段我不只是继续做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角，而是要以全向定向大融合为牵引，把技术方向、流程规则和人力培养结合起来。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第三部分我按原答辩提纲来讲，先讲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第一项是任务管理与会议驱动。原目标是建立任务看板，形成主动汇报和风险上报习惯。当前我已经形成了周报、站会、重点工作检查表，以及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99%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的检查方法。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1320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早会也开始从我长期兜底，转向轮值和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角路由。但这项我只能说部分达成，因为机制还需要持续固化。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第二项是梯队培养与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角机制。当前已经明确了定向组网、资源管理、全向链路层三条线的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A/B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角，形成了湘湘授权、任霜交接、符兵专题培养等动作。这项已经启动，但真正验收要看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角有没有实际产出，而不是看我有没有安排。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第三项是质量管控与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、自测试建设。现在已经拆解了自验证规范、报告模板、链路层数据面通用化和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建设目标。这项目前规划比较清楚，但落地还在路上，后续需要用节点去推动。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第四项是基层管理和领导力。通过一对一谈心、人才盘点、选择架构、工作排布和反馈实践，我已经把培训方法用到了实际工作里。但这项也不能只看一次实践，关键是持续性。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总体判断是：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已经从学习计划转为工作机制设计，但真正的验收要看机制是否长期运行、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角是否真实成长、平台化成果是否落地。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第二个提纲是个人差距与反思。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第一，我的过程管理还不够硬。泰利案例说明，如果评审意见没有闭环，风险不会消失，只会后移到交付节点。后续我必须把要求提清楚，节点定清楚，关闭证据看清楚。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第二，授权后检查还要跟上。湘湘、任霜、符兵都已经进入新的机制，但不能安排了就算。授权不是放任，带教也不能只靠口头约定。后续要用双周检查和月度复盘，看真实输出。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第三，向上沟通还要更前置。设备、人力、出差、产假风险，这些不是我个人努力能完全解决的。如果我只在内部硬扛，最后问题还是会集中暴露。后续我要用事实、影响、选项和建议推动上级决策。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第四，平台化时间保护还不够稳定。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、自测试、数据面统一都属于重要不紧急事项，很容易被项目救火挤压。后续要把架构时间和月度里程碑固定下来。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下一阶段，我的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不想只写成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继续提升管理能力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，而是要落到一个业务抓手上：全向定向大融合。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当前链路层共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个人，在协议室占比不小。全向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个人，刘平、钟康、周非凡；定向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个人，肖湘湘、任霜、符兵、泰利和我。人数看起来不少，但现实问题是，出差和外场支撑链路层经常要打头；如果人数多但业绩不成体系，绩效压力反而会更大。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后续不能全向、定向各搞各的。全向和定向其实有大量共性能力，比如自适应、分层分簇、分裂融合、无中心、资源分配、数据处理等。如果各自独立实现，人力不能复用，每个人都会非常累，也没有一个好的沉淀结果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我的下一阶段计划分三类。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第一是技术引领。以链路层数据面通用化做牵引，以全向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1315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为入口，先推进全向和定向数据面统一。数据面是最适合作为融合起点的方向，因为它有共性处理链路，也能支撑后续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沉淀。控制面也可以做联合设计，但要先从小一点的点开始，避免一开始铺得太大。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第二是流程规则。围绕融合任务建立链路层模块化规则、数据面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、自测试流程、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辅助开发和评审闭环机制。这里我不再只是写一个技术方案，而是要同步建立可执行的开发和验证规则。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第三是人力培养。融合任务本身也是培养人的机会。可以用类似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田忌赛马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的组合方式：骨干牵方向，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角接明确子任务，新人从文档、测试、复盘切入。这样既推进业务，又培养人才。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阶段性验收上，我希望至少形成数据面统一方案首版，至少一个共性模块实现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化，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角有可展示任务，自测试和评审闭环纳入月度检查。这就是我下一阶段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的核心验收。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最后做一个总结。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景锐计划对我最大的帮助，是让我重新理解基层管理角色。过去我习惯用技术经验快速反应，现在我更清楚，副主任要带着目标去管人和理事，要把个人经验沉淀成团队机制，把个人技术能力转化为组织能力。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下一阶段，我会继续围绕全向定向融合，把技术引领、流程规则和人力培养结合起来。对我来说，结业不是学习结束，而是把学习变成日常管理动作的开始。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我的汇报到这里，谢谢各位领导和老师。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---</a:t>
            </a:r>
            <a:endParaRPr lang="en-US" altLang="zh-CN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页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74197" y="609599"/>
            <a:ext cx="8617879" cy="41466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buFont typeface="Wingdings" panose="05000000000000000000" pitchFamily="2" charset="2"/>
              <a:buNone/>
              <a:defRPr sz="18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1pPr>
            <a:lvl2pPr marL="716280" indent="-259080">
              <a:lnSpc>
                <a:spcPct val="125000"/>
              </a:lnSpc>
              <a:buFont typeface="Wingdings" panose="05000000000000000000" pitchFamily="2" charset="2"/>
              <a:buChar char="n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2pPr>
            <a:lvl3pPr marL="1254125" indent="-339725">
              <a:lnSpc>
                <a:spcPct val="125000"/>
              </a:lnSpc>
              <a:buFont typeface="Wingdings" panose="05000000000000000000" pitchFamily="2" charset="2"/>
              <a:buChar char="p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3pPr>
            <a:lvl4pPr marL="1616075" indent="-244475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4pPr>
            <a:lvl5pPr marL="2062480" indent="-233680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-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74197" y="609599"/>
            <a:ext cx="8617879" cy="4146699"/>
          </a:xfrm>
          <a:prstGeom prst="rect">
            <a:avLst/>
          </a:prstGeom>
        </p:spPr>
        <p:txBody>
          <a:bodyPr/>
          <a:lstStyle>
            <a:lvl1pPr marL="269875" indent="-269875">
              <a:lnSpc>
                <a:spcPct val="125000"/>
              </a:lnSpc>
              <a:buFont typeface="Wingdings" panose="05000000000000000000" pitchFamily="2" charset="2"/>
              <a:buChar char="Ø"/>
              <a:defRPr sz="18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1pPr>
            <a:lvl2pPr marL="716280" indent="-259080">
              <a:lnSpc>
                <a:spcPct val="125000"/>
              </a:lnSpc>
              <a:buFont typeface="Wingdings" panose="05000000000000000000" pitchFamily="2" charset="2"/>
              <a:buChar char="n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2pPr>
            <a:lvl3pPr marL="1254125" indent="-339725">
              <a:lnSpc>
                <a:spcPct val="125000"/>
              </a:lnSpc>
              <a:buFont typeface="Wingdings" panose="05000000000000000000" pitchFamily="2" charset="2"/>
              <a:buChar char="p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3pPr>
            <a:lvl4pPr marL="1616075" indent="-244475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4pPr>
            <a:lvl5pPr marL="2062480" indent="-233680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-图表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-正文较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5383"/>
            <a:ext cx="9144000" cy="13104"/>
          </a:xfrm>
          <a:prstGeom prst="rect">
            <a:avLst/>
          </a:prstGeom>
        </p:spPr>
      </p:pic>
      <p:pic>
        <p:nvPicPr>
          <p:cNvPr id="9" name="图片 8" descr="ppt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026" y="171249"/>
            <a:ext cx="1281803" cy="292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/>
          <p:cNvSpPr>
            <a:spLocks noGrp="1"/>
          </p:cNvSpPr>
          <p:nvPr>
            <p:ph idx="1"/>
          </p:nvPr>
        </p:nvSpPr>
        <p:spPr>
          <a:xfrm>
            <a:off x="457200" y="1200153"/>
            <a:ext cx="8229601" cy="3394472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1pPr>
            <a:lvl2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TW" altLang="en-US" noProof="1"/>
              <a:t>按一下以編輯母片文字樣式</a:t>
            </a:r>
            <a:endParaRPr lang="zh-TW" altLang="en-US" noProof="1"/>
          </a:p>
          <a:p>
            <a:pPr lvl="1"/>
            <a:r>
              <a:rPr lang="zh-TW" altLang="en-US" noProof="1"/>
              <a:t>第二層</a:t>
            </a:r>
            <a:endParaRPr lang="zh-TW" altLang="en-US" noProof="1"/>
          </a:p>
          <a:p>
            <a:pPr lvl="2"/>
            <a:r>
              <a:rPr lang="zh-TW" altLang="en-US" noProof="1"/>
              <a:t>第三層</a:t>
            </a:r>
            <a:endParaRPr lang="zh-TW" altLang="en-US" noProof="1"/>
          </a:p>
          <a:p>
            <a:pPr lvl="3"/>
            <a:r>
              <a:rPr lang="zh-TW" altLang="en-US" noProof="1"/>
              <a:t>第四層</a:t>
            </a:r>
            <a:endParaRPr lang="zh-TW" altLang="en-US" noProof="1"/>
          </a:p>
          <a:p>
            <a:pPr lvl="4"/>
            <a:r>
              <a:rPr lang="zh-TW" altLang="en-US" noProof="1"/>
              <a:t>第五層</a:t>
            </a:r>
            <a:endParaRPr lang="zh-TW" altLang="en-US" noProof="1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051299" y="4932358"/>
            <a:ext cx="1041402" cy="15478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5B97505E-3EB3-4447-B3F7-99CB90D72FEC}" type="datetime1">
              <a:rPr lang="zh-TW" altLang="en-US"/>
            </a:fld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02443" y="4932358"/>
            <a:ext cx="3105151" cy="15478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457949" y="4932358"/>
            <a:ext cx="2182416" cy="15478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336CCA2F-4672-40EE-9E25-DD8B20F92138}" type="slidenum">
              <a:rPr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11"/>
          <p:cNvPicPr/>
          <p:nvPr userDrawn="1"/>
        </p:nvPicPr>
        <p:blipFill>
          <a:blip r:embed="rId11"/>
          <a:stretch>
            <a:fillRect/>
          </a:stretch>
        </p:blipFill>
        <p:spPr>
          <a:xfrm>
            <a:off x="0" y="541323"/>
            <a:ext cx="9144000" cy="18000"/>
          </a:xfrm>
          <a:prstGeom prst="rect">
            <a:avLst/>
          </a:prstGeom>
        </p:spPr>
      </p:pic>
      <p:pic>
        <p:nvPicPr>
          <p:cNvPr id="9" name="图片 8" descr="ppt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5735" y="100330"/>
            <a:ext cx="1671320" cy="3829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" y="3078841"/>
            <a:ext cx="9143776" cy="206465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7402" y="1527149"/>
            <a:ext cx="7537251" cy="760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2900" b="1" dirty="0" smtClean="0">
                <a:solidFill>
                  <a:srgbClr val="2349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2900" b="1" dirty="0" smtClean="0">
                <a:solidFill>
                  <a:srgbClr val="2349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年景锐计划结业答辩汇报</a:t>
            </a:r>
            <a:endParaRPr lang="zh-CN" altLang="en-US" sz="2900" b="1" dirty="0" smtClean="0">
              <a:solidFill>
                <a:srgbClr val="2349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32"/>
          <p:cNvSpPr txBox="1"/>
          <p:nvPr/>
        </p:nvSpPr>
        <p:spPr>
          <a:xfrm>
            <a:off x="6022437" y="3302000"/>
            <a:ext cx="3113595" cy="960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部门：通信产品线</a:t>
            </a:r>
            <a:r>
              <a:rPr lang="en-US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通信协议室</a:t>
            </a:r>
            <a:endParaRPr lang="en-US" altLang="zh-CN" sz="1180" b="1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汇报人：周晶</a:t>
            </a:r>
            <a:endParaRPr lang="en-US" altLang="zh-CN" sz="1180" b="1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岗位：协议副主任</a:t>
            </a:r>
            <a:r>
              <a:rPr lang="en-US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180" b="1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时间：</a:t>
            </a:r>
            <a:r>
              <a:rPr lang="en-US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18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zh-CN" altLang="en-US" sz="1180" b="1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50" y="-8890"/>
            <a:ext cx="912939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ppt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02" y="557786"/>
            <a:ext cx="2139260" cy="488945"/>
          </a:xfrm>
          <a:prstGeom prst="rect">
            <a:avLst/>
          </a:prstGeom>
        </p:spPr>
      </p:pic>
      <p:pic>
        <p:nvPicPr>
          <p:cNvPr id="6" name="图片 5" descr="ppt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775" y="557786"/>
            <a:ext cx="1989049" cy="604880"/>
          </a:xfrm>
          <a:prstGeom prst="rect">
            <a:avLst/>
          </a:prstGeom>
        </p:spPr>
      </p:pic>
      <p:pic>
        <p:nvPicPr>
          <p:cNvPr id="8" name="图片 7" descr="微信图片_2023052615163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69856" y="425180"/>
            <a:ext cx="1567000" cy="62130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9400" y="2336800"/>
            <a:ext cx="6350000" cy="258445"/>
          </a:xfrm>
          <a:prstGeom prst="rect">
            <a:avLst/>
          </a:prstGeom>
          <a:noFill/>
        </p:spPr>
        <p:txBody>
          <a:bodyPr wrap="square" lIns="38100" tIns="25400" rIns="38100" bIns="25400" rtlCol="0" anchor="t">
            <a:noAutofit/>
          </a:bodyPr>
          <a:p>
            <a:pPr algn="ctr"/>
            <a:r>
              <a:rPr lang="zh-CN" altLang="en-US" sz="1600" b="1">
                <a:solidFill>
                  <a:srgbClr val="1033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带着目标，管人理事：协议副主任角色转型实践</a:t>
            </a:r>
            <a:endParaRPr lang="zh-CN" altLang="en-US" sz="1600" b="1">
              <a:solidFill>
                <a:srgbClr val="1033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3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2626" y="0"/>
            <a:ext cx="9156626" cy="515060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2500" y="1905000"/>
            <a:ext cx="15240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ctr"/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</a:t>
            </a:r>
            <a:r>
              <a:rPr lang="en-US" altLang="zh-CN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</a:t>
            </a:r>
            <a:endParaRPr lang="zh-CN" altLang="en-US" sz="2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05100" y="1134110"/>
            <a:ext cx="5735955" cy="31413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en-US" altLang="zh-CN" sz="155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55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我的学习收获</a:t>
            </a:r>
            <a:endParaRPr lang="en-US" altLang="zh-CN" sz="1550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管理认知、岗位定位、当前困境</a:t>
            </a:r>
            <a:endParaRPr lang="en-US" altLang="zh-CN" sz="140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我的应用实践</a:t>
            </a:r>
            <a:endParaRPr lang="en-US" altLang="zh-CN" sz="15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优秀案例：</a:t>
            </a:r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角机制、选择性引导、沟通激励、</a:t>
            </a:r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</a:t>
            </a:r>
            <a:endParaRPr lang="en-US" altLang="zh-CN" sz="1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待提升案例：评审闭环与过程管理</a:t>
            </a:r>
            <a:endParaRPr lang="en-US" altLang="zh-CN" sz="1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我的行动计划</a:t>
            </a:r>
            <a:endParaRPr lang="en-US" altLang="zh-CN" sz="15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IDP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达成情况总结、个人差距与反思、未来行动计划</a:t>
            </a:r>
            <a:endParaRPr lang="zh-CN" altLang="en-US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14</a:t>
            </a:r>
            <a:endParaRPr lang="en-US" altLang="en-US" sz="65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44600" y="3701415"/>
            <a:ext cx="6642100" cy="32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答辩主线：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zh-CN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目标牵引</a:t>
            </a:r>
            <a:r>
              <a:rPr lang="en-US" altLang="zh-CN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角色转型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案例实践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机制沉淀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融合提效</a:t>
            </a:r>
            <a:endParaRPr lang="zh-CN" altLang="en-US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3049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alt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我的学习收获：带着目标管人和理事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742315"/>
            <a:ext cx="6452235" cy="326453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我对管理的新认知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管理不是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我把事情做完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围绕组织目标，让合适的人按机制把事情做成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目标：为什么管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科室绩效目标：按期交付、质量稳定、能力沉淀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产品线目标：支撑全向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定向型号交付和民品转型成功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团队目标：减少单点依赖，形成可持续作战能力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管人：让人愿意干、能干、成长着干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培养与沟通：指令、教练、支持、授权因人施策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激励与引导：资源、认可、边界、成长机会比口头鼓励更关键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理事：让事情清楚、可查、可闭环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自我管理与工作分派：识别亲力亲为，明确分工和边界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目标与过程管理：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SMART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、四象限、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1%/50%/99%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1779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alt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我的定位：链路层副主任的三类价值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715010"/>
            <a:ext cx="6944360" cy="297688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我的岗位定位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副主任不是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大号技术骨干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，而是技术方向、流程规则和资源人力的组织者。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技术引领者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大特性牵引：全向、定向、民品系列关键能力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整体方向把握：怎样让整个网络更好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重大方案把关：架构取舍、跨模块影响、风险决策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流程规则制定者</a:t>
            </a:r>
            <a:endParaRPr lang="zh-CN" altLang="en-US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架构设计：链路层代码架构、模块化规则、数据面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流程优化：需求、设计、代码、自测试、评审闭环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工程提效：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辅助开发、测试规范与自验证流程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资源调配与人力培养者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角牵头，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角承接，负责人压阵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通过全向定向融合培养复合型链路层人才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把人力压力从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单点硬扛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转为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组合打法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1779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alt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当前困境：业务爆发与人员结构并存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723900"/>
            <a:ext cx="8146415" cy="302577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en-US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业务爆发：项目、特性、规模同时放大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项目更多：全向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定向历史型号维护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新起民品系列项目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形态更多：一体式、分布式、小型化、单阵面等定向民品系列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特性更多：从组网、资源分配、数据传输，扩展到无中心、分裂融合、分层分簇、自适应、空分复用、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VIP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1Gbps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网络层联动更多：异构网络、网络回环、端到端重传、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TCP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业务代理等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规模更大：从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节点扩展到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节点，后续甚至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64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人员管理困难：梯队、地域、风险叠加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梯队断层：骨干能扛，但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角能力不足，新人需要带教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地域差异：武汉分部成员缺少本地项目和设备，出差影响连续性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人员风险：任霜孕期不能碰射频设备，且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月中旬后存在产假缺位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历史项目：外场联试、挂飞验证频繁打断平台化建设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管理判断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如果继续依赖个人兜底，团队会越来越忙，但组织能力不会同步增长。</a:t>
            </a:r>
            <a:endParaRPr lang="zh-CN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3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2626" y="0"/>
            <a:ext cx="9156626" cy="515060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2500" y="1905000"/>
            <a:ext cx="15240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ctr"/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</a:t>
            </a:r>
            <a:r>
              <a:rPr lang="en-US" altLang="zh-CN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</a:t>
            </a:r>
            <a:endParaRPr lang="zh-CN" altLang="en-US" sz="2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05100" y="1134110"/>
            <a:ext cx="5735955" cy="31413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en-US" altLang="zh-CN" sz="155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55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我的学习收获</a:t>
            </a:r>
            <a:endParaRPr lang="en-US" altLang="zh-CN" sz="155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管理认知、岗位定位、当前困境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55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我的应用实践</a:t>
            </a:r>
            <a:endParaRPr lang="en-US" altLang="zh-CN" sz="1550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优秀案例：</a:t>
            </a:r>
            <a:r>
              <a:rPr lang="en-US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角机制、选择性引导、沟通激励、</a:t>
            </a:r>
            <a:r>
              <a:rPr lang="en-US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</a:t>
            </a:r>
            <a:endParaRPr lang="en-US" altLang="zh-CN" sz="140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待提升案例：评审闭环与过程管理</a:t>
            </a:r>
            <a:endParaRPr lang="en-US" altLang="zh-CN" sz="140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我的行动计划</a:t>
            </a:r>
            <a:endParaRPr lang="en-US" altLang="zh-CN" sz="15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IDP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达成情况总结、个人差距与反思、未来行动计划</a:t>
            </a:r>
            <a:endParaRPr lang="zh-CN" altLang="en-US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14</a:t>
            </a:r>
            <a:endParaRPr lang="en-US" altLang="en-US" sz="65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44600" y="3701415"/>
            <a:ext cx="6642100" cy="32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答辩主线：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目标牵引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角色转型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案例实践</a:t>
            </a:r>
            <a:r>
              <a:rPr lang="en-US" altLang="zh-CN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机制沉淀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融合提效</a:t>
            </a:r>
            <a:endParaRPr lang="zh-CN" altLang="en-US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1779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应用实践总览：从个人兜底到团队机制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711200"/>
            <a:ext cx="8001000" cy="85598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实践目标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个人接口型团队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调整为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目标清楚、主责明确、有人备份、过程闭环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的团队。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我解决问题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变成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团队按机制解决问题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600835"/>
          <a:ext cx="80010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3048000"/>
                <a:gridCol w="3937000"/>
              </a:tblGrid>
              <a:tr h="32385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层次</a:t>
                      </a:r>
                      <a:endParaRPr lang="zh-CN" altLang="en-US" sz="12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管理动作</a:t>
                      </a:r>
                      <a:endParaRPr lang="zh-CN" altLang="en-US" sz="12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解决的问题</a:t>
                      </a:r>
                      <a:endParaRPr lang="zh-CN" altLang="en-US" sz="12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机制主干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AB</a:t>
                      </a: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角机制</a:t>
                      </a:r>
                      <a:r>
                        <a:rPr lang="en-US" altLang="zh-CN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工作重排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谁牵头、谁承接、谁把关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人员推动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个人谈心、选择性引导、支持式激励、</a:t>
                      </a:r>
                      <a:r>
                        <a:rPr lang="en-US" altLang="zh-CN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OJT</a:t>
                      </a: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培养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让不同成员愿意动、能动起来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运行固化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行为准则、月度目标对齐、检查节奏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让机制不是一次安排，而是持续运行</a:t>
                      </a:r>
                      <a:endParaRPr lang="zh-CN" altLang="en-US" sz="12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71500" y="3199765"/>
            <a:ext cx="8001000" cy="106362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关键转变</a:t>
            </a:r>
            <a:endParaRPr lang="zh-CN" altLang="en-US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A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角不是甩任务，而是带教和把关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角不是旁听和打杂，而是承接真实子任务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负责人不再做日常接口，而是在目标、风险和关键节点压阵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3049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优秀案例一：</a:t>
            </a:r>
            <a:r>
              <a:rPr lang="en-US" alt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角机制和湘湘选择性引导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711200"/>
            <a:ext cx="7937500" cy="646557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案例目标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把湘湘从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定向组网执行骨干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前推为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组网方向主责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，同时让泰利作为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角承接明确子模块。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湘湘具备定向组网核心能力，上半年承担自适应、父节点切换、新空口消息合入、扫描时隙组等关键工作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下半年还要面对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节点、无中心、分裂融合、分层分簇、模块化、自验证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她的真实顾虑：工作量大、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角能力不足、交叉评审不足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团队旧模式：组网方向重大问题仍习惯回到我这里确认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我采用的选择性引导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先给价值锚点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上半年多跳组网、无中心等都是协议核心功能，领导和外界关注度高。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再给角色定位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下半年组网相关工作由湘湘主导，负责拆分任务、带泰利把功能做稳。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明确支持边界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我负责垫后，高风险和跨科室协调时介入，不让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角独自背风险。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配套现实约束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泰利出差影响任务连续性，需要协调回归；任霜后续离岗，组网和资源都不能再等我一个人兜底。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运行机制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湘湘：牵头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节点、无中心、分裂融合、分层分簇等任务拆解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泰利：承接备份节点、时隙控制、维测、自测试、代码评审等明确子任务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我：关键方案评审、跨科室风险协调、月度检查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2414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优秀案例二：任霜沟通激励与符兵</a:t>
            </a:r>
            <a:r>
              <a:rPr lang="en-US" alt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6275" y="694690"/>
            <a:ext cx="7937500" cy="371665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案例目标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资源管理方向从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依赖任霜个人经验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转为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交接包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角跟做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风险分层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资源方向背景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任霜负责资源管理模块，经验完整，但存在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月中旬产假缺位风险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过去问题：阶段性输出不足、评审后一周多未公开结论、设备阻塞没有主动闭环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沟通后修正判断：不是没有进展，而是倾向于等结果成熟后再同步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任霜：支持式沟通与激励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先讲事实：评审后缺少阶段结论，其他模块缺少输入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追问原因：已完成什么、哪些有结论、哪些需要支持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重定义价值：交接不是额外负担，而是把资源管理经验变成团队资产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约定输出：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48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小时初评、基础资源分配图、风险清单、下一步计划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符兵：自适应速率专题</a:t>
            </a:r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我做新方案：讲解旧方案存在的问题、适用边界和改进目标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他按新方案实现：先不独立拍复杂技术路线，聚焦真实实现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他做时隙级测量维测小方案：写清目标、输入、输出、风险和测试点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我审核方案、实现、测试结果和遗留问题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76875" y="3236595"/>
            <a:ext cx="34734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风险分层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P0/P1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复杂事项：我、湘湘或后续社招骨干把关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P2/P3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常规事项：符兵承接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可延期事项：提前向项目和上级说明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7200" y="147955"/>
            <a:ext cx="6019800" cy="30226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pPr algn="r"/>
            <a:r>
              <a:rPr lang="en-US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 </a:t>
            </a:r>
            <a:r>
              <a:rPr lang="zh-CN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机制沉淀：</a:t>
            </a:r>
            <a:r>
              <a:rPr lang="en-US" altLang="zh-CN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角机制、行为准则、月度目标和检查节奏</a:t>
            </a:r>
            <a:endParaRPr lang="zh-CN" altLang="en-US" sz="1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Codex_Page9_TableTitle"/>
          <p:cNvSpPr txBox="1"/>
          <p:nvPr/>
        </p:nvSpPr>
        <p:spPr>
          <a:xfrm>
            <a:off x="609600" y="685800"/>
            <a:ext cx="8001000" cy="18669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r>
              <a:rPr lang="en-US" altLang="en-US" sz="1050" b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050" b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角机制和工作重排</a:t>
            </a:r>
            <a:endParaRPr lang="zh-CN" altLang="en-US" sz="1050" b="1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Codex_Page9_WorkRearrangeTable"/>
          <p:cNvGraphicFramePr/>
          <p:nvPr/>
        </p:nvGraphicFramePr>
        <p:xfrm>
          <a:off x="609600" y="939800"/>
          <a:ext cx="8001000" cy="3406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775"/>
                <a:gridCol w="755015"/>
                <a:gridCol w="784860"/>
                <a:gridCol w="3502660"/>
                <a:gridCol w="1837690"/>
              </a:tblGrid>
              <a:tr h="40259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endParaRPr lang="zh-CN" altLang="en-US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</a:t>
                      </a:r>
                      <a:r>
                        <a:rPr lang="en-US" altLang="zh-CN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endParaRPr lang="en-US" altLang="zh-CN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主责</a:t>
                      </a:r>
                      <a:endParaRPr lang="zh-CN" altLang="en-US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</a:t>
                      </a:r>
                      <a:r>
                        <a:rPr lang="en-US" altLang="zh-CN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endParaRPr lang="en-US" altLang="zh-CN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承接</a:t>
                      </a:r>
                      <a:endParaRPr lang="zh-CN" altLang="en-US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检查方式</a:t>
                      </a:r>
                      <a:endParaRPr lang="zh-CN" altLang="en-US" sz="1000" b="1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定向组网方向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湘湘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泰利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牵头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32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节点、无中心、分裂融合、分层分簇等关键任务拆解；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角承接备份节点、时隙控制、维测、自测试、代码评审等明确子任务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两周检查一次子任务输出；月度周会上汇报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角进展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801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定向资源管理方向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任霜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符兵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离岗前重点输出资源管理主流程、接口边界、常见问题、验证方法和风险台账；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角承接中低风险事项和测试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记录类工作，不独立承担复杂方案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Owner</a:t>
                      </a:r>
                      <a:endParaRPr lang="en-US" altLang="zh-CN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每周检查交接包和跟做任务；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月中旬前做最小闭环评审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全向链路层方向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刘平</a:t>
                      </a:r>
                      <a:endParaRPr lang="zh-CN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钟康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非凡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牵住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1253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5139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等重点项目和全向主线；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角从文档、小需求、问题复盘和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1315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需求分析切入，逐步分担低风险事项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每周看学习记录和一次可检查任务输出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协议平台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/CBB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方向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超华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各模块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Owner</a:t>
                      </a:r>
                      <a:endParaRPr lang="en-US" altLang="zh-CN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牵头一体化协议平台收尾、认证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虚拟网桥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CBB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、自研网桥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原生网桥优化和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VPP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用户态数据处理框架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负责人优先协调设备，避免平台任务因为资源缺口停滞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59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网络层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/AI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与工程能力方向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加明</a:t>
                      </a:r>
                      <a:endParaRPr lang="zh-CN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陈杰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牵头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分享、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TCP/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端到端重传、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CLRSP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、大流量、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32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节点规模等探索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把评三级诉求转成可展示、可复用的成果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59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我本人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我本人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项目负责人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聚焦链路层数据面通用化、总体架构设计、</a:t>
                      </a:r>
                      <a:r>
                        <a:rPr lang="en-US" altLang="zh-CN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CBB</a:t>
                      </a: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颗粒化、关键评审和风险上报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E1E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不再默认承接所有日常拉通和细节定位</a:t>
                      </a:r>
                      <a:endParaRPr lang="zh-CN" altLang="en-US" sz="1000" b="0">
                        <a:solidFill>
                          <a:srgbClr val="1E1E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12700" marB="12700">
                    <a:lnL w="4444" cmpd="sng">
                      <a:solidFill>
                        <a:srgbClr val="DCDCDC"/>
                      </a:solidFill>
                    </a:lnL>
                    <a:lnR w="4444" cmpd="sng">
                      <a:solidFill>
                        <a:srgbClr val="DCDCDC"/>
                      </a:solidFill>
                    </a:lnR>
                    <a:lnT w="4444" cmpd="sng">
                      <a:solidFill>
                        <a:srgbClr val="DCDCDC"/>
                      </a:solidFill>
                    </a:lnT>
                    <a:lnB w="4444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7200" y="147955"/>
            <a:ext cx="6019800" cy="30226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pPr algn="r"/>
            <a:r>
              <a:rPr lang="en-US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 </a:t>
            </a:r>
            <a:r>
              <a:rPr lang="zh-CN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机制沉淀：</a:t>
            </a:r>
            <a:r>
              <a:rPr lang="en-US" altLang="zh-CN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角机制、行为准则、月度目标和检查节奏</a:t>
            </a:r>
            <a:endParaRPr lang="zh-CN" altLang="en-US" sz="1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Codex_Page9_TableTitle"/>
          <p:cNvSpPr txBox="1"/>
          <p:nvPr/>
        </p:nvSpPr>
        <p:spPr>
          <a:xfrm>
            <a:off x="609600" y="685800"/>
            <a:ext cx="8001000" cy="196405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pPr>
              <a:spcBef>
                <a:spcPts val="0"/>
              </a:spcBef>
              <a:spcAft>
                <a:spcPts val="50"/>
              </a:spcAft>
            </a:pPr>
            <a:r>
              <a:rPr lang="zh-CN" altLang="en-US" sz="1050" b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链路层团队三条行为准则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1.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工作结果汇报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风险上报：不等被追问，主动说明进展、阻塞和需要支持。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2. KB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方案记录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自测试记录：不只交代码结果，也沉淀方案、验证和关键结论。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3.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评审记录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闭环：评审意见必须转为问题清单、责任人、关闭时间和确认人。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sz="1050" b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月度例会目标对齐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•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每次月度例会后，列出每个组员下月目标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•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目标必须包含责任人、输出物、时间点、验收方式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• 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角贡献和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角成长做公开认可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sz="1050" b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检查节奏</a:t>
            </a:r>
            <a:r>
              <a:rPr lang="en-US" altLang="zh-CN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sz="105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周度看任务和风险；双周走动检查带教和输出；月度复盘目标和贡献</a:t>
            </a:r>
            <a:endParaRPr lang="zh-CN" altLang="en-US" sz="1050" b="1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1779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待提升案例：泰利评审闭环不足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701040"/>
            <a:ext cx="7052310" cy="285178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案例背景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4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日备份中心方案第二轮评审后，专家意见没有被及时理解和关闭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日交付节点，发现方案设计和代码开发与评审要求存在偏差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结果：重新纠偏和返工，占用集成验证窗口，影响交付节奏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我的反思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对能力待提升成员，任务边界和验收标准给得还不够硬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评审意见没有强制闭环，停留在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回复过、沟通过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过程检查靠后，没有在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节点及时纠偏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有时怕打击成员积极性，要求不够明确、不够坚定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改进要求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评审当天形成闭环清单：问题、理解、动作、责任人、时间点、确认人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不清楚的意见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小时内找评审人确认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3. 50%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节点必须看中间输出，不能等交付前才检查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未闭环评审意见不得进入下一阶段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对泰利这类成员先指令式管理，再逐步过渡到教练式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44069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6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3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2626" y="0"/>
            <a:ext cx="9156626" cy="515060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2500" y="1905000"/>
            <a:ext cx="15240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ctr"/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</a:t>
            </a:r>
            <a:r>
              <a:rPr lang="en-US" altLang="zh-CN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</a:t>
            </a:r>
            <a:endParaRPr lang="zh-CN" altLang="en-US" sz="2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05100" y="1134110"/>
            <a:ext cx="5735955" cy="31413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en-US" altLang="zh-CN" sz="155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55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我的学习收获</a:t>
            </a:r>
            <a:endParaRPr lang="en-US" altLang="zh-CN" sz="155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管理认知、岗位定位、当前困境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55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我的应用实践</a:t>
            </a:r>
            <a:endParaRPr lang="en-US" altLang="zh-CN" sz="155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优秀案例：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角机制、选择性引导、沟通激励、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OJT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培养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待提升案例：评审闭环与过程管理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5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55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55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我的行动计划</a:t>
            </a:r>
            <a:endParaRPr lang="en-US" altLang="zh-CN" sz="1550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IDP</a:t>
            </a:r>
            <a:r>
              <a:rPr lang="zh-CN" altLang="en-US" sz="14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达成情况总结、个人差距与反思、未来行动计划</a:t>
            </a:r>
            <a:endParaRPr lang="zh-CN" altLang="en-US" sz="140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18500" y="4775200"/>
            <a:ext cx="5334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14</a:t>
            </a:r>
            <a:endParaRPr lang="en-US" altLang="en-US" sz="65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44600" y="3701415"/>
            <a:ext cx="6642100" cy="32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答辩主线：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目标牵引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角色转型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</a:t>
            </a:r>
            <a:r>
              <a:rPr lang="en-US" altLang="zh-CN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案例实践</a:t>
            </a:r>
            <a:r>
              <a:rPr lang="en-US" altLang="zh-CN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-&gt; </a:t>
            </a:r>
            <a:r>
              <a:rPr lang="zh-CN" altLang="en-US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机制沉淀</a:t>
            </a:r>
            <a:r>
              <a:rPr lang="en-US" altLang="zh-CN" sz="15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5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-&gt; </a:t>
            </a:r>
            <a:r>
              <a:rPr lang="zh-CN" altLang="en-US" sz="155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融合提效</a:t>
            </a:r>
            <a:endParaRPr lang="zh-CN" altLang="en-US" sz="155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3303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行动计划一：</a:t>
            </a:r>
            <a:r>
              <a:rPr lang="en-US" alt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达成情况总结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907415"/>
          <a:ext cx="7864475" cy="2004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810"/>
                <a:gridCol w="1381760"/>
                <a:gridCol w="3505200"/>
                <a:gridCol w="1576705"/>
              </a:tblGrid>
              <a:tr h="23622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0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IDP</a:t>
                      </a:r>
                      <a:r>
                        <a:rPr lang="zh-CN" altLang="en-US" sz="10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维度</a:t>
                      </a:r>
                      <a:endParaRPr lang="zh-CN" altLang="en-US" sz="10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原目标</a:t>
                      </a:r>
                      <a:endParaRPr lang="zh-CN" altLang="en-US" sz="10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当前进展</a:t>
                      </a:r>
                      <a:endParaRPr lang="zh-CN" altLang="en-US" sz="10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达成判断</a:t>
                      </a:r>
                      <a:endParaRPr lang="zh-CN" altLang="en-US" sz="1000" b="1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任务管理与会议驱动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建立任务看板，形成主动汇报、风险上报习惯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已形成周报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站会、重点工作检查表、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1%/50%/99%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检查；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1320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早会从我长期兜底转向轮值和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角路由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部分达成，需持续固化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梯队培养与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AB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角机制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湘湘、任霜带教，泰利、符兵承接真实任务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已明确定向组网、资源管理、全向链路层三条线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A/B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角；形成湘湘授权、任霜交接、符兵专题培养动作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已启动，需看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角实际产出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质量管控与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CBB/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自测试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建立需规、设计、代码、自测试、评审闭环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已拆解自验证规范、报告模板、链路层数据面通用化和</a:t>
                      </a:r>
                      <a:r>
                        <a:rPr lang="en-US" altLang="zh-CN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CBB</a:t>
                      </a: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建设目标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规划较清楚，落地仍在路上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基层管理与领导力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掌握差异化领导和激励引导方法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已完成一对一谈心、人才盘点、选择架构、工作排布和反馈实践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000" b="0">
                          <a:solidFill>
                            <a:srgbClr val="0C12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方法已应用，持续性待加强</a:t>
                      </a:r>
                      <a:endParaRPr lang="zh-CN" altLang="en-US" sz="1000" b="0">
                        <a:solidFill>
                          <a:srgbClr val="0C12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5560" marR="35560" marT="25400" marB="25400" anchor="t">
                    <a:lnL w="4444" cmpd="sng">
                      <a:solidFill>
                        <a:srgbClr val="E1E5EB"/>
                      </a:solidFill>
                    </a:lnL>
                    <a:lnR w="4444" cmpd="sng">
                      <a:solidFill>
                        <a:srgbClr val="E1E5EB"/>
                      </a:solidFill>
                    </a:lnR>
                    <a:lnT w="4444" cmpd="sng">
                      <a:solidFill>
                        <a:srgbClr val="E1E5EB"/>
                      </a:solidFill>
                    </a:lnT>
                    <a:lnB w="4444" cmpd="sng">
                      <a:solidFill>
                        <a:srgbClr val="E1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09600" y="3474720"/>
            <a:ext cx="8001000" cy="85598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总体判断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已经从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学习计划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转为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工作机制设计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，但真正的验收要看机制是否长期运行、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角是否真实成长、平台化成果是否落地。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18500" y="4775200"/>
            <a:ext cx="533400" cy="44069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3303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行动计划二：个人差距与反思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711200"/>
            <a:ext cx="6567805" cy="29508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过程管理还不够硬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泰利案例说明：评审意见没有闭环，风险会后移到交付节点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改进方向：要求清楚、节点清楚、关闭证据清楚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授权后检查还要跟上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湘湘、任霜、符兵都已进入机制，但不能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安排了就算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改进方向：用双周检查和月度复盘看真实输出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向上沟通还要更前置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设备、人力、出差、产假风险，不是个人努力能完全解决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改进方向：用事实、影响、选项、建议推动上级决策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平台化时间保护还不够稳定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CBB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、自测试、数据面统一仍容易被项目救火挤压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改进方向：固定架构时间，纳入月度里程碑</a:t>
            </a:r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44069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7200" y="140653"/>
            <a:ext cx="6019800" cy="368300"/>
          </a:xfrm>
          <a:prstGeom prst="rect">
            <a:avLst/>
          </a:prstGeom>
          <a:noFill/>
        </p:spPr>
        <p:txBody>
          <a:bodyPr wrap="square" lIns="25400" rIns="25400" rtlCol="0" anchor="ctr">
            <a:spAutoFit/>
          </a:bodyPr>
          <a:p>
            <a:pPr algn="r"/>
            <a:r>
              <a:rPr 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11. 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行动计划三：未来行动计划</a:t>
            </a:r>
            <a:endParaRPr lang="zh-CN" altLang="en-US" sz="1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718820"/>
            <a:ext cx="7937500" cy="397383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以全向定向大融合牵引</a:t>
            </a:r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IDP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落地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当前人力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全向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人：刘平、钟康、周非凡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定向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人：肖湘湘、任霜、符兵、泰利、我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为什么要融合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链路层人数不少，但项目和出差压力都在前面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如果全向、定向各搞各的，人力无法复用，成员都很累，产出也不成体系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全向和定向都有共性能力：自适应、分层分簇、分裂融合、无中心、资源分配、数据处理等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融合的目标不是形式统一，而是模块复用、流程复用和人才复用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下一阶段三类行动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让全向、定向不再各自重复建设，围绕共性能力形成模块复用、流程复用和人才复用。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技术引领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以链路层数据面通用化做牵引，以全向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1315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为入口，推进全向和定向数据面统一；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控制面先从小点联合设计，逐步沉淀共性方案。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流程规则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建立链路层模块化规则、数据面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、自测试流程、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辅助开发和评审闭环机制。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120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人力培养</a:t>
            </a:r>
            <a:endParaRPr lang="en-US" altLang="zh-CN" sz="120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通过融合任务做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田忌赛马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：骨干牵方向，</a:t>
            </a:r>
            <a:r>
              <a:rPr lang="en-US" altLang="zh-CN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20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角接子任务，用共性模块和自测试任务培养跨方向人才。</a:t>
            </a:r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120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0" y="4775200"/>
            <a:ext cx="533400" cy="44069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r"/>
            <a:r>
              <a:rPr lang="en-US" altLang="en-US" sz="650">
                <a:solidFill>
                  <a:srgbClr val="5F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 / 14</a:t>
            </a:r>
            <a:endParaRPr lang="en-US" altLang="en-US" sz="650">
              <a:solidFill>
                <a:srgbClr val="5F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ppt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96" y="3785543"/>
            <a:ext cx="9143776" cy="135795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350" y="-8890"/>
            <a:ext cx="912939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05000" y="1422400"/>
            <a:ext cx="5334000" cy="233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ctr"/>
            <a:r>
              <a:rPr lang="zh-CN" altLang="en-US" sz="2300" b="1">
                <a:solidFill>
                  <a:srgbClr val="2349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让学习成为一种习惯</a:t>
            </a:r>
            <a:endParaRPr lang="zh-CN" altLang="en-US" sz="2300" b="1">
              <a:solidFill>
                <a:srgbClr val="23499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5000" y="2080260"/>
            <a:ext cx="5334000" cy="210248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noAutofit/>
          </a:bodyPr>
          <a:p>
            <a:pPr algn="l"/>
            <a:r>
              <a:rPr lang="zh-CN" altLang="zh-CN" sz="1150" b="1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结业总结</a:t>
            </a:r>
            <a:endParaRPr lang="en-US" altLang="zh-CN" sz="1150" b="1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15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景锐计划让我把管理从</a:t>
            </a:r>
            <a:r>
              <a:rPr lang="en-US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经验反应</a:t>
            </a:r>
            <a:r>
              <a:rPr lang="en-US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转向</a:t>
            </a:r>
            <a:r>
              <a:rPr lang="en-US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目标牵引下的机制设计</a:t>
            </a:r>
            <a:r>
              <a:rPr lang="en-US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15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15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下一阶段，我会继续围绕全向定向融合，把技术引领、流程规则和人力培养结合起来，推动链路层团队从个人兜底走向组织能力提升。</a:t>
            </a:r>
            <a:endParaRPr lang="en-US" altLang="zh-CN" sz="115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15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zh-CN" sz="1150">
                <a:solidFill>
                  <a:srgbClr val="0C12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谢谢各位领导和老师。</a:t>
            </a:r>
            <a:endParaRPr lang="zh-CN" altLang="zh-CN" sz="1150">
              <a:solidFill>
                <a:srgbClr val="0C12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1627,&quot;width&quot;:4104}"/>
</p:tagLst>
</file>

<file path=ppt/tags/tag2.xml><?xml version="1.0" encoding="utf-8"?>
<p:tagLst xmlns:p="http://schemas.openxmlformats.org/presentationml/2006/main">
  <p:tag name="KSO_WPP_MARK_KEY" val="a054b142-8335-43b6-bf41-40f79c311978"/>
  <p:tag name="COMMONDATA" val="eyJoZGlkIjoiYmFlYTVlNTBmMjExM2Q4NjIzYzI2MzJhOTU0MWFjZDk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5250</Words>
  <Application>WPS 演示</Application>
  <PresentationFormat>全屏显示(16:9)</PresentationFormat>
  <Paragraphs>438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DFKai-SB</vt:lpstr>
      <vt:lpstr>MingLiU-ExtB</vt:lpstr>
      <vt:lpstr>Calibri</vt:lpstr>
      <vt:lpstr>Arial Unicode MS</vt:lpstr>
      <vt:lpstr>PMingLiU</vt:lpstr>
      <vt:lpstr>JetBrainsMono NF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陈昭</dc:creator>
  <cp:lastModifiedBy>息心</cp:lastModifiedBy>
  <cp:revision>359</cp:revision>
  <cp:lastPrinted>2022-11-02T11:52:00Z</cp:lastPrinted>
  <dcterms:created xsi:type="dcterms:W3CDTF">2018-07-10T01:06:00Z</dcterms:created>
  <dcterms:modified xsi:type="dcterms:W3CDTF">2026-08-24T14:25:00Z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5BF5A9BB9C264B8AA13E3FAAB1C878BF</vt:lpwstr>
  </property>
</Properties>
</file>