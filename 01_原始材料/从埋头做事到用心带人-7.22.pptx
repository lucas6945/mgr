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5" r:id="rId3"/>
    <p:sldMasterId id="2147483697" r:id="rId4"/>
  </p:sldMasterIdLst>
  <p:notesMasterIdLst>
    <p:notesMasterId r:id="rId6"/>
  </p:notesMasterIdLst>
  <p:handoutMasterIdLst>
    <p:handoutMasterId r:id="rId58"/>
  </p:handoutMasterIdLst>
  <p:sldIdLst>
    <p:sldId id="966" r:id="rId5"/>
    <p:sldId id="967" r:id="rId7"/>
    <p:sldId id="968" r:id="rId8"/>
    <p:sldId id="969" r:id="rId9"/>
    <p:sldId id="970" r:id="rId10"/>
    <p:sldId id="971" r:id="rId11"/>
    <p:sldId id="972" r:id="rId12"/>
    <p:sldId id="973" r:id="rId13"/>
    <p:sldId id="974" r:id="rId14"/>
    <p:sldId id="975" r:id="rId15"/>
    <p:sldId id="976" r:id="rId16"/>
    <p:sldId id="977" r:id="rId17"/>
    <p:sldId id="978" r:id="rId18"/>
    <p:sldId id="979" r:id="rId19"/>
    <p:sldId id="980" r:id="rId20"/>
    <p:sldId id="981" r:id="rId21"/>
    <p:sldId id="982" r:id="rId22"/>
    <p:sldId id="983" r:id="rId23"/>
    <p:sldId id="1015" r:id="rId24"/>
    <p:sldId id="984" r:id="rId25"/>
    <p:sldId id="985" r:id="rId26"/>
    <p:sldId id="986" r:id="rId27"/>
    <p:sldId id="987" r:id="rId28"/>
    <p:sldId id="988" r:id="rId29"/>
    <p:sldId id="989" r:id="rId30"/>
    <p:sldId id="990" r:id="rId31"/>
    <p:sldId id="991" r:id="rId32"/>
    <p:sldId id="992" r:id="rId33"/>
    <p:sldId id="993" r:id="rId34"/>
    <p:sldId id="994" r:id="rId35"/>
    <p:sldId id="995" r:id="rId36"/>
    <p:sldId id="996" r:id="rId37"/>
    <p:sldId id="997" r:id="rId38"/>
    <p:sldId id="998" r:id="rId39"/>
    <p:sldId id="999" r:id="rId40"/>
    <p:sldId id="1000" r:id="rId41"/>
    <p:sldId id="1001" r:id="rId42"/>
    <p:sldId id="1002" r:id="rId43"/>
    <p:sldId id="1003" r:id="rId44"/>
    <p:sldId id="1004" r:id="rId45"/>
    <p:sldId id="1005" r:id="rId46"/>
    <p:sldId id="1006" r:id="rId47"/>
    <p:sldId id="1007" r:id="rId48"/>
    <p:sldId id="1008" r:id="rId49"/>
    <p:sldId id="1009" r:id="rId50"/>
    <p:sldId id="1010" r:id="rId51"/>
    <p:sldId id="1011" r:id="rId52"/>
    <p:sldId id="1012" r:id="rId53"/>
    <p:sldId id="1013" r:id="rId54"/>
    <p:sldId id="1014" r:id="rId55"/>
    <p:sldId id="1017" r:id="rId56"/>
    <p:sldId id="1018" r:id="rId57"/>
  </p:sldIdLst>
  <p:sldSz cx="12192000" cy="6858000"/>
  <p:notesSz cx="6858000" cy="9144000"/>
  <p:custDataLst>
    <p:tags r:id="rId63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3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丹" initials="李丹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9099AE"/>
    <a:srgbClr val="0102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EE88A91-0B6E-4DE4-AF9F-FCC7C729CC14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0518" autoAdjust="0"/>
  </p:normalViewPr>
  <p:slideViewPr>
    <p:cSldViewPr showGuides="1">
      <p:cViewPr varScale="1">
        <p:scale>
          <a:sx n="80" d="100"/>
          <a:sy n="80" d="100"/>
        </p:scale>
        <p:origin x="468" y="39"/>
      </p:cViewPr>
      <p:guideLst>
        <p:guide orient="horz" pos="2253"/>
        <p:guide pos="3867"/>
      </p:guideLst>
    </p:cSldViewPr>
  </p:slideViewPr>
  <p:outlineViewPr>
    <p:cViewPr>
      <p:scale>
        <a:sx n="33" d="100"/>
        <a:sy n="33" d="100"/>
      </p:scale>
      <p:origin x="0" y="1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004"/>
        <p:guide pos="217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3" Type="http://schemas.openxmlformats.org/officeDocument/2006/relationships/tags" Target="tags/tag391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DC32F70-21FC-4B7C-A725-DEA929DD282A}" type="datetimeFigureOut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FDB66FB-7C8A-405B-8B60-42489FEFFF1E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E824CE-92F7-43CF-8526-4A65513E4A22}" type="slidenum">
              <a:rPr lang="zh-CN" altLang="en-US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E824CE-92F7-43CF-8526-4A65513E4A2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单击此处添加项标题</a:t>
            </a:r>
            <a:endParaRPr lang="zh-CN" altLang="en-US" dirty="0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>
                <a:latin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单击此处添加项正文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单击此处添加项标题</a:t>
            </a:r>
            <a:endParaRPr lang="zh-CN" altLang="en-US" dirty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>
                <a:latin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单击此处添加项正文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336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单击此处添加项标题</a:t>
            </a:r>
            <a:endParaRPr lang="zh-CN" altLang="en-US" dirty="0"/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895600"/>
            <a:ext cx="3454400" cy="2540000"/>
          </a:xfrm>
          <a:custGeom>
            <a:avLst/>
            <a:gdLst>
              <a:gd name="connisteX0" fmla="*/ 0 w 3454400"/>
              <a:gd name="connsiteY0" fmla="*/ 203200 h 2540000"/>
              <a:gd name="connisteX1" fmla="*/ 203200 w 3454400"/>
              <a:gd name="connsiteY1" fmla="*/ 0 h 2540000"/>
              <a:gd name="connisteX2" fmla="*/ 3251200 w 3454400"/>
              <a:gd name="connsiteY2" fmla="*/ 0 h 2540000"/>
              <a:gd name="connisteX3" fmla="*/ 3454400 w 3454400"/>
              <a:gd name="connsiteY3" fmla="*/ 203200 h 2540000"/>
              <a:gd name="connisteX4" fmla="*/ 3454400 w 3454400"/>
              <a:gd name="connsiteY4" fmla="*/ 2336800 h 2540000"/>
              <a:gd name="connisteX5" fmla="*/ 3251200 w 3454400"/>
              <a:gd name="connsiteY5" fmla="*/ 2540000 h 2540000"/>
              <a:gd name="connisteX6" fmla="*/ 203200 w 3454400"/>
              <a:gd name="connsiteY6" fmla="*/ 2540000 h 2540000"/>
              <a:gd name="connisteX7" fmla="*/ 0 w 3454400"/>
              <a:gd name="connsiteY7" fmla="*/ 2336800 h 2540000"/>
              <a:gd name="connisteX8" fmla="*/ 0 w 34544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cubicBezTo>
                  <a:pt x="3454400" y="2449024"/>
                  <a:pt x="3363424" y="2540000"/>
                  <a:pt x="32512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>
                <a:latin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860800"/>
            <a:ext cx="284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单击此处添加项正文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/>
          <p:cNvSpPr>
            <a:spLocks noGrp="1"/>
          </p:cNvSpPr>
          <p:nvPr>
            <p:ph idx="1"/>
          </p:nvPr>
        </p:nvSpPr>
        <p:spPr>
          <a:xfrm>
            <a:off x="609600" y="1600204"/>
            <a:ext cx="10972801" cy="4525963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1pPr>
            <a:lvl2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defRPr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TW" altLang="en-US" noProof="1"/>
              <a:t>按一下以編輯母片文字樣式</a:t>
            </a:r>
            <a:endParaRPr lang="zh-TW" altLang="en-US" noProof="1"/>
          </a:p>
          <a:p>
            <a:pPr lvl="1"/>
            <a:r>
              <a:rPr lang="zh-TW" altLang="en-US" noProof="1"/>
              <a:t>第二層</a:t>
            </a:r>
            <a:endParaRPr lang="zh-TW" altLang="en-US" noProof="1"/>
          </a:p>
          <a:p>
            <a:pPr lvl="2"/>
            <a:r>
              <a:rPr lang="zh-TW" altLang="en-US" noProof="1"/>
              <a:t>第三層</a:t>
            </a:r>
            <a:endParaRPr lang="zh-TW" altLang="en-US" noProof="1"/>
          </a:p>
          <a:p>
            <a:pPr lvl="3"/>
            <a:r>
              <a:rPr lang="zh-TW" altLang="en-US" noProof="1"/>
              <a:t>第四層</a:t>
            </a:r>
            <a:endParaRPr lang="zh-TW" altLang="en-US" noProof="1"/>
          </a:p>
          <a:p>
            <a:pPr lvl="4"/>
            <a:r>
              <a:rPr lang="zh-TW" altLang="en-US" noProof="1"/>
              <a:t>第五層</a:t>
            </a:r>
            <a:endParaRPr lang="zh-TW" altLang="en-US" noProof="1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5401732" y="6576477"/>
            <a:ext cx="1388536" cy="20638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5B97505E-3EB3-4447-B3F7-99CB90D72FEC}" type="datetime1">
              <a:rPr lang="zh-TW" altLang="en-US"/>
            </a:fld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669924" y="6576477"/>
            <a:ext cx="4140201" cy="20638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599" y="6576477"/>
            <a:ext cx="2909888" cy="20638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336CCA2F-4672-40EE-9E25-DD8B20F92138}" type="slidenum">
              <a:rPr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image" Target="../media/image2.png"/><Relationship Id="rId37" Type="http://schemas.openxmlformats.org/officeDocument/2006/relationships/image" Target="../media/image1.jpeg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1" Type="http://schemas.openxmlformats.org/officeDocument/2006/relationships/theme" Target="../theme/theme3.xml"/><Relationship Id="rId40" Type="http://schemas.openxmlformats.org/officeDocument/2006/relationships/image" Target="../media/image2.png"/><Relationship Id="rId4" Type="http://schemas.openxmlformats.org/officeDocument/2006/relationships/slideLayout" Target="../slideLayouts/slideLayout51.xml"/><Relationship Id="rId39" Type="http://schemas.openxmlformats.org/officeDocument/2006/relationships/image" Target="../media/image1.jpeg"/><Relationship Id="rId38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7.xml"/><Relationship Id="rId3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67.xml"/><Relationship Id="rId2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A6E998A-3C4C-4F47-9B25-D8180E1C1F7D}" type="slidenum">
              <a:rPr lang="zh-CN" altLang="en-US" b="0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</a:rPr>
            </a:fld>
            <a:endParaRPr lang="zh-CN" altLang="en-US" b="0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27" y="814642"/>
            <a:ext cx="11490505" cy="609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5597" y="6445283"/>
            <a:ext cx="11490505" cy="6095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847475" y="6474007"/>
            <a:ext cx="31085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聚焦信息探测、处理和传递，便捷感知世界</a:t>
            </a:r>
            <a:endParaRPr lang="zh-CN" altLang="en-US" sz="1200" b="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96" y="464964"/>
            <a:ext cx="1398661" cy="2814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A6E998A-3C4C-4F47-9B25-D8180E1C1F7D}" type="slidenum">
              <a:rPr lang="zh-CN" altLang="en-US" b="0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</a:rPr>
            </a:fld>
            <a:endParaRPr lang="zh-CN" altLang="en-US" b="0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27" y="814642"/>
            <a:ext cx="11490505" cy="609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65597" y="6445283"/>
            <a:ext cx="11490505" cy="6095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847475" y="6474007"/>
            <a:ext cx="31085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聚焦信息探测、处理和传递，便捷感知世界</a:t>
            </a:r>
            <a:endParaRPr lang="zh-CN" altLang="en-US" sz="1200" b="0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96" y="464964"/>
            <a:ext cx="1398661" cy="2814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83.xml"/><Relationship Id="rId4" Type="http://schemas.openxmlformats.org/officeDocument/2006/relationships/image" Target="../media/image3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tags" Target="../tags/tag7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83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83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83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83.xml"/><Relationship Id="rId20" Type="http://schemas.openxmlformats.org/officeDocument/2006/relationships/tags" Target="../tags/tag133.xml"/><Relationship Id="rId2" Type="http://schemas.openxmlformats.org/officeDocument/2006/relationships/tags" Target="../tags/tag115.xml"/><Relationship Id="rId19" Type="http://schemas.openxmlformats.org/officeDocument/2006/relationships/tags" Target="../tags/tag132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83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83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83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1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6" Type="http://schemas.openxmlformats.org/officeDocument/2006/relationships/slideLayout" Target="../slideLayouts/slideLayout83.xml"/><Relationship Id="rId25" Type="http://schemas.openxmlformats.org/officeDocument/2006/relationships/tags" Target="../tags/tag199.xml"/><Relationship Id="rId24" Type="http://schemas.openxmlformats.org/officeDocument/2006/relationships/tags" Target="../tags/tag198.xml"/><Relationship Id="rId23" Type="http://schemas.openxmlformats.org/officeDocument/2006/relationships/tags" Target="../tags/tag197.xml"/><Relationship Id="rId22" Type="http://schemas.openxmlformats.org/officeDocument/2006/relationships/tags" Target="../tags/tag196.xml"/><Relationship Id="rId21" Type="http://schemas.openxmlformats.org/officeDocument/2006/relationships/tags" Target="../tags/tag195.xml"/><Relationship Id="rId20" Type="http://schemas.openxmlformats.org/officeDocument/2006/relationships/tags" Target="../tags/tag194.xml"/><Relationship Id="rId2" Type="http://schemas.openxmlformats.org/officeDocument/2006/relationships/tags" Target="../tags/tag176.xml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tags" Target="../tags/tag191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tags" Target="../tags/tag20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ags" Target="../tags/tag20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tags" Target="../tags/tag20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3" Type="http://schemas.openxmlformats.org/officeDocument/2006/relationships/slideLayout" Target="../slideLayouts/slideLayout83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3.xml"/><Relationship Id="rId1" Type="http://schemas.openxmlformats.org/officeDocument/2006/relationships/tags" Target="../tags/tag21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3" Type="http://schemas.openxmlformats.org/officeDocument/2006/relationships/slideLayout" Target="../slideLayouts/slideLayout83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tags" Target="../tags/tag2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8" Type="http://schemas.openxmlformats.org/officeDocument/2006/relationships/slideLayout" Target="../slideLayouts/slideLayout83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2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4" Type="http://schemas.openxmlformats.org/officeDocument/2006/relationships/slideLayout" Target="../slideLayouts/slideLayout83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tags" Target="../tags/tag24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tags" Target="../tags/tag25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tags" Target="../tags/tag260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8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7" Type="http://schemas.openxmlformats.org/officeDocument/2006/relationships/notesSlide" Target="../notesSlides/notesSlide13.xml"/><Relationship Id="rId26" Type="http://schemas.openxmlformats.org/officeDocument/2006/relationships/slideLayout" Target="../slideLayouts/slideLayout83.xml"/><Relationship Id="rId25" Type="http://schemas.openxmlformats.org/officeDocument/2006/relationships/tags" Target="../tags/tag297.xml"/><Relationship Id="rId24" Type="http://schemas.openxmlformats.org/officeDocument/2006/relationships/tags" Target="../tags/tag296.xml"/><Relationship Id="rId23" Type="http://schemas.openxmlformats.org/officeDocument/2006/relationships/tags" Target="../tags/tag295.xml"/><Relationship Id="rId22" Type="http://schemas.openxmlformats.org/officeDocument/2006/relationships/tags" Target="../tags/tag294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0" Type="http://schemas.openxmlformats.org/officeDocument/2006/relationships/notesSlide" Target="../notesSlides/notesSlide14.xml"/><Relationship Id="rId1" Type="http://schemas.openxmlformats.org/officeDocument/2006/relationships/tags" Target="../tags/tag298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tags" Target="../tags/tag30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3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0" Type="http://schemas.openxmlformats.org/officeDocument/2006/relationships/notesSlide" Target="../notesSlides/notesSlide16.xml"/><Relationship Id="rId1" Type="http://schemas.openxmlformats.org/officeDocument/2006/relationships/tags" Target="../tags/tag30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83.xml"/><Relationship Id="rId12" Type="http://schemas.openxmlformats.org/officeDocument/2006/relationships/tags" Target="../tags/tag326.xml"/><Relationship Id="rId11" Type="http://schemas.openxmlformats.org/officeDocument/2006/relationships/tags" Target="../tags/tag325.xml"/><Relationship Id="rId10" Type="http://schemas.openxmlformats.org/officeDocument/2006/relationships/tags" Target="../tags/tag324.xml"/><Relationship Id="rId1" Type="http://schemas.openxmlformats.org/officeDocument/2006/relationships/tags" Target="../tags/tag31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83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tags" Target="../tags/tag3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3.xml"/><Relationship Id="rId1" Type="http://schemas.openxmlformats.org/officeDocument/2006/relationships/image" Target="../media/image16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6" Type="http://schemas.openxmlformats.org/officeDocument/2006/relationships/slideLayout" Target="../slideLayouts/slideLayout83.xml"/><Relationship Id="rId25" Type="http://schemas.openxmlformats.org/officeDocument/2006/relationships/tags" Target="../tags/tag363.xml"/><Relationship Id="rId24" Type="http://schemas.openxmlformats.org/officeDocument/2006/relationships/tags" Target="../tags/tag362.xml"/><Relationship Id="rId23" Type="http://schemas.openxmlformats.org/officeDocument/2006/relationships/tags" Target="../tags/tag361.xml"/><Relationship Id="rId22" Type="http://schemas.openxmlformats.org/officeDocument/2006/relationships/tags" Target="../tags/tag360.xml"/><Relationship Id="rId21" Type="http://schemas.openxmlformats.org/officeDocument/2006/relationships/tags" Target="../tags/tag359.xml"/><Relationship Id="rId20" Type="http://schemas.openxmlformats.org/officeDocument/2006/relationships/tags" Target="../tags/tag358.xml"/><Relationship Id="rId2" Type="http://schemas.openxmlformats.org/officeDocument/2006/relationships/tags" Target="../tags/tag340.xml"/><Relationship Id="rId19" Type="http://schemas.openxmlformats.org/officeDocument/2006/relationships/tags" Target="../tags/tag357.xml"/><Relationship Id="rId18" Type="http://schemas.openxmlformats.org/officeDocument/2006/relationships/tags" Target="../tags/tag356.xml"/><Relationship Id="rId17" Type="http://schemas.openxmlformats.org/officeDocument/2006/relationships/tags" Target="../tags/tag355.xml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39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0" Type="http://schemas.openxmlformats.org/officeDocument/2006/relationships/notesSlide" Target="../notesSlides/notesSlide21.xml"/><Relationship Id="rId1" Type="http://schemas.openxmlformats.org/officeDocument/2006/relationships/tags" Target="../tags/tag364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7.svg"/><Relationship Id="rId2" Type="http://schemas.openxmlformats.org/officeDocument/2006/relationships/image" Target="../media/image4.png"/><Relationship Id="rId1" Type="http://schemas.openxmlformats.org/officeDocument/2006/relationships/tags" Target="../tags/tag37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3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8" Type="http://schemas.openxmlformats.org/officeDocument/2006/relationships/notesSlide" Target="../notesSlides/notesSlide23.xml"/><Relationship Id="rId17" Type="http://schemas.openxmlformats.org/officeDocument/2006/relationships/slideLayout" Target="../slideLayouts/slideLayout83.xml"/><Relationship Id="rId16" Type="http://schemas.openxmlformats.org/officeDocument/2006/relationships/tags" Target="../tags/tag388.xml"/><Relationship Id="rId15" Type="http://schemas.openxmlformats.org/officeDocument/2006/relationships/tags" Target="../tags/tag387.xml"/><Relationship Id="rId14" Type="http://schemas.openxmlformats.org/officeDocument/2006/relationships/tags" Target="../tags/tag386.xml"/><Relationship Id="rId13" Type="http://schemas.openxmlformats.org/officeDocument/2006/relationships/tags" Target="../tags/tag385.xml"/><Relationship Id="rId12" Type="http://schemas.openxmlformats.org/officeDocument/2006/relationships/tags" Target="../tags/tag384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tags" Target="../tags/tag37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3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3.xml"/><Relationship Id="rId3" Type="http://schemas.openxmlformats.org/officeDocument/2006/relationships/image" Target="../media/image18.svg"/><Relationship Id="rId2" Type="http://schemas.openxmlformats.org/officeDocument/2006/relationships/image" Target="../media/image4.png"/><Relationship Id="rId1" Type="http://schemas.openxmlformats.org/officeDocument/2006/relationships/tags" Target="../tags/tag38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tags" Target="../tags/tag3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44"/>
          <p:cNvSpPr txBox="1"/>
          <p:nvPr>
            <p:custDataLst>
              <p:tags r:id="rId1"/>
            </p:custDataLst>
          </p:nvPr>
        </p:nvSpPr>
        <p:spPr>
          <a:xfrm>
            <a:off x="3808095" y="2286000"/>
            <a:ext cx="4575810" cy="564515"/>
          </a:xfrm>
          <a:prstGeom prst="rect">
            <a:avLst/>
          </a:prstGeom>
          <a:noFill/>
          <a:ln w="3175">
            <a:noFill/>
            <a:prstDash val="dash"/>
          </a:ln>
          <a:effectLst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rtlCol="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ctr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rPr lang="en-US" sz="3200" b="1" spc="288" dirty="0" err="1">
                <a:ln w="3175">
                  <a:noFill/>
                  <a:prstDash val="dash"/>
                </a:ln>
                <a:pattFill prst="dashDnDiag">
                  <a:fgClr>
                    <a:schemeClr val="accent1"/>
                  </a:fgClr>
                  <a:bgClr>
                    <a:schemeClr val="accent1">
                      <a:lumMod val="50000"/>
                    </a:schemeClr>
                  </a:bgClr>
                </a:pattFill>
                <a:effectLst/>
                <a:uFillTx/>
                <a:latin typeface="微软雅黑" panose="020B0503020204020204" pitchFamily="34" charset="-122"/>
                <a:ea typeface="汉仪粗宋简" panose="02010600000101010101" charset="-122"/>
                <a:cs typeface="微软雅黑" panose="020B0503020204020204" pitchFamily="34" charset="-122"/>
                <a:sym typeface="+mn-ea"/>
              </a:rPr>
              <a:t>从埋头做事到用心带人</a:t>
            </a:r>
            <a:endParaRPr lang="en-US" sz="3200" b="1" spc="288" dirty="0" err="1">
              <a:ln w="3175">
                <a:noFill/>
                <a:prstDash val="dash"/>
              </a:ln>
              <a:pattFill prst="dashDnDiag">
                <a:fgClr>
                  <a:schemeClr val="accent1"/>
                </a:fgClr>
                <a:bgClr>
                  <a:schemeClr val="accent1">
                    <a:lumMod val="50000"/>
                  </a:schemeClr>
                </a:bgClr>
              </a:pattFill>
              <a:effectLst/>
              <a:uFillTx/>
              <a:latin typeface="微软雅黑" panose="020B0503020204020204" pitchFamily="34" charset="-122"/>
              <a:ea typeface="汉仪粗宋简" panose="02010600000101010101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51100" y="3213100"/>
            <a:ext cx="7448550" cy="34290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zh-CN" altLang="en-US" sz="1500" b="1" kern="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融合引导技巧的</a:t>
            </a:r>
            <a:r>
              <a:rPr lang="en-US" sz="1500" b="1" kern="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异化激励与正向引导</a:t>
            </a:r>
            <a:endParaRPr lang="en-US" sz="1500" b="1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91000" y="5715000"/>
            <a:ext cx="38100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景嘉微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基</a:t>
            </a:r>
            <a:r>
              <a:rPr lang="en-US" sz="105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层管理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干部进阶</a:t>
            </a:r>
            <a:r>
              <a:rPr 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培训</a:t>
            </a:r>
            <a:endParaRPr lang="en-US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pic>
        <p:nvPicPr>
          <p:cNvPr id="11" name="Hopeful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92865" y="5805170"/>
            <a:ext cx="619125" cy="6191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1376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423138" y="980047"/>
            <a:ext cx="11433502" cy="5265846"/>
            <a:chOff x="407368" y="980688"/>
            <a:chExt cx="9243031" cy="4635391"/>
          </a:xfrm>
          <a:noFill/>
        </p:grpSpPr>
        <p:sp>
          <p:nvSpPr>
            <p:cNvPr id="2" name="TextBox 3"/>
            <p:cNvSpPr txBox="1"/>
            <p:nvPr/>
          </p:nvSpPr>
          <p:spPr>
            <a:xfrm>
              <a:off x="407368" y="980728"/>
              <a:ext cx="7091112" cy="4605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defTabSz="914400" fontAlgn="base"/>
              <a:endParaRPr lang="zh-CN" altLang="en-US" sz="2800" b="1">
                <a:solidFill>
                  <a:schemeClr val="bg2">
                    <a:lumMod val="90000"/>
                  </a:schemeClr>
                </a:solidFill>
                <a:latin typeface="+mn-ea"/>
              </a:endParaRPr>
            </a:p>
          </p:txBody>
        </p:sp>
        <p:sp>
          <p:nvSpPr>
            <p:cNvPr id="3" name="正五边形 5"/>
            <p:cNvSpPr/>
            <p:nvPr/>
          </p:nvSpPr>
          <p:spPr>
            <a:xfrm>
              <a:off x="1111127" y="2124067"/>
              <a:ext cx="831692" cy="792088"/>
            </a:xfrm>
            <a:prstGeom prst="pentagon">
              <a:avLst/>
            </a:pr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4" name="TextBox 7"/>
            <p:cNvSpPr/>
            <p:nvPr/>
          </p:nvSpPr>
          <p:spPr>
            <a:xfrm>
              <a:off x="527164" y="3325905"/>
              <a:ext cx="1972270" cy="567918"/>
            </a:xfrm>
            <a:prstGeom prst="rect">
              <a:avLst/>
            </a:prstGeom>
            <a:grpFill/>
            <a:ln w="6350" cap="flat" cmpd="sng" algn="ctr">
              <a:noFill/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+mn-ea"/>
                </a:rPr>
                <a:t>需要付出额外努力的时候表现出不合作</a:t>
              </a:r>
              <a:endParaRPr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" name="正五边形 10"/>
            <p:cNvSpPr/>
            <p:nvPr/>
          </p:nvSpPr>
          <p:spPr>
            <a:xfrm>
              <a:off x="6307320" y="3287379"/>
              <a:ext cx="831692" cy="792088"/>
            </a:xfrm>
            <a:prstGeom prst="pentagon">
              <a:avLst/>
            </a:pr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6" name="正五边形 9"/>
            <p:cNvSpPr/>
            <p:nvPr/>
          </p:nvSpPr>
          <p:spPr>
            <a:xfrm>
              <a:off x="4578388" y="2124069"/>
              <a:ext cx="831692" cy="792088"/>
            </a:xfrm>
            <a:prstGeom prst="pentagon">
              <a:avLst/>
            </a:pr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7" name="正五边形 8"/>
            <p:cNvSpPr/>
            <p:nvPr/>
          </p:nvSpPr>
          <p:spPr>
            <a:xfrm>
              <a:off x="2849456" y="3287379"/>
              <a:ext cx="831692" cy="792088"/>
            </a:xfrm>
            <a:prstGeom prst="pentagon">
              <a:avLst/>
            </a:pr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39134" y="980688"/>
              <a:ext cx="5749458" cy="378985"/>
            </a:xfrm>
            <a:prstGeom prst="rect">
              <a:avLst/>
            </a:prstGeom>
            <a:grpFill/>
          </p:spPr>
          <p:txBody>
            <a:bodyPr vert="horz"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ranienbaum" panose="02000506080000020003" pitchFamily="34" charset="-120"/>
                  <a:sym typeface="+mn-ea"/>
                </a:rPr>
                <a:t>未来，在团队中，会有这样的行为影响我们！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endParaRPr>
            </a:p>
          </p:txBody>
        </p:sp>
        <p:cxnSp>
          <p:nvCxnSpPr>
            <p:cNvPr id="9" name="直接连接符 8"/>
            <p:cNvCxnSpPr>
              <a:stCxn id="3" idx="4"/>
              <a:endCxn id="7" idx="1"/>
            </p:cNvCxnSpPr>
            <p:nvPr/>
          </p:nvCxnSpPr>
          <p:spPr>
            <a:xfrm>
              <a:off x="1783979" y="2916153"/>
              <a:ext cx="1065478" cy="673776"/>
            </a:xfrm>
            <a:prstGeom prst="line">
              <a:avLst/>
            </a:prstGeom>
            <a:grpFill/>
            <a:ln w="31750" cap="rnd">
              <a:solidFill>
                <a:schemeClr val="accent1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6" idx="2"/>
              <a:endCxn id="7" idx="5"/>
            </p:cNvCxnSpPr>
            <p:nvPr/>
          </p:nvCxnSpPr>
          <p:spPr>
            <a:xfrm flipH="1">
              <a:off x="3681147" y="2916155"/>
              <a:ext cx="1056081" cy="673774"/>
            </a:xfrm>
            <a:prstGeom prst="line">
              <a:avLst/>
            </a:prstGeom>
            <a:grpFill/>
            <a:ln w="31750" cap="rnd">
              <a:solidFill>
                <a:schemeClr val="accent1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5" idx="1"/>
              <a:endCxn id="6" idx="4"/>
            </p:cNvCxnSpPr>
            <p:nvPr/>
          </p:nvCxnSpPr>
          <p:spPr>
            <a:xfrm flipH="1" flipV="1">
              <a:off x="5251240" y="2916155"/>
              <a:ext cx="1056081" cy="673774"/>
            </a:xfrm>
            <a:prstGeom prst="line">
              <a:avLst/>
            </a:prstGeom>
            <a:grpFill/>
            <a:ln w="31750" cap="rnd">
              <a:solidFill>
                <a:schemeClr val="accent1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TextBox 27"/>
            <p:cNvSpPr/>
            <p:nvPr/>
          </p:nvSpPr>
          <p:spPr>
            <a:xfrm>
              <a:off x="4021912" y="3287170"/>
              <a:ext cx="1944956" cy="567918"/>
            </a:xfrm>
            <a:prstGeom prst="rect">
              <a:avLst/>
            </a:prstGeom>
            <a:noFill/>
            <a:ln w="6350" cap="flat" cmpd="sng" algn="ctr">
              <a:noFill/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+mn-ea"/>
                </a:rPr>
                <a:t>低效、拖延，没有责任感与优化改善意识</a:t>
              </a:r>
              <a:endParaRPr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3" name="TextBox 28"/>
            <p:cNvSpPr/>
            <p:nvPr/>
          </p:nvSpPr>
          <p:spPr>
            <a:xfrm>
              <a:off x="2413941" y="2348197"/>
              <a:ext cx="1944956" cy="567918"/>
            </a:xfrm>
            <a:prstGeom prst="rect">
              <a:avLst/>
            </a:prstGeom>
            <a:noFill/>
            <a:ln w="6350" cap="flat" cmpd="sng" algn="ctr">
              <a:noFill/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+mn-ea"/>
                </a:rPr>
                <a:t>不能按时按质量完成工作且没有合适理由</a:t>
              </a:r>
              <a:endParaRPr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4" name="TextBox 29"/>
            <p:cNvSpPr/>
            <p:nvPr/>
          </p:nvSpPr>
          <p:spPr>
            <a:xfrm>
              <a:off x="5906464" y="2226379"/>
              <a:ext cx="1944956" cy="811631"/>
            </a:xfrm>
            <a:prstGeom prst="rect">
              <a:avLst/>
            </a:prstGeom>
            <a:noFill/>
            <a:ln w="6350" cap="flat" cmpd="sng" algn="ctr">
              <a:noFill/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+mn-ea"/>
                </a:rPr>
                <a:t>常抱怨鸡毛蒜皮的琐事，工作处理问题时尽埋怨别人</a:t>
              </a:r>
              <a:endParaRPr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5" name="上弧形箭头 1"/>
            <p:cNvSpPr/>
            <p:nvPr/>
          </p:nvSpPr>
          <p:spPr>
            <a:xfrm>
              <a:off x="1311410" y="2374496"/>
              <a:ext cx="424020" cy="409565"/>
            </a:xfrm>
            <a:prstGeom prst="curvedDownArrow">
              <a:avLst/>
            </a:prstGeom>
            <a:grpFill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fontAlgn="base"/>
              <a:endParaRPr lang="zh-CN" altLang="en-US" sz="1800" b="1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上弧形箭头 25"/>
            <p:cNvSpPr/>
            <p:nvPr/>
          </p:nvSpPr>
          <p:spPr>
            <a:xfrm>
              <a:off x="4827220" y="2374486"/>
              <a:ext cx="424020" cy="409565"/>
            </a:xfrm>
            <a:prstGeom prst="curvedDownArrow">
              <a:avLst/>
            </a:prstGeom>
            <a:grpFill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17" name="下弧形箭头 26"/>
            <p:cNvSpPr/>
            <p:nvPr/>
          </p:nvSpPr>
          <p:spPr>
            <a:xfrm>
              <a:off x="3037210" y="3589929"/>
              <a:ext cx="504056" cy="323165"/>
            </a:xfrm>
            <a:prstGeom prst="curvedUpArrow">
              <a:avLst/>
            </a:prstGeom>
            <a:grpFill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18" name="下弧形箭头 31"/>
            <p:cNvSpPr/>
            <p:nvPr/>
          </p:nvSpPr>
          <p:spPr>
            <a:xfrm>
              <a:off x="6488592" y="3589615"/>
              <a:ext cx="504056" cy="323165"/>
            </a:xfrm>
            <a:prstGeom prst="curvedUpArrow">
              <a:avLst/>
            </a:prstGeom>
            <a:grpFill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19" name="正五边形 18"/>
            <p:cNvSpPr/>
            <p:nvPr/>
          </p:nvSpPr>
          <p:spPr>
            <a:xfrm>
              <a:off x="8005069" y="2183224"/>
              <a:ext cx="831692" cy="792088"/>
            </a:xfrm>
            <a:prstGeom prst="pentagon">
              <a:avLst/>
            </a:pr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cxnSp>
          <p:nvCxnSpPr>
            <p:cNvPr id="20" name="直接连接符 19"/>
            <p:cNvCxnSpPr>
              <a:stCxn id="19" idx="2"/>
            </p:cNvCxnSpPr>
            <p:nvPr/>
          </p:nvCxnSpPr>
          <p:spPr>
            <a:xfrm flipH="1">
              <a:off x="7107828" y="2975310"/>
              <a:ext cx="1056081" cy="673774"/>
            </a:xfrm>
            <a:prstGeom prst="line">
              <a:avLst/>
            </a:prstGeom>
            <a:grpFill/>
            <a:ln w="31750" cap="rnd">
              <a:solidFill>
                <a:schemeClr val="accent1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上弧形箭头 22"/>
            <p:cNvSpPr/>
            <p:nvPr/>
          </p:nvSpPr>
          <p:spPr>
            <a:xfrm>
              <a:off x="8209240" y="2375508"/>
              <a:ext cx="424020" cy="409565"/>
            </a:xfrm>
            <a:prstGeom prst="curvedDownArrow">
              <a:avLst/>
            </a:prstGeom>
            <a:grpFill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>
                <a:latin typeface="+mn-ea"/>
                <a:sym typeface="+mn-ea"/>
              </a:endParaRPr>
            </a:p>
          </p:txBody>
        </p:sp>
        <p:sp>
          <p:nvSpPr>
            <p:cNvPr id="22" name="TextBox 23"/>
            <p:cNvSpPr/>
            <p:nvPr/>
          </p:nvSpPr>
          <p:spPr>
            <a:xfrm>
              <a:off x="7705443" y="3231978"/>
              <a:ext cx="1944956" cy="324205"/>
            </a:xfrm>
            <a:prstGeom prst="rect">
              <a:avLst/>
            </a:prstGeom>
            <a:noFill/>
            <a:ln w="6350" cap="flat" cmpd="sng" algn="ctr">
              <a:noFill/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sym typeface="+mn-ea"/>
                </a:rPr>
                <a:t>员工频繁更换、离职</a:t>
              </a:r>
              <a:endParaRPr lang="zh-CN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3" name="TextBox 3"/>
            <p:cNvSpPr txBox="1"/>
            <p:nvPr/>
          </p:nvSpPr>
          <p:spPr>
            <a:xfrm>
              <a:off x="478208" y="5209687"/>
              <a:ext cx="9144000" cy="40639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defTabSz="914400" fontAlgn="base"/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人心散了，队伍就不好带了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767715" y="1701047"/>
            <a:ext cx="10284082" cy="4232962"/>
            <a:chOff x="1095" y="2264"/>
            <a:chExt cx="17146" cy="7446"/>
          </a:xfrm>
        </p:grpSpPr>
        <p:sp>
          <p:nvSpPr>
            <p:cNvPr id="29" name="圆角矩形 1"/>
            <p:cNvSpPr/>
            <p:nvPr>
              <p:custDataLst>
                <p:tags r:id="rId2"/>
              </p:custDataLst>
            </p:nvPr>
          </p:nvSpPr>
          <p:spPr>
            <a:xfrm>
              <a:off x="2045" y="2276"/>
              <a:ext cx="7102" cy="3507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/>
              <a:endParaRPr lang="zh-CN" altLang="en-US" sz="1800" b="1" dirty="0">
                <a:solidFill>
                  <a:schemeClr val="l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3"/>
              </p:custDataLst>
            </p:nvPr>
          </p:nvSpPr>
          <p:spPr>
            <a:xfrm>
              <a:off x="2896" y="3965"/>
              <a:ext cx="6978" cy="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“你”为谁做这件事</a:t>
              </a:r>
              <a:r>
                <a:rPr lang="en-US" altLang="zh-CN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?</a:t>
              </a:r>
              <a:br>
                <a:rPr lang="en-US" altLang="zh-CN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</a:br>
              <a:r>
                <a:rPr lang="en-US" altLang="zh-CN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      (</a:t>
              </a:r>
              <a:r>
                <a:rPr lang="zh-CN" altLang="en-US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获益方是谁</a:t>
              </a:r>
              <a:r>
                <a:rPr lang="en-US" altLang="zh-CN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?)</a:t>
              </a:r>
              <a:endParaRPr lang="en-US" altLang="zh-CN" sz="2400" b="1">
                <a:ln>
                  <a:noFill/>
                  <a:prstDash val="sysDot"/>
                </a:ln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CN" sz="2400" b="1">
                <a:ln>
                  <a:noFill/>
                  <a:prstDash val="sysDot"/>
                </a:ln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1096" y="2276"/>
              <a:ext cx="1452" cy="258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800" b="1" dirty="0"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alpha val="100000"/>
                        </a:schemeClr>
                      </a:gs>
                      <a:gs pos="72000">
                        <a:schemeClr val="accent1">
                          <a:alpha val="100000"/>
                        </a:schemeClr>
                      </a:gs>
                    </a:gsLst>
                    <a:lin ang="2700000" scaled="1"/>
                    <a:tileRect/>
                  </a:gradFill>
                  <a:latin typeface="+mn-ea"/>
                  <a:cs typeface="+mn-ea"/>
                  <a:sym typeface="+mn-ea"/>
                </a:rPr>
                <a:t>1</a:t>
              </a:r>
              <a:endParaRPr lang="en-US" altLang="zh-CN" sz="48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72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35" name="圆角矩形 1"/>
            <p:cNvSpPr/>
            <p:nvPr>
              <p:custDataLst>
                <p:tags r:id="rId5"/>
              </p:custDataLst>
            </p:nvPr>
          </p:nvSpPr>
          <p:spPr>
            <a:xfrm>
              <a:off x="11002" y="2276"/>
              <a:ext cx="7102" cy="3507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 dirty="0"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10052" y="2264"/>
              <a:ext cx="1452" cy="258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800" b="1" dirty="0"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alpha val="100000"/>
                        </a:schemeClr>
                      </a:gs>
                      <a:gs pos="72000">
                        <a:schemeClr val="accent1">
                          <a:alpha val="100000"/>
                        </a:schemeClr>
                      </a:gs>
                    </a:gsLst>
                    <a:lin ang="2700000" scaled="1"/>
                    <a:tileRect/>
                  </a:gradFill>
                  <a:latin typeface="+mn-ea"/>
                  <a:cs typeface="+mn-ea"/>
                  <a:sym typeface="+mn-ea"/>
                </a:rPr>
                <a:t>2</a:t>
              </a:r>
              <a:endParaRPr lang="en-US" altLang="zh-CN" sz="48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72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1" name="圆角矩形 1"/>
            <p:cNvSpPr/>
            <p:nvPr>
              <p:custDataLst>
                <p:tags r:id="rId7"/>
              </p:custDataLst>
            </p:nvPr>
          </p:nvSpPr>
          <p:spPr>
            <a:xfrm>
              <a:off x="2045" y="6203"/>
              <a:ext cx="7102" cy="3507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 dirty="0"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8"/>
              </p:custDataLst>
            </p:nvPr>
          </p:nvSpPr>
          <p:spPr>
            <a:xfrm>
              <a:off x="2776" y="6882"/>
              <a:ext cx="5750" cy="219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“获益方”为什么需要“你”来设计与执行?</a:t>
              </a:r>
              <a:endParaRPr lang="zh-CN" altLang="en-US" sz="2400" b="1">
                <a:ln>
                  <a:noFill/>
                  <a:prstDash val="sysDot"/>
                </a:ln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9"/>
              </p:custDataLst>
            </p:nvPr>
          </p:nvSpPr>
          <p:spPr>
            <a:xfrm>
              <a:off x="1095" y="6203"/>
              <a:ext cx="1452" cy="258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800" b="1" dirty="0"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alpha val="100000"/>
                        </a:schemeClr>
                      </a:gs>
                      <a:gs pos="72000">
                        <a:schemeClr val="accent1">
                          <a:alpha val="100000"/>
                        </a:schemeClr>
                      </a:gs>
                    </a:gsLst>
                    <a:lin ang="2700000" scaled="1"/>
                    <a:tileRect/>
                  </a:gradFill>
                  <a:latin typeface="+mn-ea"/>
                  <a:cs typeface="+mn-ea"/>
                  <a:sym typeface="+mn-ea"/>
                </a:rPr>
                <a:t>3</a:t>
              </a:r>
              <a:endParaRPr lang="en-US" altLang="zh-CN" sz="48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72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5" name="圆角矩形 1"/>
            <p:cNvSpPr/>
            <p:nvPr>
              <p:custDataLst>
                <p:tags r:id="rId10"/>
              </p:custDataLst>
            </p:nvPr>
          </p:nvSpPr>
          <p:spPr>
            <a:xfrm>
              <a:off x="11002" y="6203"/>
              <a:ext cx="7102" cy="3507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0000"/>
              </a:schemeClr>
            </a:solidFill>
            <a:ln w="2540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buClrTx/>
                <a:buSzTx/>
                <a:buFontTx/>
              </a:pPr>
              <a:endParaRPr lang="zh-CN" altLang="en-US" sz="1800" b="1" dirty="0"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11"/>
              </p:custDataLst>
            </p:nvPr>
          </p:nvSpPr>
          <p:spPr>
            <a:xfrm>
              <a:off x="10051" y="6191"/>
              <a:ext cx="1452" cy="258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800" b="1" dirty="0"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  <a:alpha val="100000"/>
                        </a:schemeClr>
                      </a:gs>
                      <a:gs pos="72000">
                        <a:schemeClr val="accent1">
                          <a:alpha val="100000"/>
                        </a:schemeClr>
                      </a:gs>
                    </a:gsLst>
                    <a:lin ang="2700000" scaled="1"/>
                    <a:tileRect/>
                  </a:gradFill>
                  <a:latin typeface="+mn-ea"/>
                  <a:cs typeface="+mn-ea"/>
                  <a:sym typeface="+mn-ea"/>
                </a:rPr>
                <a:t>4</a:t>
              </a:r>
              <a:endParaRPr lang="en-US" altLang="zh-CN" sz="48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alpha val="100000"/>
                      </a:schemeClr>
                    </a:gs>
                    <a:gs pos="72000">
                      <a:schemeClr val="accent1">
                        <a:alpha val="100000"/>
                      </a:schemeClr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1301" y="2897"/>
              <a:ext cx="6940" cy="219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“获益方”想获得什么效果?</a:t>
              </a:r>
              <a:endParaRPr lang="zh-CN" altLang="en-US" sz="2400" b="1">
                <a:ln>
                  <a:noFill/>
                  <a:prstDash val="sysDot"/>
                </a:ln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3"/>
              </p:custDataLst>
            </p:nvPr>
          </p:nvSpPr>
          <p:spPr>
            <a:xfrm>
              <a:off x="11813" y="6823"/>
              <a:ext cx="5750" cy="219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2400" b="1">
                  <a:ln>
                    <a:noFill/>
                    <a:prstDash val="sysDot"/>
                  </a:ln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“你”应该推动什么“事情”发生?</a:t>
              </a:r>
              <a:endParaRPr lang="zh-CN" altLang="en-US" sz="2400" b="1">
                <a:ln>
                  <a:noFill/>
                  <a:prstDash val="sysDot"/>
                </a:ln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</p:grpSp>
      <p:sp>
        <p:nvSpPr>
          <p:cNvPr id="16" name="标题 15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768390" y="764610"/>
            <a:ext cx="10800000" cy="792000"/>
          </a:xfr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“激励与引导”是一件啥事？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6430" y="981075"/>
            <a:ext cx="3249295" cy="720090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lvl="0" algn="ctr" fontAlgn="base">
              <a:lnSpc>
                <a:spcPct val="120000"/>
              </a:lnSpc>
              <a:buClrTx/>
              <a:buSzTx/>
              <a:buFontTx/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  <a:sym typeface="+mn-ea"/>
              </a:rPr>
              <a:t>你怎么看待这三句话？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Liter" pitchFamily="34" charset="-12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750570" y="2301240"/>
            <a:ext cx="10330815" cy="3676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342900" indent="-342900" defTabSz="914400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+mn-ea"/>
                <a:sym typeface="+mn-ea"/>
              </a:rPr>
              <a:t>企业的本质天然是在为其拥有者服务。</a:t>
            </a:r>
            <a:endParaRPr lang="zh-CN" altLang="en-US" sz="2000" b="1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750570" y="4857750"/>
            <a:ext cx="10330180" cy="3676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342900" indent="-342900" algn="l" defTabSz="914400" fontAlgn="base"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+mn-ea"/>
                <a:sym typeface="+mn-ea"/>
              </a:rPr>
              <a:t>优秀的团队管理者关注人的长处。</a:t>
            </a:r>
            <a:endParaRPr lang="zh-CN" altLang="en-US" sz="2000" b="1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+mn-ea"/>
              <a:sym typeface="+mn-ea"/>
            </a:endParaRPr>
          </a:p>
          <a:p>
            <a:pPr marL="342900" indent="-342900" algn="l" defTabSz="914400" fontAlgn="base"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sz="20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749935" y="3307080"/>
            <a:ext cx="1033018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342900" indent="-342900" algn="l" defTabSz="914400" fontAlgn="base"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+mn-ea"/>
                <a:sym typeface="+mn-ea"/>
              </a:rPr>
              <a:t>管理的本质是激发善意与潜能。</a:t>
            </a:r>
            <a:endParaRPr lang="zh-CN" altLang="en-US" sz="2000" b="1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38213" y="1010126"/>
            <a:ext cx="85725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给你的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团队成员</a:t>
            </a: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打个标签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36930" y="1562100"/>
            <a:ext cx="4949190" cy="90424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Shape 4"/>
          <p:cNvSpPr/>
          <p:nvPr/>
        </p:nvSpPr>
        <p:spPr>
          <a:xfrm>
            <a:off x="1166813" y="1700848"/>
            <a:ext cx="319564" cy="296228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1770063" y="1628458"/>
            <a:ext cx="2659856" cy="2305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维度一：能力高低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70380" y="1927225"/>
            <a:ext cx="4015740" cy="452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4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硬实力：专业技能、解决复杂问题的经验、学习和应变能力</a:t>
            </a:r>
            <a:endParaRPr 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5563" y="1557020"/>
            <a:ext cx="4787741" cy="904399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Shape 8"/>
          <p:cNvSpPr/>
          <p:nvPr/>
        </p:nvSpPr>
        <p:spPr>
          <a:xfrm>
            <a:off x="6691313" y="1759268"/>
            <a:ext cx="319564" cy="296228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63796" y="-23574"/>
                </a:moveTo>
                <a:cubicBezTo>
                  <a:pt x="173287" y="-30540"/>
                  <a:pt x="187268" y="-30272"/>
                  <a:pt x="196351" y="-22771"/>
                </a:cubicBezTo>
                <a:cubicBezTo>
                  <a:pt x="208904" y="-12412"/>
                  <a:pt x="220130" y="-982"/>
                  <a:pt x="230947" y="10626"/>
                </a:cubicBezTo>
                <a:cubicBezTo>
                  <a:pt x="244724" y="25360"/>
                  <a:pt x="261257" y="44827"/>
                  <a:pt x="277178" y="67955"/>
                </a:cubicBezTo>
                <a:cubicBezTo>
                  <a:pt x="282484" y="61883"/>
                  <a:pt x="287383" y="56525"/>
                  <a:pt x="291669" y="51971"/>
                </a:cubicBezTo>
                <a:cubicBezTo>
                  <a:pt x="292792" y="50810"/>
                  <a:pt x="293914" y="49560"/>
                  <a:pt x="295037" y="48310"/>
                </a:cubicBezTo>
                <a:cubicBezTo>
                  <a:pt x="303099" y="39559"/>
                  <a:pt x="313100" y="28575"/>
                  <a:pt x="326469" y="28575"/>
                </a:cubicBezTo>
                <a:cubicBezTo>
                  <a:pt x="340145" y="28575"/>
                  <a:pt x="349738" y="39201"/>
                  <a:pt x="357902" y="48310"/>
                </a:cubicBezTo>
                <a:cubicBezTo>
                  <a:pt x="359229" y="49828"/>
                  <a:pt x="360555" y="51256"/>
                  <a:pt x="361882" y="52596"/>
                </a:cubicBezTo>
                <a:cubicBezTo>
                  <a:pt x="372393" y="63669"/>
                  <a:pt x="386375" y="79653"/>
                  <a:pt x="400356" y="99387"/>
                </a:cubicBezTo>
                <a:cubicBezTo>
                  <a:pt x="428115" y="138589"/>
                  <a:pt x="457098" y="194399"/>
                  <a:pt x="457098" y="257086"/>
                </a:cubicBezTo>
                <a:cubicBezTo>
                  <a:pt x="457098" y="367546"/>
                  <a:pt x="354738" y="457111"/>
                  <a:pt x="228498" y="457111"/>
                </a:cubicBezTo>
                <a:cubicBezTo>
                  <a:pt x="102258" y="457111"/>
                  <a:pt x="0" y="367635"/>
                  <a:pt x="0" y="257175"/>
                </a:cubicBezTo>
                <a:cubicBezTo>
                  <a:pt x="0" y="175826"/>
                  <a:pt x="41944" y="105370"/>
                  <a:pt x="82153" y="56257"/>
                </a:cubicBezTo>
                <a:cubicBezTo>
                  <a:pt x="102462" y="31522"/>
                  <a:pt x="122668" y="11698"/>
                  <a:pt x="137874" y="-1875"/>
                </a:cubicBezTo>
                <a:cubicBezTo>
                  <a:pt x="146243" y="-9376"/>
                  <a:pt x="154713" y="-16788"/>
                  <a:pt x="163898" y="-23485"/>
                </a:cubicBezTo>
                <a:close/>
                <a:moveTo>
                  <a:pt x="230335" y="371475"/>
                </a:moveTo>
                <a:cubicBezTo>
                  <a:pt x="256154" y="371475"/>
                  <a:pt x="279014" y="365224"/>
                  <a:pt x="300548" y="352723"/>
                </a:cubicBezTo>
                <a:cubicBezTo>
                  <a:pt x="343512" y="326469"/>
                  <a:pt x="355044" y="273963"/>
                  <a:pt x="329225" y="232708"/>
                </a:cubicBezTo>
                <a:cubicBezTo>
                  <a:pt x="324632" y="224671"/>
                  <a:pt x="312896" y="224135"/>
                  <a:pt x="306263" y="230922"/>
                </a:cubicBezTo>
                <a:lnTo>
                  <a:pt x="280545" y="257086"/>
                </a:lnTo>
                <a:cubicBezTo>
                  <a:pt x="273810" y="263872"/>
                  <a:pt x="261665" y="263694"/>
                  <a:pt x="255338" y="256639"/>
                </a:cubicBezTo>
                <a:cubicBezTo>
                  <a:pt x="237683" y="236905"/>
                  <a:pt x="205230" y="200918"/>
                  <a:pt x="188697" y="182523"/>
                </a:cubicBezTo>
                <a:cubicBezTo>
                  <a:pt x="183186" y="176361"/>
                  <a:pt x="173185" y="175379"/>
                  <a:pt x="166756" y="180826"/>
                </a:cubicBezTo>
                <a:cubicBezTo>
                  <a:pt x="148080" y="196721"/>
                  <a:pt x="114198" y="231547"/>
                  <a:pt x="114198" y="273963"/>
                </a:cubicBezTo>
                <a:cubicBezTo>
                  <a:pt x="114198" y="335220"/>
                  <a:pt x="165837" y="371475"/>
                  <a:pt x="230233" y="37147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7333298" y="1628458"/>
            <a:ext cx="2659856" cy="2305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维度二：干事意愿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33298" y="1926908"/>
            <a:ext cx="3812381" cy="452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4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软实力：工作热情、主动担责的态度、成就渴望及自驱力</a:t>
            </a:r>
            <a:endParaRPr 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881063" y="2752249"/>
            <a:ext cx="4905851" cy="1090865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14" name="Shape 12"/>
          <p:cNvSpPr/>
          <p:nvPr>
            <p:custDataLst>
              <p:tags r:id="rId2"/>
            </p:custDataLst>
          </p:nvPr>
        </p:nvSpPr>
        <p:spPr>
          <a:xfrm>
            <a:off x="881063" y="2752249"/>
            <a:ext cx="73502" cy="10908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Shape 13"/>
          <p:cNvSpPr/>
          <p:nvPr>
            <p:custDataLst>
              <p:tags r:id="rId3"/>
            </p:custDataLst>
          </p:nvPr>
        </p:nvSpPr>
        <p:spPr>
          <a:xfrm>
            <a:off x="1166813" y="2852738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Text 14"/>
          <p:cNvSpPr/>
          <p:nvPr>
            <p:custDataLst>
              <p:tags r:id="rId4"/>
            </p:custDataLst>
          </p:nvPr>
        </p:nvSpPr>
        <p:spPr>
          <a:xfrm>
            <a:off x="1604328" y="2853055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 明星型 · 高能高愿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1166813" y="328485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 err="1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团队的核心骨干与业绩引擎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>
            <p:custDataLst>
              <p:tags r:id="rId6"/>
            </p:custDataLst>
          </p:nvPr>
        </p:nvSpPr>
        <p:spPr>
          <a:xfrm>
            <a:off x="6405563" y="2752249"/>
            <a:ext cx="4905851" cy="1090865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19" name="Shape 17"/>
          <p:cNvSpPr/>
          <p:nvPr>
            <p:custDataLst>
              <p:tags r:id="rId7"/>
            </p:custDataLst>
          </p:nvPr>
        </p:nvSpPr>
        <p:spPr>
          <a:xfrm>
            <a:off x="6405563" y="2752249"/>
            <a:ext cx="73502" cy="10908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0" name="Shape 18"/>
          <p:cNvSpPr/>
          <p:nvPr>
            <p:custDataLst>
              <p:tags r:id="rId8"/>
            </p:custDataLst>
          </p:nvPr>
        </p:nvSpPr>
        <p:spPr>
          <a:xfrm>
            <a:off x="6691313" y="2852103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Text 19"/>
          <p:cNvSpPr/>
          <p:nvPr>
            <p:custDataLst>
              <p:tags r:id="rId9"/>
            </p:custDataLst>
          </p:nvPr>
        </p:nvSpPr>
        <p:spPr>
          <a:xfrm>
            <a:off x="7286308" y="2868295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02 潜力型 · 低能高愿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22" name="Text 20"/>
          <p:cNvSpPr/>
          <p:nvPr>
            <p:custDataLst>
              <p:tags r:id="rId10"/>
            </p:custDataLst>
          </p:nvPr>
        </p:nvSpPr>
        <p:spPr>
          <a:xfrm>
            <a:off x="6691313" y="328485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热情高涨但经验待补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，是团队的储备力量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>
            <p:custDataLst>
              <p:tags r:id="rId11"/>
            </p:custDataLst>
          </p:nvPr>
        </p:nvSpPr>
        <p:spPr>
          <a:xfrm>
            <a:off x="881063" y="3964945"/>
            <a:ext cx="4905851" cy="1090865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24" name="Shape 22"/>
          <p:cNvSpPr/>
          <p:nvPr>
            <p:custDataLst>
              <p:tags r:id="rId12"/>
            </p:custDataLst>
          </p:nvPr>
        </p:nvSpPr>
        <p:spPr>
          <a:xfrm>
            <a:off x="881063" y="3964945"/>
            <a:ext cx="73502" cy="10908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5" name="Shape 23"/>
          <p:cNvSpPr/>
          <p:nvPr>
            <p:custDataLst>
              <p:tags r:id="rId13"/>
            </p:custDataLst>
          </p:nvPr>
        </p:nvSpPr>
        <p:spPr>
          <a:xfrm>
            <a:off x="1166813" y="4047654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280" y="101600"/>
                </a:moveTo>
                <a:cubicBezTo>
                  <a:pt x="340868" y="101600"/>
                  <a:pt x="345440" y="107315"/>
                  <a:pt x="345440" y="114300"/>
                </a:cubicBezTo>
                <a:lnTo>
                  <a:pt x="345440" y="292100"/>
                </a:lnTo>
                <a:cubicBezTo>
                  <a:pt x="345440" y="299085"/>
                  <a:pt x="340868" y="304800"/>
                  <a:pt x="335280" y="304800"/>
                </a:cubicBezTo>
                <a:lnTo>
                  <a:pt x="71120" y="304800"/>
                </a:lnTo>
                <a:cubicBezTo>
                  <a:pt x="65532" y="304800"/>
                  <a:pt x="60960" y="299085"/>
                  <a:pt x="60960" y="292100"/>
                </a:cubicBezTo>
                <a:lnTo>
                  <a:pt x="60960" y="114300"/>
                </a:lnTo>
                <a:cubicBezTo>
                  <a:pt x="60960" y="107315"/>
                  <a:pt x="65532" y="101600"/>
                  <a:pt x="71120" y="101600"/>
                </a:cubicBezTo>
                <a:lnTo>
                  <a:pt x="335280" y="101600"/>
                </a:lnTo>
                <a:close/>
                <a:moveTo>
                  <a:pt x="71120" y="50800"/>
                </a:moveTo>
                <a:cubicBezTo>
                  <a:pt x="43053" y="50800"/>
                  <a:pt x="20320" y="79216"/>
                  <a:pt x="20320" y="114300"/>
                </a:cubicBezTo>
                <a:lnTo>
                  <a:pt x="20320" y="292100"/>
                </a:lnTo>
                <a:cubicBezTo>
                  <a:pt x="20320" y="327184"/>
                  <a:pt x="43053" y="355600"/>
                  <a:pt x="71120" y="355600"/>
                </a:cubicBezTo>
                <a:lnTo>
                  <a:pt x="335280" y="355600"/>
                </a:lnTo>
                <a:cubicBezTo>
                  <a:pt x="363347" y="355600"/>
                  <a:pt x="386080" y="327184"/>
                  <a:pt x="386080" y="292100"/>
                </a:cubicBezTo>
                <a:lnTo>
                  <a:pt x="386080" y="254000"/>
                </a:lnTo>
                <a:cubicBezTo>
                  <a:pt x="397320" y="254000"/>
                  <a:pt x="406400" y="242649"/>
                  <a:pt x="406400" y="2286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lnTo>
                  <a:pt x="386080" y="114300"/>
                </a:lnTo>
                <a:cubicBezTo>
                  <a:pt x="386080" y="79216"/>
                  <a:pt x="363347" y="50800"/>
                  <a:pt x="335280" y="50800"/>
                </a:cubicBezTo>
                <a:lnTo>
                  <a:pt x="71120" y="50800"/>
                </a:lnTo>
                <a:close/>
                <a:moveTo>
                  <a:pt x="106680" y="139700"/>
                </a:moveTo>
                <a:cubicBezTo>
                  <a:pt x="98234" y="139700"/>
                  <a:pt x="91440" y="148193"/>
                  <a:pt x="91440" y="158750"/>
                </a:cubicBezTo>
                <a:lnTo>
                  <a:pt x="91440" y="247650"/>
                </a:lnTo>
                <a:cubicBezTo>
                  <a:pt x="91440" y="258207"/>
                  <a:pt x="98234" y="266700"/>
                  <a:pt x="106680" y="266700"/>
                </a:cubicBezTo>
                <a:lnTo>
                  <a:pt x="147320" y="266700"/>
                </a:lnTo>
                <a:cubicBezTo>
                  <a:pt x="155766" y="266700"/>
                  <a:pt x="162560" y="258207"/>
                  <a:pt x="162560" y="247650"/>
                </a:cubicBezTo>
                <a:lnTo>
                  <a:pt x="162560" y="158750"/>
                </a:lnTo>
                <a:cubicBezTo>
                  <a:pt x="162560" y="148193"/>
                  <a:pt x="155766" y="139700"/>
                  <a:pt x="147320" y="139700"/>
                </a:cubicBezTo>
                <a:lnTo>
                  <a:pt x="106680" y="139700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Text 24"/>
          <p:cNvSpPr/>
          <p:nvPr>
            <p:custDataLst>
              <p:tags r:id="rId14"/>
            </p:custDataLst>
          </p:nvPr>
        </p:nvSpPr>
        <p:spPr>
          <a:xfrm>
            <a:off x="1630998" y="4063846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03 倦怠型 · 高能低愿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27" name="Text 25"/>
          <p:cNvSpPr/>
          <p:nvPr>
            <p:custDataLst>
              <p:tags r:id="rId15"/>
            </p:custDataLst>
          </p:nvPr>
        </p:nvSpPr>
        <p:spPr>
          <a:xfrm>
            <a:off x="1149668" y="4479771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能力尚可但动力缺失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，易出现职业倦怠状态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8" name="Shape 26"/>
          <p:cNvSpPr/>
          <p:nvPr>
            <p:custDataLst>
              <p:tags r:id="rId16"/>
            </p:custDataLst>
          </p:nvPr>
        </p:nvSpPr>
        <p:spPr>
          <a:xfrm>
            <a:off x="6405563" y="3964945"/>
            <a:ext cx="4905851" cy="1090865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29" name="Shape 27"/>
          <p:cNvSpPr/>
          <p:nvPr>
            <p:custDataLst>
              <p:tags r:id="rId17"/>
            </p:custDataLst>
          </p:nvPr>
        </p:nvSpPr>
        <p:spPr>
          <a:xfrm>
            <a:off x="6405563" y="3964945"/>
            <a:ext cx="73502" cy="10908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0" name="Shape 28"/>
          <p:cNvSpPr/>
          <p:nvPr>
            <p:custDataLst>
              <p:tags r:id="rId18"/>
            </p:custDataLst>
          </p:nvPr>
        </p:nvSpPr>
        <p:spPr>
          <a:xfrm>
            <a:off x="6671628" y="4063529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Text 29"/>
          <p:cNvSpPr/>
          <p:nvPr>
            <p:custDataLst>
              <p:tags r:id="rId19"/>
            </p:custDataLst>
          </p:nvPr>
        </p:nvSpPr>
        <p:spPr>
          <a:xfrm>
            <a:off x="7192963" y="4063846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04 平庸型 · 低能低愿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2" name="Text 30"/>
          <p:cNvSpPr/>
          <p:nvPr>
            <p:custDataLst>
              <p:tags r:id="rId20"/>
            </p:custDataLst>
          </p:nvPr>
        </p:nvSpPr>
        <p:spPr>
          <a:xfrm>
            <a:off x="6691313" y="4479771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安于现状且缺乏进取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，难以支撑团队目标达成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584" y="5570636"/>
            <a:ext cx="8136904" cy="52322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914400" fontAlgn="base"/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</a:rPr>
              <a:t>互动 </a:t>
            </a:r>
            <a:r>
              <a:rPr lang="en-US" altLang="zh-CN" sz="2800" b="0" dirty="0">
                <a:solidFill>
                  <a:schemeClr val="bg1"/>
                </a:solidFill>
                <a:latin typeface="微软雅黑" panose="020B0503020204020204" pitchFamily="34" charset="-122"/>
              </a:rPr>
              <a:t>01</a:t>
            </a: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</a:rPr>
              <a:t>：邀请四位学员分享你的打标结果与思路</a:t>
            </a:r>
            <a:endParaRPr lang="zh-CN" altLang="en-US" sz="2800" b="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95500"/>
            <a:ext cx="1905000" cy="6667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01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2857500"/>
            <a:ext cx="571500" cy="285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767715" y="3038475"/>
            <a:ext cx="5715000" cy="4762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四类人才画像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3667125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用两个标尺——能力高低与意愿强弱——给团队做一次人才盘点，精准识别团队成员状态，实施差异化管理。</a:t>
            </a:r>
            <a:endParaRPr lang="zh-CN" alt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endParaRPr lang="zh-CN" alt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0" y="1000125"/>
            <a:ext cx="7620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人才分类矩阵：你的团队有哪些人？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5325" y="1219200"/>
            <a:ext cx="1905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</a:pPr>
            <a:r>
              <a:rPr 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↑ 意愿强弱</a:t>
            </a:r>
            <a:endParaRPr lang="en-US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7000" y="5932492"/>
            <a:ext cx="19050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能力高低 →</a:t>
            </a:r>
            <a:endParaRPr lang="en-US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143500" cy="200025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952500" y="1714500"/>
            <a:ext cx="762000" cy="266700"/>
          </a:xfrm>
          <a:prstGeom prst="roundRect">
            <a:avLst>
              <a:gd name="adj" fmla="val 1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52500" y="1714500"/>
            <a:ext cx="762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9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核心骨干</a:t>
            </a:r>
            <a:endParaRPr lang="en-US" sz="9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857375" y="169545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有能力 · 有热情</a:t>
            </a:r>
            <a:endParaRPr 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952500" y="2143125"/>
            <a:ext cx="4762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团队的压舱石，遇事愿意扛。不善表达委屈，一旦心寒会默默离开。</a:t>
            </a:r>
            <a:endParaRPr 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管理重点是授权、看见、谈心。</a:t>
            </a:r>
            <a:endParaRPr 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6286500" y="1524000"/>
            <a:ext cx="5143500" cy="200025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6477000" y="1714500"/>
            <a:ext cx="762000" cy="266700"/>
          </a:xfrm>
          <a:prstGeom prst="roundRect">
            <a:avLst>
              <a:gd name="adj" fmla="val 10000"/>
            </a:avLst>
          </a:prstGeom>
          <a:solidFill>
            <a:srgbClr val="C17A3E"/>
          </a:solidFill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6477000" y="1714500"/>
            <a:ext cx="762000" cy="26670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lvl="0" algn="ctr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9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青年潜力</a:t>
            </a:r>
            <a:endParaRPr lang="en-US" sz="9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7381875" y="169545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有热情 · 无经验</a:t>
            </a:r>
            <a:endParaRPr 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477000" y="2143125"/>
            <a:ext cx="4762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干劲足、愿意钻研，但阅历不足、经不起连续挫败。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管理重点是阶梯任务、容错、肯定进步。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762000" y="3810000"/>
            <a:ext cx="5143500" cy="200025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952500" y="4000500"/>
            <a:ext cx="762000" cy="266700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952500" y="4000500"/>
            <a:ext cx="762000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9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倦怠老将</a:t>
            </a:r>
            <a:endParaRPr lang="en-US" sz="9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857375" y="398145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有能力 · 无干劲</a:t>
            </a:r>
            <a:endParaRPr 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52500" y="4429125"/>
            <a:ext cx="4762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业务功底扎实，但慢慢降低预期、只求安稳。倦怠多因分工不均。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管理重点是公平分工、唤醒初心。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286500" y="3810000"/>
            <a:ext cx="5143500" cy="200025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477000" y="4000500"/>
            <a:ext cx="762000" cy="266700"/>
          </a:xfrm>
          <a:prstGeom prst="roundRect">
            <a:avLst>
              <a:gd name="adj" fmla="val 1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69580"/>
                </a:solidFill>
              </a14:hiddenFill>
            </a:ext>
          </a:extLst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477000" y="4000500"/>
            <a:ext cx="762000" cy="26670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975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基础执行</a:t>
            </a:r>
            <a:endParaRPr lang="en-US" sz="975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7381875" y="398145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无能力 · 无追求</a:t>
            </a:r>
            <a:endParaRPr lang="en-US" sz="16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477000" y="4429125"/>
            <a:ext cx="4803576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lvl="0" algn="l" defTabSz="914400" fontAlgn="base">
              <a:lnSpc>
                <a:spcPct val="150000"/>
              </a:lnSpc>
              <a:buClrTx/>
              <a:buSzTx/>
              <a:buFontTx/>
            </a:pPr>
            <a:r>
              <a:rPr lang="en-US" sz="1350" b="1" dirty="0" err="1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只求安稳、进取心不强。不必紧盯短板，立足岗位用好稳定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性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  <a:p>
            <a:pPr lvl="0" algn="l" defTabSz="914400" fontAlgn="base">
              <a:lnSpc>
                <a:spcPct val="150000"/>
              </a:lnSpc>
              <a:buClrTx/>
              <a:buSzTx/>
              <a:buFontTx/>
            </a:pPr>
            <a:r>
              <a:rPr lang="en-US" sz="1350" b="1" dirty="0" err="1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管理重点是明确职责、基础辅导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7715" y="908368"/>
            <a:ext cx="7620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第一类画像：核心骨干与青年潜力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2000" y="1453515"/>
            <a:ext cx="4997108" cy="481203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039617" y="1731132"/>
            <a:ext cx="925390" cy="277617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39617" y="1731132"/>
            <a:ext cx="925390" cy="2776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核心骨干</a:t>
            </a:r>
            <a:endParaRPr lang="en-US"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39617" y="2193827"/>
            <a:ext cx="4441874" cy="2961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有能力 · 有热情</a:t>
            </a:r>
            <a:endParaRPr 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039617" y="2656523"/>
            <a:ext cx="4441874" cy="337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专业优势突出，是团队的压舱石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 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遇事愿意扛，很少发牢骚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不善表达委屈，习惯默默承受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一旦心寒，往往会默默离开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600"/>
              </a:spcBef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管理关键词：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充分授权，管住底线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功劳显性化，不让付出被埋没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常态化谈心，缓解高压疲惫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29264" y="1453515"/>
            <a:ext cx="4997108" cy="481203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406881" y="1731132"/>
            <a:ext cx="925390" cy="277617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406881" y="1731132"/>
            <a:ext cx="925390" cy="2776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青年潜力</a:t>
            </a:r>
            <a:endParaRPr lang="en-US"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406881" y="2193827"/>
            <a:ext cx="4441874" cy="2961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有热情 · 无经验</a:t>
            </a:r>
            <a:endParaRPr lang="en-US" sz="16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406881" y="2656523"/>
            <a:ext cx="4441874" cy="337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干事劲头足，愿意钻研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项目阅历不足，经验欠缺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经受不住连续挫败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 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好苗子变被动，根源在引导方式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600"/>
              </a:spcBef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管理关键词：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阶梯式任务，持续收获成就感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区分错误类型，宽严有度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多肯定进步，清晰晋升路径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7715" y="931069"/>
            <a:ext cx="7620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第二类画像：倦怠老将 vs 基础执行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79780" y="1485583"/>
            <a:ext cx="5039971" cy="4853305"/>
          </a:xfrm>
          <a:prstGeom prst="roundRect">
            <a:avLst>
              <a:gd name="adj" fmla="val 6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059778" y="1765581"/>
            <a:ext cx="933328" cy="279998"/>
          </a:xfrm>
          <a:prstGeom prst="roundRect">
            <a:avLst>
              <a:gd name="adj" fmla="val 10000"/>
            </a:avLst>
          </a:prstGeom>
          <a:solidFill>
            <a:srgbClr val="A69580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59778" y="1765581"/>
            <a:ext cx="933328" cy="279998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倦怠老将</a:t>
            </a:r>
            <a:endParaRPr lang="en-US"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59778" y="2232245"/>
            <a:ext cx="4479974" cy="2986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有能力 · 无干劲</a:t>
            </a:r>
            <a:endParaRPr lang="en-US" sz="16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059778" y="2698909"/>
            <a:ext cx="4479974" cy="3406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业务功底扎实，专业水平过硬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慢慢降低工作预期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只守本职工作，不愿额外承担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秉持少担责、求安稳的想法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600"/>
              </a:spcBef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管理关键词：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优化分工，打破劳逸不均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坦诚沟通，解开心里疙瘩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匹配专项，重塑价值存在感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93082" y="1485583"/>
            <a:ext cx="5039971" cy="4853305"/>
          </a:xfrm>
          <a:prstGeom prst="roundRect">
            <a:avLst>
              <a:gd name="adj" fmla="val 6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473080" y="1765581"/>
            <a:ext cx="933328" cy="279998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473080" y="1765581"/>
            <a:ext cx="933328" cy="2799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基础执行</a:t>
            </a:r>
            <a:endParaRPr lang="en-US"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473080" y="2232245"/>
            <a:ext cx="4479974" cy="2986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无能力 · 无追求</a:t>
            </a:r>
            <a:endParaRPr lang="en-US" sz="16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473080" y="2698909"/>
            <a:ext cx="4479974" cy="3406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 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只求安稳，进取心不强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能力有限但态度平稳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 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不宜反复拔高标准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管理者和员工都容易内耗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600"/>
              </a:spcBef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管理关键词：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明确岗位职责与交付标准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 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肯定踏实履职的表现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▸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做好基础辅导，维持稳定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38213" y="1010126"/>
            <a:ext cx="85725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</a:pP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互动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01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总结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36930" y="1562100"/>
            <a:ext cx="4949190" cy="90424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Shape 4"/>
          <p:cNvSpPr/>
          <p:nvPr/>
        </p:nvSpPr>
        <p:spPr>
          <a:xfrm>
            <a:off x="1166813" y="1700848"/>
            <a:ext cx="319564" cy="296228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1770063" y="1628458"/>
            <a:ext cx="2659856" cy="2305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维度一：能力高低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70380" y="1927225"/>
            <a:ext cx="4015740" cy="452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4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硬实力：专业技能、解决复杂问题的经验、学习和应变能力</a:t>
            </a:r>
            <a:endParaRPr 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5563" y="1557020"/>
            <a:ext cx="4787741" cy="904399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Shape 8"/>
          <p:cNvSpPr/>
          <p:nvPr/>
        </p:nvSpPr>
        <p:spPr>
          <a:xfrm>
            <a:off x="6691313" y="1759268"/>
            <a:ext cx="319564" cy="296228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63796" y="-23574"/>
                </a:moveTo>
                <a:cubicBezTo>
                  <a:pt x="173287" y="-30540"/>
                  <a:pt x="187268" y="-30272"/>
                  <a:pt x="196351" y="-22771"/>
                </a:cubicBezTo>
                <a:cubicBezTo>
                  <a:pt x="208904" y="-12412"/>
                  <a:pt x="220130" y="-982"/>
                  <a:pt x="230947" y="10626"/>
                </a:cubicBezTo>
                <a:cubicBezTo>
                  <a:pt x="244724" y="25360"/>
                  <a:pt x="261257" y="44827"/>
                  <a:pt x="277178" y="67955"/>
                </a:cubicBezTo>
                <a:cubicBezTo>
                  <a:pt x="282484" y="61883"/>
                  <a:pt x="287383" y="56525"/>
                  <a:pt x="291669" y="51971"/>
                </a:cubicBezTo>
                <a:cubicBezTo>
                  <a:pt x="292792" y="50810"/>
                  <a:pt x="293914" y="49560"/>
                  <a:pt x="295037" y="48310"/>
                </a:cubicBezTo>
                <a:cubicBezTo>
                  <a:pt x="303099" y="39559"/>
                  <a:pt x="313100" y="28575"/>
                  <a:pt x="326469" y="28575"/>
                </a:cubicBezTo>
                <a:cubicBezTo>
                  <a:pt x="340145" y="28575"/>
                  <a:pt x="349738" y="39201"/>
                  <a:pt x="357902" y="48310"/>
                </a:cubicBezTo>
                <a:cubicBezTo>
                  <a:pt x="359229" y="49828"/>
                  <a:pt x="360555" y="51256"/>
                  <a:pt x="361882" y="52596"/>
                </a:cubicBezTo>
                <a:cubicBezTo>
                  <a:pt x="372393" y="63669"/>
                  <a:pt x="386375" y="79653"/>
                  <a:pt x="400356" y="99387"/>
                </a:cubicBezTo>
                <a:cubicBezTo>
                  <a:pt x="428115" y="138589"/>
                  <a:pt x="457098" y="194399"/>
                  <a:pt x="457098" y="257086"/>
                </a:cubicBezTo>
                <a:cubicBezTo>
                  <a:pt x="457098" y="367546"/>
                  <a:pt x="354738" y="457111"/>
                  <a:pt x="228498" y="457111"/>
                </a:cubicBezTo>
                <a:cubicBezTo>
                  <a:pt x="102258" y="457111"/>
                  <a:pt x="0" y="367635"/>
                  <a:pt x="0" y="257175"/>
                </a:cubicBezTo>
                <a:cubicBezTo>
                  <a:pt x="0" y="175826"/>
                  <a:pt x="41944" y="105370"/>
                  <a:pt x="82153" y="56257"/>
                </a:cubicBezTo>
                <a:cubicBezTo>
                  <a:pt x="102462" y="31522"/>
                  <a:pt x="122668" y="11698"/>
                  <a:pt x="137874" y="-1875"/>
                </a:cubicBezTo>
                <a:cubicBezTo>
                  <a:pt x="146243" y="-9376"/>
                  <a:pt x="154713" y="-16788"/>
                  <a:pt x="163898" y="-23485"/>
                </a:cubicBezTo>
                <a:close/>
                <a:moveTo>
                  <a:pt x="230335" y="371475"/>
                </a:moveTo>
                <a:cubicBezTo>
                  <a:pt x="256154" y="371475"/>
                  <a:pt x="279014" y="365224"/>
                  <a:pt x="300548" y="352723"/>
                </a:cubicBezTo>
                <a:cubicBezTo>
                  <a:pt x="343512" y="326469"/>
                  <a:pt x="355044" y="273963"/>
                  <a:pt x="329225" y="232708"/>
                </a:cubicBezTo>
                <a:cubicBezTo>
                  <a:pt x="324632" y="224671"/>
                  <a:pt x="312896" y="224135"/>
                  <a:pt x="306263" y="230922"/>
                </a:cubicBezTo>
                <a:lnTo>
                  <a:pt x="280545" y="257086"/>
                </a:lnTo>
                <a:cubicBezTo>
                  <a:pt x="273810" y="263872"/>
                  <a:pt x="261665" y="263694"/>
                  <a:pt x="255338" y="256639"/>
                </a:cubicBezTo>
                <a:cubicBezTo>
                  <a:pt x="237683" y="236905"/>
                  <a:pt x="205230" y="200918"/>
                  <a:pt x="188697" y="182523"/>
                </a:cubicBezTo>
                <a:cubicBezTo>
                  <a:pt x="183186" y="176361"/>
                  <a:pt x="173185" y="175379"/>
                  <a:pt x="166756" y="180826"/>
                </a:cubicBezTo>
                <a:cubicBezTo>
                  <a:pt x="148080" y="196721"/>
                  <a:pt x="114198" y="231547"/>
                  <a:pt x="114198" y="273963"/>
                </a:cubicBezTo>
                <a:cubicBezTo>
                  <a:pt x="114198" y="335220"/>
                  <a:pt x="165837" y="371475"/>
                  <a:pt x="230233" y="37147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7333298" y="1628458"/>
            <a:ext cx="2659856" cy="2305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维度二：干事意愿</a:t>
            </a:r>
            <a:endParaRPr lang="en-US" sz="1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33298" y="1926908"/>
            <a:ext cx="3812381" cy="452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40000"/>
              </a:lnSpc>
            </a:pPr>
            <a:r>
              <a: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软实力：工作热情、主动担责的态度、成就渴望及自驱力</a:t>
            </a:r>
            <a:endParaRPr 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881063" y="2752249"/>
            <a:ext cx="4905851" cy="1543526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14" name="Shape 12"/>
          <p:cNvSpPr/>
          <p:nvPr>
            <p:custDataLst>
              <p:tags r:id="rId2"/>
            </p:custDataLst>
          </p:nvPr>
        </p:nvSpPr>
        <p:spPr>
          <a:xfrm>
            <a:off x="881063" y="2752249"/>
            <a:ext cx="57150" cy="154352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Shape 13"/>
          <p:cNvSpPr/>
          <p:nvPr>
            <p:custDataLst>
              <p:tags r:id="rId3"/>
            </p:custDataLst>
          </p:nvPr>
        </p:nvSpPr>
        <p:spPr>
          <a:xfrm>
            <a:off x="1166813" y="2852738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Text 14"/>
          <p:cNvSpPr/>
          <p:nvPr>
            <p:custDataLst>
              <p:tags r:id="rId4"/>
            </p:custDataLst>
          </p:nvPr>
        </p:nvSpPr>
        <p:spPr>
          <a:xfrm>
            <a:off x="1604328" y="2853055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 明星型 · 高能高愿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1166813" y="328485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团队的核心骨干与业绩引擎。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策略：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充分授权，给予挑战性任务，提供晋升通道与精神激励。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6"/>
            </p:custDataLst>
          </p:nvPr>
        </p:nvSpPr>
        <p:spPr>
          <a:xfrm>
            <a:off x="6405563" y="2752249"/>
            <a:ext cx="4905851" cy="1543526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19" name="Shape 17"/>
          <p:cNvSpPr/>
          <p:nvPr>
            <p:custDataLst>
              <p:tags r:id="rId7"/>
            </p:custDataLst>
          </p:nvPr>
        </p:nvSpPr>
        <p:spPr>
          <a:xfrm>
            <a:off x="6405563" y="2752249"/>
            <a:ext cx="57150" cy="154352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0" name="Shape 18"/>
          <p:cNvSpPr/>
          <p:nvPr>
            <p:custDataLst>
              <p:tags r:id="rId8"/>
            </p:custDataLst>
          </p:nvPr>
        </p:nvSpPr>
        <p:spPr>
          <a:xfrm>
            <a:off x="6691313" y="2852103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Text 19"/>
          <p:cNvSpPr/>
          <p:nvPr>
            <p:custDataLst>
              <p:tags r:id="rId9"/>
            </p:custDataLst>
          </p:nvPr>
        </p:nvSpPr>
        <p:spPr>
          <a:xfrm>
            <a:off x="7286308" y="2868295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02 潜力型 · 低能高愿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22" name="Text 20"/>
          <p:cNvSpPr/>
          <p:nvPr>
            <p:custDataLst>
              <p:tags r:id="rId10"/>
            </p:custDataLst>
          </p:nvPr>
        </p:nvSpPr>
        <p:spPr>
          <a:xfrm>
            <a:off x="6691313" y="328485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热情高涨但经验待补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，是团队的储备力量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策略：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指定导师辅导，安排实战演练，明确成长路径与短期反馈。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3" name="Shape 21"/>
          <p:cNvSpPr/>
          <p:nvPr>
            <p:custDataLst>
              <p:tags r:id="rId11"/>
            </p:custDataLst>
          </p:nvPr>
        </p:nvSpPr>
        <p:spPr>
          <a:xfrm>
            <a:off x="881063" y="4714399"/>
            <a:ext cx="4905851" cy="1543526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24" name="Shape 22"/>
          <p:cNvSpPr/>
          <p:nvPr>
            <p:custDataLst>
              <p:tags r:id="rId12"/>
            </p:custDataLst>
          </p:nvPr>
        </p:nvSpPr>
        <p:spPr>
          <a:xfrm>
            <a:off x="881063" y="4714399"/>
            <a:ext cx="57150" cy="154352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5" name="Shape 23"/>
          <p:cNvSpPr/>
          <p:nvPr>
            <p:custDataLst>
              <p:tags r:id="rId13"/>
            </p:custDataLst>
          </p:nvPr>
        </p:nvSpPr>
        <p:spPr>
          <a:xfrm>
            <a:off x="1166813" y="4797108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280" y="101600"/>
                </a:moveTo>
                <a:cubicBezTo>
                  <a:pt x="340868" y="101600"/>
                  <a:pt x="345440" y="107315"/>
                  <a:pt x="345440" y="114300"/>
                </a:cubicBezTo>
                <a:lnTo>
                  <a:pt x="345440" y="292100"/>
                </a:lnTo>
                <a:cubicBezTo>
                  <a:pt x="345440" y="299085"/>
                  <a:pt x="340868" y="304800"/>
                  <a:pt x="335280" y="304800"/>
                </a:cubicBezTo>
                <a:lnTo>
                  <a:pt x="71120" y="304800"/>
                </a:lnTo>
                <a:cubicBezTo>
                  <a:pt x="65532" y="304800"/>
                  <a:pt x="60960" y="299085"/>
                  <a:pt x="60960" y="292100"/>
                </a:cubicBezTo>
                <a:lnTo>
                  <a:pt x="60960" y="114300"/>
                </a:lnTo>
                <a:cubicBezTo>
                  <a:pt x="60960" y="107315"/>
                  <a:pt x="65532" y="101600"/>
                  <a:pt x="71120" y="101600"/>
                </a:cubicBezTo>
                <a:lnTo>
                  <a:pt x="335280" y="101600"/>
                </a:lnTo>
                <a:close/>
                <a:moveTo>
                  <a:pt x="71120" y="50800"/>
                </a:moveTo>
                <a:cubicBezTo>
                  <a:pt x="43053" y="50800"/>
                  <a:pt x="20320" y="79216"/>
                  <a:pt x="20320" y="114300"/>
                </a:cubicBezTo>
                <a:lnTo>
                  <a:pt x="20320" y="292100"/>
                </a:lnTo>
                <a:cubicBezTo>
                  <a:pt x="20320" y="327184"/>
                  <a:pt x="43053" y="355600"/>
                  <a:pt x="71120" y="355600"/>
                </a:cubicBezTo>
                <a:lnTo>
                  <a:pt x="335280" y="355600"/>
                </a:lnTo>
                <a:cubicBezTo>
                  <a:pt x="363347" y="355600"/>
                  <a:pt x="386080" y="327184"/>
                  <a:pt x="386080" y="292100"/>
                </a:cubicBezTo>
                <a:lnTo>
                  <a:pt x="386080" y="254000"/>
                </a:lnTo>
                <a:cubicBezTo>
                  <a:pt x="397320" y="254000"/>
                  <a:pt x="406400" y="242649"/>
                  <a:pt x="406400" y="2286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lnTo>
                  <a:pt x="386080" y="114300"/>
                </a:lnTo>
                <a:cubicBezTo>
                  <a:pt x="386080" y="79216"/>
                  <a:pt x="363347" y="50800"/>
                  <a:pt x="335280" y="50800"/>
                </a:cubicBezTo>
                <a:lnTo>
                  <a:pt x="71120" y="50800"/>
                </a:lnTo>
                <a:close/>
                <a:moveTo>
                  <a:pt x="106680" y="139700"/>
                </a:moveTo>
                <a:cubicBezTo>
                  <a:pt x="98234" y="139700"/>
                  <a:pt x="91440" y="148193"/>
                  <a:pt x="91440" y="158750"/>
                </a:cubicBezTo>
                <a:lnTo>
                  <a:pt x="91440" y="247650"/>
                </a:lnTo>
                <a:cubicBezTo>
                  <a:pt x="91440" y="258207"/>
                  <a:pt x="98234" y="266700"/>
                  <a:pt x="106680" y="266700"/>
                </a:cubicBezTo>
                <a:lnTo>
                  <a:pt x="147320" y="266700"/>
                </a:lnTo>
                <a:cubicBezTo>
                  <a:pt x="155766" y="266700"/>
                  <a:pt x="162560" y="258207"/>
                  <a:pt x="162560" y="247650"/>
                </a:cubicBezTo>
                <a:lnTo>
                  <a:pt x="162560" y="158750"/>
                </a:lnTo>
                <a:cubicBezTo>
                  <a:pt x="162560" y="148193"/>
                  <a:pt x="155766" y="139700"/>
                  <a:pt x="147320" y="139700"/>
                </a:cubicBezTo>
                <a:lnTo>
                  <a:pt x="106680" y="139700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Text 24"/>
          <p:cNvSpPr/>
          <p:nvPr>
            <p:custDataLst>
              <p:tags r:id="rId14"/>
            </p:custDataLst>
          </p:nvPr>
        </p:nvSpPr>
        <p:spPr>
          <a:xfrm>
            <a:off x="1630998" y="4813300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03 倦怠型 · 高能低愿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27" name="Text 25"/>
          <p:cNvSpPr/>
          <p:nvPr>
            <p:custDataLst>
              <p:tags r:id="rId15"/>
            </p:custDataLst>
          </p:nvPr>
        </p:nvSpPr>
        <p:spPr>
          <a:xfrm>
            <a:off x="1149668" y="522922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能力尚可但动力缺失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，易出现职业倦怠状态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策略：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深度沟通挖掘根源，重构目标价值，提供新挑战或调整激励机制。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8" name="Shape 26"/>
          <p:cNvSpPr/>
          <p:nvPr>
            <p:custDataLst>
              <p:tags r:id="rId16"/>
            </p:custDataLst>
          </p:nvPr>
        </p:nvSpPr>
        <p:spPr>
          <a:xfrm>
            <a:off x="6405563" y="4714399"/>
            <a:ext cx="4905851" cy="1543526"/>
          </a:xfrm>
          <a:prstGeom prst="roundRect">
            <a:avLst>
              <a:gd name="adj" fmla="val 6000"/>
            </a:avLst>
          </a:prstGeom>
          <a:noFill/>
          <a:ln w="12700"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8B5E3C">
                    <a:alpha val="6275"/>
                  </a:srgbClr>
                </a:solidFill>
              </a14:hiddenFill>
            </a:ext>
          </a:extLst>
        </p:spPr>
      </p:sp>
      <p:sp>
        <p:nvSpPr>
          <p:cNvPr id="29" name="Shape 27"/>
          <p:cNvSpPr/>
          <p:nvPr>
            <p:custDataLst>
              <p:tags r:id="rId17"/>
            </p:custDataLst>
          </p:nvPr>
        </p:nvSpPr>
        <p:spPr>
          <a:xfrm>
            <a:off x="6405563" y="4714399"/>
            <a:ext cx="57150" cy="1543526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0" name="Shape 28"/>
          <p:cNvSpPr/>
          <p:nvPr>
            <p:custDataLst>
              <p:tags r:id="rId18"/>
            </p:custDataLst>
          </p:nvPr>
        </p:nvSpPr>
        <p:spPr>
          <a:xfrm>
            <a:off x="6671628" y="4812983"/>
            <a:ext cx="290989" cy="260033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Text 29"/>
          <p:cNvSpPr/>
          <p:nvPr>
            <p:custDataLst>
              <p:tags r:id="rId19"/>
            </p:custDataLst>
          </p:nvPr>
        </p:nvSpPr>
        <p:spPr>
          <a:xfrm>
            <a:off x="7192963" y="4813300"/>
            <a:ext cx="3906203" cy="2438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04 平庸型 · 低能低愿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2" name="Text 30"/>
          <p:cNvSpPr/>
          <p:nvPr>
            <p:custDataLst>
              <p:tags r:id="rId20"/>
            </p:custDataLst>
          </p:nvPr>
        </p:nvSpPr>
        <p:spPr>
          <a:xfrm>
            <a:off x="6691313" y="5229225"/>
            <a:ext cx="4360545" cy="893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安于现状且缺乏进取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，难以支撑团队目标达成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策略：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明确绩效底线，进行针对性培训，或考虑岗位调整与末位淘汰。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76657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/>
          </a:bodyPr>
          <a:lstStyle/>
          <a:p>
            <a:pPr defTabSz="914400" fontAlgn="base">
              <a:lnSpc>
                <a:spcPct val="150000"/>
              </a:lnSpc>
            </a:pPr>
            <a:b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做一次人员盘点，将你团队的员工打上标签分类，要求有明确的分类依据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（注意隐私安全：用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ABC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代替员工姓名）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95500"/>
            <a:ext cx="1905000" cy="6667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02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2857500"/>
            <a:ext cx="571500" cy="285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762000" y="3048000"/>
            <a:ext cx="5715000" cy="4762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分层激励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与引导</a:t>
            </a: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策略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3667125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针对不同特质的人，采取完全不同的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引导</a:t>
            </a: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方式</a:t>
            </a:r>
            <a:endParaRPr 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/>
          <p:nvPr/>
        </p:nvSpPr>
        <p:spPr>
          <a:xfrm>
            <a:off x="910945" y="909235"/>
            <a:ext cx="1600200" cy="41973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什么是激励？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9669" y="2205528"/>
            <a:ext cx="10225136" cy="2019604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fontAlgn="base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向别人提供积极性或以积极性影响别人“积极性”，促使一个人做事或以某种方式行事的内心的动力、冲劲或意欲。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r" defTabSz="914400" fontAlgn="base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------《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韦氏新世界英语词典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24560" y="5112814"/>
            <a:ext cx="10367984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所以，激励涉及到如何激发一个人内心深处的东西，即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潜能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487805" y="4629150"/>
            <a:ext cx="2273300" cy="4260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生存需要</a:t>
            </a:r>
            <a:endParaRPr lang="zh-CN" altLang="en-US" sz="18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9264650" y="5304790"/>
            <a:ext cx="2274057" cy="4311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饥饿，渴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487805" y="3119120"/>
            <a:ext cx="1171575" cy="4260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关系需要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7752715" y="3700145"/>
            <a:ext cx="2274057" cy="4311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团体，爱情，爱护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70585" y="836930"/>
            <a:ext cx="2273300" cy="4260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马斯洛需求层次理论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7032625" y="2126615"/>
            <a:ext cx="2274057" cy="4311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创造性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个人发展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7320158" y="4493260"/>
            <a:ext cx="2274057" cy="431165"/>
          </a:xfrm>
          <a:prstGeom prst="rect">
            <a:avLst/>
          </a:prstGeom>
          <a:ln>
            <a:noFill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t" anchorCtr="0">
            <a:noAutofit/>
          </a:bodyPr>
          <a:lstStyle/>
          <a:p>
            <a:pPr algn="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保护，命令，稳定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92" name="直接连接符 91"/>
          <p:cNvCxnSpPr/>
          <p:nvPr>
            <p:custDataLst>
              <p:tags r:id="rId8"/>
            </p:custDataLst>
          </p:nvPr>
        </p:nvCxnSpPr>
        <p:spPr>
          <a:xfrm flipV="1">
            <a:off x="6592570" y="3331210"/>
            <a:ext cx="2256155" cy="698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6528313" y="2913380"/>
            <a:ext cx="2274057" cy="431165"/>
          </a:xfrm>
          <a:prstGeom prst="rect">
            <a:avLst/>
          </a:prstGeom>
          <a:ln>
            <a:noFill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0" tIns="0" rIns="0" bIns="0" rtlCol="0" anchor="t" anchorCtr="0">
            <a:noAutofit/>
          </a:bodyPr>
          <a:lstStyle/>
          <a:p>
            <a:pPr algn="r" defTabSz="9144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成就，被承认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>
            <a:off x="5302885" y="1741170"/>
            <a:ext cx="871855" cy="80391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373" h="1266">
                <a:moveTo>
                  <a:pt x="690" y="0"/>
                </a:moveTo>
                <a:cubicBezTo>
                  <a:pt x="693" y="0"/>
                  <a:pt x="695" y="0"/>
                  <a:pt x="698" y="1"/>
                </a:cubicBezTo>
                <a:lnTo>
                  <a:pt x="701" y="3"/>
                </a:lnTo>
                <a:lnTo>
                  <a:pt x="1373" y="1266"/>
                </a:lnTo>
                <a:lnTo>
                  <a:pt x="0" y="1266"/>
                </a:lnTo>
                <a:lnTo>
                  <a:pt x="632" y="78"/>
                </a:lnTo>
                <a:lnTo>
                  <a:pt x="662" y="23"/>
                </a:lnTo>
                <a:lnTo>
                  <a:pt x="671" y="7"/>
                </a:lnTo>
                <a:lnTo>
                  <a:pt x="674" y="5"/>
                </a:lnTo>
                <a:cubicBezTo>
                  <a:pt x="678" y="2"/>
                  <a:pt x="684" y="0"/>
                  <a:pt x="69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85000">
                <a:schemeClr val="accent1">
                  <a:alpha val="100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tIns="32385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>
              <a:buClrTx/>
              <a:buSzTx/>
              <a:buFontTx/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4878070" y="2710815"/>
            <a:ext cx="1722120" cy="633730"/>
          </a:xfrm>
          <a:custGeom>
            <a:avLst/>
            <a:gdLst>
              <a:gd name="adj" fmla="val 55811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2712" h="998">
                <a:moveTo>
                  <a:pt x="531" y="0"/>
                </a:moveTo>
                <a:lnTo>
                  <a:pt x="2181" y="0"/>
                </a:lnTo>
                <a:lnTo>
                  <a:pt x="2712" y="998"/>
                </a:lnTo>
                <a:lnTo>
                  <a:pt x="0" y="998"/>
                </a:lnTo>
                <a:lnTo>
                  <a:pt x="531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base">
              <a:buClrTx/>
              <a:buSzTx/>
              <a:buFontTx/>
            </a:pPr>
            <a:endParaRPr lang="zh-CN" alt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12"/>
            </p:custDataLst>
          </p:nvPr>
        </p:nvSpPr>
        <p:spPr>
          <a:xfrm>
            <a:off x="4453255" y="3510280"/>
            <a:ext cx="2572385" cy="633730"/>
          </a:xfrm>
          <a:custGeom>
            <a:avLst/>
            <a:gdLst>
              <a:gd name="adj" fmla="val 55811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4051" h="998">
                <a:moveTo>
                  <a:pt x="531" y="0"/>
                </a:moveTo>
                <a:lnTo>
                  <a:pt x="3520" y="0"/>
                </a:lnTo>
                <a:lnTo>
                  <a:pt x="4051" y="998"/>
                </a:lnTo>
                <a:lnTo>
                  <a:pt x="0" y="998"/>
                </a:lnTo>
                <a:lnTo>
                  <a:pt x="531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base">
              <a:buClrTx/>
              <a:buSzTx/>
              <a:buFontTx/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4025900" y="4309745"/>
            <a:ext cx="3426460" cy="668020"/>
          </a:xfrm>
          <a:custGeom>
            <a:avLst/>
            <a:gdLst>
              <a:gd name="adj" fmla="val 55811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5396" h="1052">
                <a:moveTo>
                  <a:pt x="534" y="0"/>
                </a:moveTo>
                <a:lnTo>
                  <a:pt x="4862" y="0"/>
                </a:lnTo>
                <a:lnTo>
                  <a:pt x="5396" y="1004"/>
                </a:lnTo>
                <a:lnTo>
                  <a:pt x="5389" y="1005"/>
                </a:lnTo>
                <a:cubicBezTo>
                  <a:pt x="5115" y="1032"/>
                  <a:pt x="4015" y="1052"/>
                  <a:pt x="2701" y="1052"/>
                </a:cubicBezTo>
                <a:cubicBezTo>
                  <a:pt x="1386" y="1052"/>
                  <a:pt x="287" y="1032"/>
                  <a:pt x="13" y="1005"/>
                </a:cubicBezTo>
                <a:lnTo>
                  <a:pt x="0" y="1004"/>
                </a:lnTo>
                <a:lnTo>
                  <a:pt x="53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base">
              <a:buClrTx/>
              <a:buSzTx/>
              <a:buFontTx/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3575720" y="5109210"/>
            <a:ext cx="4392488" cy="693420"/>
          </a:xfrm>
          <a:custGeom>
            <a:avLst/>
            <a:gdLst>
              <a:gd name="adj" fmla="val 55811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6735" h="1092">
                <a:moveTo>
                  <a:pt x="546" y="0"/>
                </a:moveTo>
                <a:lnTo>
                  <a:pt x="6194" y="0"/>
                </a:lnTo>
                <a:lnTo>
                  <a:pt x="6325" y="234"/>
                </a:lnTo>
                <a:lnTo>
                  <a:pt x="6735" y="1005"/>
                </a:lnTo>
                <a:lnTo>
                  <a:pt x="6732" y="1006"/>
                </a:lnTo>
                <a:cubicBezTo>
                  <a:pt x="6542" y="1054"/>
                  <a:pt x="5109" y="1092"/>
                  <a:pt x="3370" y="1092"/>
                </a:cubicBezTo>
                <a:cubicBezTo>
                  <a:pt x="1602" y="1092"/>
                  <a:pt x="151" y="1053"/>
                  <a:pt x="0" y="1003"/>
                </a:cubicBezTo>
                <a:lnTo>
                  <a:pt x="0" y="1003"/>
                </a:lnTo>
                <a:lnTo>
                  <a:pt x="297" y="445"/>
                </a:lnTo>
                <a:lnTo>
                  <a:pt x="54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 fontAlgn="base">
              <a:buClrTx/>
              <a:buSzTx/>
              <a:buFontTx/>
            </a:pPr>
            <a:endParaRPr lang="zh-CN" altLang="en-US" sz="2800" dirty="0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5304790" y="2510155"/>
            <a:ext cx="868680" cy="76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>
            <p:custDataLst>
              <p:tags r:id="rId16"/>
            </p:custDataLst>
          </p:nvPr>
        </p:nvSpPr>
        <p:spPr>
          <a:xfrm>
            <a:off x="4881245" y="3305810"/>
            <a:ext cx="1719580" cy="762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4457065" y="4100830"/>
            <a:ext cx="2567940" cy="76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>
            <p:custDataLst>
              <p:tags r:id="rId18"/>
            </p:custDataLst>
          </p:nvPr>
        </p:nvSpPr>
        <p:spPr>
          <a:xfrm>
            <a:off x="4366260" y="4270375"/>
            <a:ext cx="2749550" cy="800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>
            <p:custDataLst>
              <p:tags r:id="rId19"/>
            </p:custDataLst>
          </p:nvPr>
        </p:nvSpPr>
        <p:spPr>
          <a:xfrm>
            <a:off x="3954145" y="5055235"/>
            <a:ext cx="3573780" cy="1035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base"/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20"/>
            </p:custDataLst>
          </p:nvPr>
        </p:nvSpPr>
        <p:spPr>
          <a:xfrm>
            <a:off x="1487805" y="1930400"/>
            <a:ext cx="2273300" cy="4260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成长需要</a:t>
            </a:r>
            <a:endParaRPr lang="zh-CN" altLang="en-US" sz="18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92445" y="1876425"/>
            <a:ext cx="3790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自我实现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47005" y="2938780"/>
            <a:ext cx="11417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被尊敬与被重视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133503" y="3723640"/>
            <a:ext cx="13691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群体与情感需要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990629" y="4572635"/>
            <a:ext cx="1731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安全及环境稳定需要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90324" y="5373370"/>
            <a:ext cx="1423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生理及物质需要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21"/>
            </p:custDataLst>
          </p:nvPr>
        </p:nvCxnSpPr>
        <p:spPr>
          <a:xfrm flipV="1">
            <a:off x="6174740" y="2538095"/>
            <a:ext cx="2256155" cy="698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22"/>
            </p:custDataLst>
          </p:nvPr>
        </p:nvCxnSpPr>
        <p:spPr>
          <a:xfrm flipV="1">
            <a:off x="7025640" y="4124325"/>
            <a:ext cx="2256155" cy="698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3"/>
            </p:custDataLst>
          </p:nvPr>
        </p:nvCxnSpPr>
        <p:spPr>
          <a:xfrm flipV="1">
            <a:off x="7452360" y="4942840"/>
            <a:ext cx="2256155" cy="698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4"/>
            </p:custDataLst>
          </p:nvPr>
        </p:nvCxnSpPr>
        <p:spPr>
          <a:xfrm flipV="1">
            <a:off x="7877810" y="5745480"/>
            <a:ext cx="2256155" cy="6985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左大括号 40"/>
          <p:cNvSpPr/>
          <p:nvPr/>
        </p:nvSpPr>
        <p:spPr>
          <a:xfrm>
            <a:off x="3068320" y="1772920"/>
            <a:ext cx="75565" cy="792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 fontAlgn="base"/>
            <a:endParaRPr lang="zh-CN" altLang="en-US" sz="1800" b="1" dirty="0">
              <a:latin typeface="微软雅黑" panose="020B0503020204020204" pitchFamily="34" charset="-122"/>
            </a:endParaRPr>
          </a:p>
        </p:txBody>
      </p:sp>
      <p:sp>
        <p:nvSpPr>
          <p:cNvPr id="42" name="左大括号 41"/>
          <p:cNvSpPr/>
          <p:nvPr/>
        </p:nvSpPr>
        <p:spPr>
          <a:xfrm>
            <a:off x="3072130" y="3023870"/>
            <a:ext cx="75565" cy="792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 fontAlgn="base"/>
            <a:endParaRPr lang="zh-CN" altLang="en-US" sz="1800" b="1" dirty="0">
              <a:latin typeface="微软雅黑" panose="020B0503020204020204" pitchFamily="34" charset="-122"/>
            </a:endParaRPr>
          </a:p>
        </p:txBody>
      </p:sp>
      <p:sp>
        <p:nvSpPr>
          <p:cNvPr id="43" name="左大括号 42"/>
          <p:cNvSpPr/>
          <p:nvPr/>
        </p:nvSpPr>
        <p:spPr>
          <a:xfrm>
            <a:off x="3072130" y="4509135"/>
            <a:ext cx="75565" cy="792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400" fontAlgn="base"/>
            <a:endParaRPr lang="zh-CN" altLang="en-US" sz="1800" b="1" dirty="0">
              <a:latin typeface="微软雅黑" panose="020B0503020204020204" pitchFamily="34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1860" y="909320"/>
            <a:ext cx="4147820" cy="4013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公平是前提    方法是关键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3248571" y="2421423"/>
            <a:ext cx="583247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激励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奖励 </a:t>
            </a:r>
            <a:r>
              <a:rPr lang="zh-CN" altLang="en-US" sz="6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吗？</a:t>
            </a:r>
            <a:endParaRPr lang="zh-CN" altLang="en-US" sz="6000" b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744470" y="3698240"/>
            <a:ext cx="18180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/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发发奖金</a:t>
            </a:r>
            <a:endParaRPr lang="zh-CN" altLang="en-US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04740" y="4141470"/>
            <a:ext cx="17894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/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送个红包</a:t>
            </a:r>
            <a:endParaRPr lang="zh-CN" altLang="en-US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280910" y="3584575"/>
            <a:ext cx="17005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/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买个礼品</a:t>
            </a:r>
            <a:endParaRPr lang="zh-CN" altLang="en-US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9307" y="5805732"/>
            <a:ext cx="10261112" cy="52197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互动 02：钱什么时候管用，什么时候又会失效</a:t>
            </a: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2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>
          <a:xfrm>
            <a:off x="1487751" y="1256925"/>
            <a:ext cx="3467100" cy="41973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金钱在以下情况不能带来激励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343838" y="1989095"/>
            <a:ext cx="4383302" cy="33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不是最需要的时候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不够多的时候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与预期相去甚远的时候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干的比自己差的人拿的比自己多的时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干的多拿的少时候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不知为什么的时候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>
              <a:lnSpc>
                <a:spcPct val="160000"/>
              </a:lnSpc>
              <a:spcBef>
                <a:spcPct val="20000"/>
              </a:spcBef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遥遥无期的时候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>
          <a:xfrm>
            <a:off x="7248262" y="1327144"/>
            <a:ext cx="3467100" cy="41973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金钱在什么情况下能带来激励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7103036" y="1988980"/>
            <a:ext cx="3983099" cy="309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 defTabSz="914400" eaLnBrk="1" fontAlgn="base" hangingPunct="1">
              <a:lnSpc>
                <a:spcPct val="160000"/>
              </a:lnSpc>
              <a:spcBef>
                <a:spcPct val="20000"/>
              </a:spcBef>
              <a:buClrTx/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公平的时候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  <a:p>
            <a:pPr lvl="0" algn="l" defTabSz="914400" eaLnBrk="1" fontAlgn="base" hangingPunct="1">
              <a:lnSpc>
                <a:spcPct val="160000"/>
              </a:lnSpc>
              <a:spcBef>
                <a:spcPct val="20000"/>
              </a:spcBef>
              <a:buClrTx/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最需要的时候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  <a:p>
            <a:pPr lvl="0" algn="l" defTabSz="914400" eaLnBrk="1" fontAlgn="base" hangingPunct="1">
              <a:lnSpc>
                <a:spcPct val="160000"/>
              </a:lnSpc>
              <a:spcBef>
                <a:spcPct val="20000"/>
              </a:spcBef>
              <a:buClrTx/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钱不仅仅是钱的时候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  <a:p>
            <a:pPr lvl="0" algn="l" defTabSz="914400" eaLnBrk="1" fontAlgn="base" hangingPunct="1">
              <a:lnSpc>
                <a:spcPct val="160000"/>
              </a:lnSpc>
              <a:spcBef>
                <a:spcPct val="20000"/>
              </a:spcBef>
              <a:buClrTx/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达到或超越期望的时候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  <a:p>
            <a:pPr lvl="0" algn="l" defTabSz="914400" eaLnBrk="1" fontAlgn="base" hangingPunct="1">
              <a:lnSpc>
                <a:spcPct val="160000"/>
              </a:lnSpc>
              <a:spcBef>
                <a:spcPct val="20000"/>
              </a:spcBef>
              <a:buClrTx/>
              <a:buSzPct val="90000"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与绩效相关联的时候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2" name="图片 1" descr="勾-圆环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8390" y="1125220"/>
            <a:ext cx="824230" cy="824230"/>
          </a:xfrm>
          <a:prstGeom prst="rect">
            <a:avLst/>
          </a:prstGeom>
        </p:spPr>
      </p:pic>
      <p:pic>
        <p:nvPicPr>
          <p:cNvPr id="3" name="图片 2" descr="叉-圆环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815" y="1109345"/>
            <a:ext cx="714375" cy="71437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5732145" y="1047115"/>
            <a:ext cx="76200" cy="511873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4497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/>
          </a:bodyPr>
          <a:lstStyle/>
          <a:p>
            <a:pPr defTabSz="914400" fontAlgn="base">
              <a:lnSpc>
                <a:spcPct val="150000"/>
              </a:lnSpc>
            </a:pPr>
            <a:b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汉仪粗宋简" panose="02010600000101010101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汉仪粗宋简" panose="02010600000101010101" charset="-122"/>
                <a:cs typeface="微软雅黑" panose="020B0503020204020204" pitchFamily="34" charset="-122"/>
              </a:rPr>
              <a:t>在景嘉微，你经历过的物质激励失效的场景？分析下原因。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汉仪粗宋简" panose="02010600000101010101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汉仪粗宋简" panose="02010600000101010101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4"/>
          <p:cNvSpPr/>
          <p:nvPr/>
        </p:nvSpPr>
        <p:spPr>
          <a:xfrm>
            <a:off x="1329708" y="1487309"/>
            <a:ext cx="1728341" cy="578882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2800" b="1" dirty="0">
                <a:latin typeface="+mn-ea"/>
              </a:rPr>
              <a:t>员工需求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3" name="Text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29773" y="2365896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自我实现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右箭头 6"/>
          <p:cNvSpPr/>
          <p:nvPr>
            <p:custDataLst>
              <p:tags r:id="rId2"/>
            </p:custDataLst>
          </p:nvPr>
        </p:nvSpPr>
        <p:spPr>
          <a:xfrm>
            <a:off x="3576086" y="2582555"/>
            <a:ext cx="1008063" cy="19645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5952490" y="1485286"/>
            <a:ext cx="1785620" cy="578444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1" dirty="0">
                <a:latin typeface="+mn-ea"/>
                <a:sym typeface="+mn-ea"/>
              </a:rPr>
              <a:t>激励手段</a:t>
            </a:r>
            <a:endParaRPr lang="zh-CN" altLang="en-US" sz="2800" b="1" dirty="0">
              <a:latin typeface="+mn-ea"/>
              <a:sym typeface="+mn-ea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29773" y="3013968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被尊重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右箭头 10"/>
          <p:cNvSpPr/>
          <p:nvPr>
            <p:custDataLst>
              <p:tags r:id="rId4"/>
            </p:custDataLst>
          </p:nvPr>
        </p:nvSpPr>
        <p:spPr>
          <a:xfrm>
            <a:off x="3576086" y="3158619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" name="Text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29773" y="3662040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社会需要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右箭头 13"/>
          <p:cNvSpPr/>
          <p:nvPr>
            <p:custDataLst>
              <p:tags r:id="rId6"/>
            </p:custDataLst>
          </p:nvPr>
        </p:nvSpPr>
        <p:spPr>
          <a:xfrm>
            <a:off x="3576086" y="3826261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29773" y="4362956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安全感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右箭头 16"/>
          <p:cNvSpPr/>
          <p:nvPr>
            <p:custDataLst>
              <p:tags r:id="rId8"/>
            </p:custDataLst>
          </p:nvPr>
        </p:nvSpPr>
        <p:spPr>
          <a:xfrm>
            <a:off x="3576086" y="4546341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TextBox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86350" y="4425315"/>
            <a:ext cx="353758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（一组讨论，代表发言）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TextBox 18"/>
          <p:cNvSpPr txBox="1">
            <a:spLocks noChangeArrowheads="1"/>
          </p:cNvSpPr>
          <p:nvPr/>
        </p:nvSpPr>
        <p:spPr bwMode="auto">
          <a:xfrm>
            <a:off x="1329773" y="5083036"/>
            <a:ext cx="1800225" cy="52322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本能需要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右箭头 19"/>
          <p:cNvSpPr/>
          <p:nvPr/>
        </p:nvSpPr>
        <p:spPr>
          <a:xfrm>
            <a:off x="3576086" y="5246851"/>
            <a:ext cx="1008063" cy="19645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5086350" y="5088255"/>
            <a:ext cx="3669030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酬劳、待遇、工作条件等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3313" y="981090"/>
            <a:ext cx="3456384" cy="2768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团队激励的手段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56036" y="5877852"/>
            <a:ext cx="10261112" cy="52197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互动 03：基于马斯诺需求层次，我们各阶段的激励手段有哪些？</a:t>
            </a:r>
            <a:endParaRPr lang="zh-CN" altLang="en-US" sz="2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" name="TextBox 1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086350" y="3693160"/>
            <a:ext cx="353758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（二组讨论，代表发言）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TextBox 1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086350" y="3014345"/>
            <a:ext cx="353758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（三组讨论，代表发言）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TextBox 1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086350" y="2397125"/>
            <a:ext cx="353758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（四组讨论，代表发言）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83432" y="1844824"/>
            <a:ext cx="10441160" cy="4464496"/>
            <a:chOff x="-167666" y="925872"/>
            <a:chExt cx="9311666" cy="6747023"/>
          </a:xfrm>
        </p:grpSpPr>
        <p:sp>
          <p:nvSpPr>
            <p:cNvPr id="3" name="TextBox 8"/>
            <p:cNvSpPr txBox="1"/>
            <p:nvPr/>
          </p:nvSpPr>
          <p:spPr>
            <a:xfrm>
              <a:off x="510349" y="4138666"/>
              <a:ext cx="2252912" cy="1454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>
                <a:defRPr sz="2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0" dirty="0">
                  <a:solidFill>
                    <a:srgbClr val="061F5B"/>
                  </a:solidFill>
                </a:rPr>
                <a:t>工资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奖金</a:t>
              </a:r>
              <a:endParaRPr lang="zh-CN" altLang="en-US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股权</a:t>
              </a:r>
              <a:endParaRPr lang="en-US" altLang="zh-CN" sz="1600" b="0" dirty="0">
                <a:solidFill>
                  <a:srgbClr val="061F5B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-167666" y="3527459"/>
              <a:ext cx="2520196" cy="613445"/>
            </a:xfrm>
            <a:prstGeom prst="rect">
              <a:avLst/>
            </a:prstGeom>
            <a:solidFill>
              <a:srgbClr val="267BC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物质激励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2214329" y="2939749"/>
              <a:ext cx="2520280" cy="587097"/>
            </a:xfrm>
            <a:prstGeom prst="rect">
              <a:avLst/>
            </a:prstGeom>
            <a:solidFill>
              <a:srgbClr val="267BC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岗位机会激励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319173" y="2352654"/>
              <a:ext cx="2520280" cy="5870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rgbClr val="061F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精神激励</a:t>
              </a:r>
              <a:endParaRPr lang="zh-CN" altLang="en-US" sz="2000" dirty="0">
                <a:solidFill>
                  <a:srgbClr val="061F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6551712" y="1765557"/>
              <a:ext cx="2592288" cy="5870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rgbClr val="061F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自我激励</a:t>
              </a:r>
              <a:endParaRPr lang="zh-CN" altLang="en-US" sz="2000" dirty="0">
                <a:solidFill>
                  <a:srgbClr val="061F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14"/>
            <p:cNvSpPr txBox="1"/>
            <p:nvPr/>
          </p:nvSpPr>
          <p:spPr>
            <a:xfrm>
              <a:off x="2574369" y="3528076"/>
              <a:ext cx="2232249" cy="3393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>
                <a:defRPr sz="2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0" dirty="0">
                  <a:solidFill>
                    <a:srgbClr val="061F5B"/>
                  </a:solidFill>
                </a:rPr>
                <a:t>工作挑战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组织权力：机会、责任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400" b="0" dirty="0">
                  <a:solidFill>
                    <a:schemeClr val="accent2">
                      <a:lumMod val="75000"/>
                    </a:schemeClr>
                  </a:solidFill>
                </a:rPr>
                <a:t>在成功过程中发现和培养人才</a:t>
              </a:r>
              <a:endParaRPr lang="en-US" altLang="zh-CN" sz="1400" b="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zh-CN" altLang="en-US" sz="1400" b="0" dirty="0">
                  <a:solidFill>
                    <a:schemeClr val="accent2">
                      <a:lumMod val="75000"/>
                    </a:schemeClr>
                  </a:solidFill>
                </a:rPr>
                <a:t>在失败的项目中发现优秀人才</a:t>
              </a:r>
              <a:endParaRPr lang="zh-CN" altLang="en-US" sz="1400" b="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" name="TextBox 15"/>
            <p:cNvSpPr txBox="1"/>
            <p:nvPr/>
          </p:nvSpPr>
          <p:spPr>
            <a:xfrm>
              <a:off x="6966858" y="2354977"/>
              <a:ext cx="2016224" cy="1885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>
                <a:defRPr sz="2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0" dirty="0">
                  <a:solidFill>
                    <a:srgbClr val="061F5B"/>
                  </a:solidFill>
                </a:rPr>
                <a:t>个人成就导向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自我实现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服务团队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乐在其中</a:t>
              </a:r>
              <a:endParaRPr lang="zh-CN" altLang="en-US" sz="1600" b="0" dirty="0">
                <a:solidFill>
                  <a:srgbClr val="061F5B"/>
                </a:solidFill>
              </a:endParaRPr>
            </a:p>
          </p:txBody>
        </p:sp>
        <p:sp>
          <p:nvSpPr>
            <p:cNvPr id="10" name="TextBox 16"/>
            <p:cNvSpPr txBox="1"/>
            <p:nvPr/>
          </p:nvSpPr>
          <p:spPr>
            <a:xfrm>
              <a:off x="4806619" y="2952108"/>
              <a:ext cx="2032836" cy="1885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>
                <a:defRPr sz="20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600" b="0" dirty="0">
                  <a:solidFill>
                    <a:srgbClr val="061F5B"/>
                  </a:solidFill>
                </a:rPr>
                <a:t>标杆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模范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培训教育</a:t>
              </a:r>
              <a:endParaRPr lang="en-US" altLang="zh-CN" sz="1600" b="0" dirty="0">
                <a:solidFill>
                  <a:srgbClr val="061F5B"/>
                </a:solidFill>
              </a:endParaRPr>
            </a:p>
            <a:p>
              <a:r>
                <a:rPr lang="zh-CN" altLang="en-US" sz="1600" b="0" dirty="0">
                  <a:solidFill>
                    <a:srgbClr val="061F5B"/>
                  </a:solidFill>
                </a:rPr>
                <a:t>团队奖励</a:t>
              </a:r>
              <a:endParaRPr lang="zh-CN" altLang="en-US" sz="1600" b="0" dirty="0">
                <a:solidFill>
                  <a:srgbClr val="061F5B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898732" y="7085797"/>
              <a:ext cx="4940721" cy="587098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rgbClr val="061F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正激励、负激励</a:t>
              </a:r>
              <a:endParaRPr lang="zh-CN" altLang="en-US" sz="2000" dirty="0">
                <a:solidFill>
                  <a:srgbClr val="061F5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Box 18"/>
            <p:cNvSpPr txBox="1"/>
            <p:nvPr/>
          </p:nvSpPr>
          <p:spPr>
            <a:xfrm>
              <a:off x="1769506" y="970052"/>
              <a:ext cx="2108117" cy="700233"/>
            </a:xfrm>
            <a:prstGeom prst="rect">
              <a:avLst/>
            </a:prstGeom>
            <a:solidFill>
              <a:srgbClr val="267BC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外部激励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9"/>
            <p:cNvSpPr txBox="1"/>
            <p:nvPr/>
          </p:nvSpPr>
          <p:spPr>
            <a:xfrm>
              <a:off x="5183654" y="925872"/>
              <a:ext cx="1946269" cy="700233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内部激励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 bwMode="auto">
          <a:xfrm>
            <a:off x="695400" y="908720"/>
            <a:ext cx="2019646" cy="62872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GB"/>
            </a:defPPr>
            <a:lvl1pPr lvl="0" defTabSz="914400">
              <a:lnSpc>
                <a:spcPct val="130000"/>
              </a:lnSpc>
              <a:buClrTx/>
              <a:buSzTx/>
              <a:buFontTx/>
              <a:defRPr sz="21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defRPr>
            </a:lvl1pPr>
          </a:lstStyle>
          <a:p>
            <a:r>
              <a:rPr lang="zh-CN" altLang="en-US" dirty="0"/>
              <a:t>景嘉微激励体系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4"/>
          <p:cNvSpPr/>
          <p:nvPr/>
        </p:nvSpPr>
        <p:spPr>
          <a:xfrm>
            <a:off x="1329708" y="1487309"/>
            <a:ext cx="1728341" cy="578882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914400" fontAlgn="base"/>
            <a:r>
              <a:rPr lang="zh-CN" altLang="en-US" sz="2800" b="1" dirty="0">
                <a:latin typeface="+mn-ea"/>
              </a:rPr>
              <a:t>员工需求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3" name="Text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29773" y="2365896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自我实现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右箭头 6"/>
          <p:cNvSpPr/>
          <p:nvPr>
            <p:custDataLst>
              <p:tags r:id="rId2"/>
            </p:custDataLst>
          </p:nvPr>
        </p:nvSpPr>
        <p:spPr>
          <a:xfrm>
            <a:off x="3576086" y="2582555"/>
            <a:ext cx="1008063" cy="19645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" name="圆角矩形 7"/>
          <p:cNvSpPr/>
          <p:nvPr/>
        </p:nvSpPr>
        <p:spPr>
          <a:xfrm>
            <a:off x="5952490" y="1485286"/>
            <a:ext cx="1781810" cy="578444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1" dirty="0">
                <a:latin typeface="+mn-ea"/>
                <a:sym typeface="+mn-ea"/>
              </a:rPr>
              <a:t>激励手段</a:t>
            </a:r>
            <a:endParaRPr lang="zh-CN" altLang="en-US" sz="2800" b="1" dirty="0">
              <a:latin typeface="+mn-ea"/>
              <a:sym typeface="+mn-ea"/>
            </a:endParaRPr>
          </a:p>
        </p:txBody>
      </p:sp>
      <p:sp>
        <p:nvSpPr>
          <p:cNvPr id="7" name="Text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29773" y="3013968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被尊重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ext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29773" y="3662040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社会需要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右箭头 13"/>
          <p:cNvSpPr/>
          <p:nvPr>
            <p:custDataLst>
              <p:tags r:id="rId5"/>
            </p:custDataLst>
          </p:nvPr>
        </p:nvSpPr>
        <p:spPr>
          <a:xfrm>
            <a:off x="3576086" y="3826261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29773" y="4362956"/>
            <a:ext cx="1800225" cy="52197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安全感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右箭头 16"/>
          <p:cNvSpPr/>
          <p:nvPr>
            <p:custDataLst>
              <p:tags r:id="rId7"/>
            </p:custDataLst>
          </p:nvPr>
        </p:nvSpPr>
        <p:spPr>
          <a:xfrm>
            <a:off x="3576086" y="4546341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TextBox 1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086350" y="4293235"/>
            <a:ext cx="5831840" cy="82232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标准、程序、游戏规则、分工明确、信息、培训、合同、工作工具等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/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TextBox 18"/>
          <p:cNvSpPr txBox="1">
            <a:spLocks noChangeArrowheads="1"/>
          </p:cNvSpPr>
          <p:nvPr/>
        </p:nvSpPr>
        <p:spPr bwMode="auto">
          <a:xfrm>
            <a:off x="1343743" y="5196701"/>
            <a:ext cx="1800225" cy="52322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base" hangingPunct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本能需要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右箭头 19"/>
          <p:cNvSpPr/>
          <p:nvPr/>
        </p:nvSpPr>
        <p:spPr>
          <a:xfrm>
            <a:off x="3574816" y="5373216"/>
            <a:ext cx="1008063" cy="19645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5088255" y="5259705"/>
            <a:ext cx="582993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914400" eaLnBrk="1" fontAlgn="base" hangingPunct="1">
              <a:buClrTx/>
              <a:buSzTx/>
              <a:buFontTx/>
            </a:pPr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酬劳、待遇、工作条件等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3313" y="981090"/>
            <a:ext cx="3456384" cy="2768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团队激励的手段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2" name="TextBox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88255" y="3669665"/>
            <a:ext cx="5829935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管理、集体生活、价值认同、共同成功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TextBox 1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086350" y="3014345"/>
            <a:ext cx="5811520" cy="460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头衔、荣誉、提高身价、积极肯定等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TextBox 17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086350" y="2397125"/>
            <a:ext cx="5811520" cy="491490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挑战性任务、自主权、承担责任、授权</a:t>
            </a:r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defTabSz="914400" eaLnBrk="1" fontAlgn="base" hangingPunct="1"/>
            <a:endParaRPr lang="zh-CN" alt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右箭头 13"/>
          <p:cNvSpPr/>
          <p:nvPr>
            <p:custDataLst>
              <p:tags r:id="rId12"/>
            </p:custDataLst>
          </p:nvPr>
        </p:nvSpPr>
        <p:spPr>
          <a:xfrm>
            <a:off x="3575451" y="3153796"/>
            <a:ext cx="1008063" cy="1964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83615" y="908685"/>
            <a:ext cx="4354830" cy="3898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非物质激励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 —— 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经营人心的七种武器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Text 4"/>
          <p:cNvSpPr/>
          <p:nvPr/>
        </p:nvSpPr>
        <p:spPr>
          <a:xfrm>
            <a:off x="696035" y="1412905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40000"/>
              </a:lnSpc>
            </a:pPr>
            <a:endParaRPr lang="en-US" sz="2000" b="1" dirty="0">
              <a:latin typeface="+mn-ea"/>
            </a:endParaRPr>
          </a:p>
        </p:txBody>
      </p:sp>
      <p:pic>
        <p:nvPicPr>
          <p:cNvPr id="5" name="图片 4" descr="重点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470" y="2853055"/>
            <a:ext cx="1163320" cy="11633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07260" y="2706370"/>
            <a:ext cx="849693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400" fontAlgn="base"/>
            <a:r>
              <a:rPr lang="zh-CN" altLang="en-US" sz="8800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敲黑板，划重点</a:t>
            </a:r>
            <a:endParaRPr lang="zh-CN" altLang="en-US" sz="8800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11860" y="908685"/>
            <a:ext cx="4259580" cy="3263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非物质激励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048" y="1342555"/>
            <a:ext cx="11529228" cy="5019993"/>
            <a:chOff x="-912219" y="-820480"/>
            <a:chExt cx="13593333" cy="7466166"/>
          </a:xfrm>
          <a:solidFill>
            <a:schemeClr val="accent1"/>
          </a:solidFill>
        </p:grpSpPr>
        <p:sp>
          <p:nvSpPr>
            <p:cNvPr id="5" name="Text 1"/>
            <p:cNvSpPr/>
            <p:nvPr/>
          </p:nvSpPr>
          <p:spPr>
            <a:xfrm>
              <a:off x="-317763" y="-820480"/>
              <a:ext cx="4967529" cy="596878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30000"/>
                </a:lnSpc>
              </a:pPr>
              <a:r>
                <a:rPr lang="en-US" b="1" dirty="0">
                  <a:solidFill>
                    <a:schemeClr val="bg1"/>
                  </a:solidFill>
                  <a:latin typeface="+mn-ea"/>
                  <a:cs typeface="Liter" pitchFamily="34" charset="-120"/>
                </a:rPr>
                <a:t>激励的本质是经营人心，不是发钱</a:t>
              </a:r>
              <a:endParaRPr lang="en-US" b="1" dirty="0">
                <a:solidFill>
                  <a:schemeClr val="bg1"/>
                </a:solidFill>
                <a:latin typeface="+mn-ea"/>
                <a:cs typeface="Liter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-317281" y="34284"/>
              <a:ext cx="2207394" cy="3556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20000"/>
                </a:lnSpc>
              </a:pPr>
              <a:r>
                <a:rPr lang="en-US" sz="1600" b="1" dirty="0">
                  <a:solidFill>
                    <a:schemeClr val="tx2"/>
                  </a:solidFill>
                  <a:latin typeface="+mn-ea"/>
                  <a:cs typeface="Liter" pitchFamily="34" charset="-120"/>
                </a:rPr>
                <a:t>赫兹伯格双因素理论</a:t>
              </a:r>
              <a:endParaRPr lang="en-US" sz="1600" b="1" dirty="0">
                <a:solidFill>
                  <a:schemeClr val="tx2"/>
                </a:solidFill>
                <a:latin typeface="+mn-ea"/>
                <a:cs typeface="Liter" pitchFamily="34" charset="-120"/>
              </a:endParaRPr>
            </a:p>
          </p:txBody>
        </p:sp>
        <p:sp>
          <p:nvSpPr>
            <p:cNvPr id="8" name="Text 3"/>
            <p:cNvSpPr/>
            <p:nvPr/>
          </p:nvSpPr>
          <p:spPr>
            <a:xfrm>
              <a:off x="-317955" y="4984750"/>
              <a:ext cx="6306501" cy="825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50000"/>
                </a:lnSpc>
              </a:pPr>
              <a:r>
                <a:rPr lang="en-US" sz="1200" b="1" dirty="0">
                  <a:solidFill>
                    <a:schemeClr val="tx2"/>
                  </a:solidFill>
                  <a:latin typeface="+mn-ea"/>
                  <a:cs typeface="Quattrocento Sans" pitchFamily="34" charset="-120"/>
                </a:rPr>
                <a:t>核心发现：年薪百万却抑郁想离职（保健因素够高），加薪200元却深受触动（激励因素到位）——钱买不到主动</a:t>
              </a:r>
              <a:endParaRPr lang="en-US" sz="1200" b="1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9" name="Shape 4"/>
            <p:cNvSpPr/>
            <p:nvPr/>
          </p:nvSpPr>
          <p:spPr>
            <a:xfrm>
              <a:off x="5903681" y="-820480"/>
              <a:ext cx="6777433" cy="6614681"/>
            </a:xfrm>
            <a:prstGeom prst="roundRect">
              <a:avLst>
                <a:gd name="adj" fmla="val 6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/>
            <a:lstStyle/>
            <a:p>
              <a:pPr defTabSz="914400" fontAlgn="base"/>
              <a:endParaRPr lang="zh-CN" altLang="en-US" sz="12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0" name="Text 5"/>
            <p:cNvSpPr/>
            <p:nvPr/>
          </p:nvSpPr>
          <p:spPr>
            <a:xfrm>
              <a:off x="6413080" y="-502042"/>
              <a:ext cx="3810000" cy="355600"/>
            </a:xfrm>
            <a:prstGeom prst="rect">
              <a:avLst/>
            </a:prstGeom>
            <a:grpFill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+mn-ea"/>
                  <a:cs typeface="Liter" pitchFamily="34" charset="-120"/>
                </a:rPr>
                <a:t>内在动机才是原动力</a:t>
              </a:r>
              <a:endParaRPr lang="en-US" sz="2000" b="1" dirty="0">
                <a:solidFill>
                  <a:schemeClr val="bg1"/>
                </a:solidFill>
                <a:latin typeface="+mn-ea"/>
                <a:cs typeface="Liter" pitchFamily="34" charset="-120"/>
              </a:endParaRPr>
            </a:p>
          </p:txBody>
        </p:sp>
        <p:sp>
          <p:nvSpPr>
            <p:cNvPr id="11" name="Text 6"/>
            <p:cNvSpPr/>
            <p:nvPr/>
          </p:nvSpPr>
          <p:spPr>
            <a:xfrm>
              <a:off x="6413080" y="343882"/>
              <a:ext cx="6096000" cy="4381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lnSpc>
                  <a:spcPct val="160000"/>
                </a:lnSpc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动机定义</a:t>
              </a:r>
              <a:endPara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400"/>
                </a:spcBef>
              </a:pPr>
              <a:r>
                <a:rPr lang="en-US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个体为达成目标付出努力的强度、方向和持续性</a:t>
              </a:r>
              <a:endParaRPr 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1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核心洞察</a:t>
              </a:r>
              <a:endPara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400"/>
                </a:spcBef>
              </a:pPr>
              <a:r>
                <a:rPr lang="en-US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员工主观意愿驱动时，即便薪酬偏低也会主动投入</a:t>
              </a:r>
              <a:endParaRPr 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400"/>
                </a:spcBef>
              </a:pPr>
              <a:r>
                <a:rPr lang="en-US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缺乏意愿时，再高薪资也只会催生敷衍</a:t>
              </a:r>
              <a:endParaRPr 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1600"/>
                </a:spcBef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管理准则</a:t>
              </a:r>
              <a:endParaRPr 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base">
                <a:lnSpc>
                  <a:spcPct val="160000"/>
                </a:lnSpc>
                <a:spcBef>
                  <a:spcPts val="400"/>
                </a:spcBef>
              </a:pPr>
              <a:r>
                <a:rPr lang="en-US" sz="1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"视人为人"——员工不是标准化工具，而是有独立情感、优势与短板的个体</a:t>
              </a:r>
              <a:endParaRPr lang="en-US" sz="1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Text 8"/>
            <p:cNvSpPr/>
            <p:nvPr/>
          </p:nvSpPr>
          <p:spPr>
            <a:xfrm>
              <a:off x="-912219" y="6137686"/>
              <a:ext cx="13462000" cy="508000"/>
            </a:xfrm>
            <a:prstGeom prst="rect">
              <a:avLst/>
            </a:prstGeom>
            <a:grpFill/>
          </p:spPr>
          <p:txBody>
            <a:bodyPr wrap="square" lIns="0" tIns="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lnSpc>
                  <a:spcPct val="120000"/>
                </a:lnSpc>
              </a:pPr>
              <a:r>
                <a:rPr lang="en-US" b="1" dirty="0">
                  <a:solidFill>
                    <a:schemeClr val="bg1"/>
                  </a:solidFill>
                  <a:latin typeface="+mn-ea"/>
                  <a:cs typeface="Quattrocento Sans" pitchFamily="34" charset="-120"/>
                </a:rPr>
                <a:t>激励管理的理想状态：让全体员工像创始人经营自身事业一般主动攻坚</a:t>
              </a:r>
              <a:endParaRPr lang="en-US" b="1" dirty="0">
                <a:solidFill>
                  <a:schemeClr val="bg1"/>
                </a:solidFill>
                <a:latin typeface="+mn-ea"/>
                <a:cs typeface="Quattrocento Sans" pitchFamily="34" charset="-120"/>
              </a:endParaRPr>
            </a:p>
          </p:txBody>
        </p:sp>
      </p:grpSp>
      <p:graphicFrame>
        <p:nvGraphicFramePr>
          <p:cNvPr id="16" name="表格 15"/>
          <p:cNvGraphicFramePr/>
          <p:nvPr/>
        </p:nvGraphicFramePr>
        <p:xfrm>
          <a:off x="911860" y="2420620"/>
          <a:ext cx="4353560" cy="2466975"/>
        </p:xfrm>
        <a:graphic>
          <a:graphicData uri="http://schemas.openxmlformats.org/drawingml/2006/table">
            <a:tbl>
              <a:tblPr firstRow="1" bandRow="1">
                <a:tableStyleId>{AEE88A91-0B6E-4DE4-AF9F-FCC7C729CC14}</a:tableStyleId>
              </a:tblPr>
              <a:tblGrid>
                <a:gridCol w="2176780"/>
                <a:gridCol w="2176780"/>
              </a:tblGrid>
              <a:tr h="405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保健因素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薪酬、职级、工作环境、制度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消除不满，但不能驱动主动奋斗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</a:tr>
              <a:tr h="5149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激励因素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成就感、认可、责任、成长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8090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催生主动奋斗的内在动力</a:t>
                      </a:r>
                      <a:endParaRPr lang="zh-CN" altLang="en-US" sz="1200" b="0" i="0" dirty="0">
                        <a:solidFill>
                          <a:srgbClr val="08090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" marR="5080" marT="508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444706" y="1484485"/>
            <a:ext cx="11509694" cy="4701010"/>
            <a:chOff x="1016000" y="1524000"/>
            <a:chExt cx="14574706" cy="6985000"/>
          </a:xfrm>
        </p:grpSpPr>
        <p:sp>
          <p:nvSpPr>
            <p:cNvPr id="8" name="Shape 2"/>
            <p:cNvSpPr/>
            <p:nvPr>
              <p:custDataLst>
                <p:tags r:id="rId2"/>
              </p:custDataLst>
            </p:nvPr>
          </p:nvSpPr>
          <p:spPr>
            <a:xfrm>
              <a:off x="1016000" y="1524000"/>
              <a:ext cx="7048500" cy="3302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9" name="Shape 3"/>
            <p:cNvSpPr/>
            <p:nvPr>
              <p:custDataLst>
                <p:tags r:id="rId3"/>
              </p:custDataLst>
            </p:nvPr>
          </p:nvSpPr>
          <p:spPr>
            <a:xfrm>
              <a:off x="1397804" y="17688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355600" y="203200"/>
                  </a:moveTo>
                  <a:cubicBezTo>
                    <a:pt x="355600" y="119088"/>
                    <a:pt x="287312" y="50800"/>
                    <a:pt x="203200" y="50800"/>
                  </a:cubicBezTo>
                  <a:cubicBezTo>
                    <a:pt x="119088" y="50800"/>
                    <a:pt x="50800" y="119088"/>
                    <a:pt x="50800" y="203200"/>
                  </a:cubicBezTo>
                  <a:cubicBezTo>
                    <a:pt x="50800" y="287312"/>
                    <a:pt x="119088" y="355600"/>
                    <a:pt x="203200" y="355600"/>
                  </a:cubicBezTo>
                  <a:cubicBezTo>
                    <a:pt x="287312" y="355600"/>
                    <a:pt x="355600" y="287312"/>
                    <a:pt x="355600" y="203200"/>
                  </a:cubicBezTo>
                  <a:close/>
                  <a:moveTo>
                    <a:pt x="0" y="203200"/>
                  </a:moveTo>
                  <a:cubicBezTo>
                    <a:pt x="0" y="91051"/>
                    <a:pt x="91051" y="0"/>
                    <a:pt x="203200" y="0"/>
                  </a:cubicBezTo>
                  <a:cubicBezTo>
                    <a:pt x="315349" y="0"/>
                    <a:pt x="406400" y="91051"/>
                    <a:pt x="406400" y="203200"/>
                  </a:cubicBezTo>
                  <a:cubicBezTo>
                    <a:pt x="406400" y="315349"/>
                    <a:pt x="315349" y="406400"/>
                    <a:pt x="203200" y="406400"/>
                  </a:cubicBezTo>
                  <a:cubicBezTo>
                    <a:pt x="91051" y="406400"/>
                    <a:pt x="0" y="315349"/>
                    <a:pt x="0" y="203200"/>
                  </a:cubicBezTo>
                  <a:close/>
                  <a:moveTo>
                    <a:pt x="203200" y="266700"/>
                  </a:moveTo>
                  <a:cubicBezTo>
                    <a:pt x="238247" y="266700"/>
                    <a:pt x="266700" y="238247"/>
                    <a:pt x="266700" y="203200"/>
                  </a:cubicBezTo>
                  <a:cubicBezTo>
                    <a:pt x="266700" y="168153"/>
                    <a:pt x="238247" y="139700"/>
                    <a:pt x="203200" y="139700"/>
                  </a:cubicBezTo>
                  <a:cubicBezTo>
                    <a:pt x="168153" y="139700"/>
                    <a:pt x="139700" y="168153"/>
                    <a:pt x="139700" y="203200"/>
                  </a:cubicBezTo>
                  <a:cubicBezTo>
                    <a:pt x="139700" y="238247"/>
                    <a:pt x="168153" y="266700"/>
                    <a:pt x="203200" y="266700"/>
                  </a:cubicBezTo>
                  <a:close/>
                  <a:moveTo>
                    <a:pt x="203200" y="88900"/>
                  </a:moveTo>
                  <a:cubicBezTo>
                    <a:pt x="266284" y="88900"/>
                    <a:pt x="317500" y="140116"/>
                    <a:pt x="317500" y="203200"/>
                  </a:cubicBezTo>
                  <a:cubicBezTo>
                    <a:pt x="317500" y="266284"/>
                    <a:pt x="266284" y="317500"/>
                    <a:pt x="203200" y="317500"/>
                  </a:cubicBezTo>
                  <a:cubicBezTo>
                    <a:pt x="140116" y="317500"/>
                    <a:pt x="88900" y="266284"/>
                    <a:pt x="88900" y="203200"/>
                  </a:cubicBezTo>
                  <a:cubicBezTo>
                    <a:pt x="88900" y="140116"/>
                    <a:pt x="140116" y="88900"/>
                    <a:pt x="203200" y="88900"/>
                  </a:cubicBezTo>
                  <a:close/>
                  <a:moveTo>
                    <a:pt x="177800" y="203200"/>
                  </a:moveTo>
                  <a:cubicBezTo>
                    <a:pt x="177800" y="189181"/>
                    <a:pt x="189181" y="177800"/>
                    <a:pt x="203200" y="177800"/>
                  </a:cubicBezTo>
                  <a:cubicBezTo>
                    <a:pt x="217219" y="177800"/>
                    <a:pt x="228600" y="189181"/>
                    <a:pt x="228600" y="203200"/>
                  </a:cubicBezTo>
                  <a:cubicBezTo>
                    <a:pt x="228600" y="217219"/>
                    <a:pt x="217219" y="228600"/>
                    <a:pt x="203200" y="228600"/>
                  </a:cubicBezTo>
                  <a:cubicBezTo>
                    <a:pt x="189181" y="228600"/>
                    <a:pt x="177800" y="217219"/>
                    <a:pt x="177800" y="20320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0" name="Text 4"/>
            <p:cNvSpPr/>
            <p:nvPr>
              <p:custDataLst>
                <p:tags r:id="rId4"/>
              </p:custDataLst>
            </p:nvPr>
          </p:nvSpPr>
          <p:spPr>
            <a:xfrm>
              <a:off x="1968500" y="1768849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目标激励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" name="Text 5"/>
            <p:cNvSpPr/>
            <p:nvPr>
              <p:custDataLst>
                <p:tags r:id="rId5"/>
              </p:custDataLst>
            </p:nvPr>
          </p:nvSpPr>
          <p:spPr>
            <a:xfrm>
              <a:off x="1926901" y="2213196"/>
              <a:ext cx="6350000" cy="2095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目标的具体性、挑战性和反馈直接影响绩效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600"/>
                </a:spcBef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落地要点：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• 引导员工参与目标讨论，主动接纳后转化为个人责任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• 目标清晰具象、员工参与决策、设置明确时间期限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• 配套全周期实时反馈，形成PDCA闭环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12" name="Shape 6"/>
            <p:cNvSpPr/>
            <p:nvPr>
              <p:custDataLst>
                <p:tags r:id="rId6"/>
              </p:custDataLst>
            </p:nvPr>
          </p:nvSpPr>
          <p:spPr>
            <a:xfrm>
              <a:off x="8445500" y="1524000"/>
              <a:ext cx="6794500" cy="3302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13" name="Shape 7"/>
            <p:cNvSpPr/>
            <p:nvPr>
              <p:custDataLst>
                <p:tags r:id="rId7"/>
              </p:custDataLst>
            </p:nvPr>
          </p:nvSpPr>
          <p:spPr>
            <a:xfrm>
              <a:off x="8826500" y="17688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89468" y="4048"/>
                  </a:moveTo>
                  <a:cubicBezTo>
                    <a:pt x="197802" y="-1349"/>
                    <a:pt x="208598" y="-1349"/>
                    <a:pt x="216932" y="4048"/>
                  </a:cubicBezTo>
                  <a:lnTo>
                    <a:pt x="394732" y="118348"/>
                  </a:lnTo>
                  <a:cubicBezTo>
                    <a:pt x="404178" y="124460"/>
                    <a:pt x="408543" y="136049"/>
                    <a:pt x="405368" y="146844"/>
                  </a:cubicBezTo>
                  <a:cubicBezTo>
                    <a:pt x="402193" y="157639"/>
                    <a:pt x="392271" y="165100"/>
                    <a:pt x="381000" y="165100"/>
                  </a:cubicBezTo>
                  <a:lnTo>
                    <a:pt x="355600" y="165100"/>
                  </a:lnTo>
                  <a:lnTo>
                    <a:pt x="355600" y="330200"/>
                  </a:lnTo>
                  <a:lnTo>
                    <a:pt x="396240" y="360680"/>
                  </a:lnTo>
                  <a:cubicBezTo>
                    <a:pt x="402669" y="365442"/>
                    <a:pt x="406400" y="372983"/>
                    <a:pt x="406400" y="381000"/>
                  </a:cubicBezTo>
                  <a:cubicBezTo>
                    <a:pt x="406400" y="395049"/>
                    <a:pt x="395049" y="406400"/>
                    <a:pt x="381000" y="406400"/>
                  </a:cubicBezTo>
                  <a:lnTo>
                    <a:pt x="25400" y="406400"/>
                  </a:lnTo>
                  <a:cubicBezTo>
                    <a:pt x="11351" y="406400"/>
                    <a:pt x="0" y="395049"/>
                    <a:pt x="0" y="381000"/>
                  </a:cubicBezTo>
                  <a:cubicBezTo>
                    <a:pt x="0" y="372983"/>
                    <a:pt x="3731" y="365442"/>
                    <a:pt x="10160" y="360680"/>
                  </a:cubicBezTo>
                  <a:lnTo>
                    <a:pt x="50800" y="330200"/>
                  </a:lnTo>
                  <a:lnTo>
                    <a:pt x="50800" y="330200"/>
                  </a:lnTo>
                  <a:lnTo>
                    <a:pt x="50800" y="165100"/>
                  </a:lnTo>
                  <a:lnTo>
                    <a:pt x="25400" y="165100"/>
                  </a:lnTo>
                  <a:cubicBezTo>
                    <a:pt x="14129" y="165100"/>
                    <a:pt x="4207" y="157639"/>
                    <a:pt x="1032" y="146844"/>
                  </a:cubicBezTo>
                  <a:cubicBezTo>
                    <a:pt x="-2143" y="136049"/>
                    <a:pt x="2223" y="124381"/>
                    <a:pt x="11668" y="118348"/>
                  </a:cubicBezTo>
                  <a:lnTo>
                    <a:pt x="189468" y="4048"/>
                  </a:lnTo>
                  <a:close/>
                  <a:moveTo>
                    <a:pt x="266700" y="165100"/>
                  </a:moveTo>
                  <a:lnTo>
                    <a:pt x="266700" y="330200"/>
                  </a:lnTo>
                  <a:lnTo>
                    <a:pt x="317500" y="330200"/>
                  </a:lnTo>
                  <a:lnTo>
                    <a:pt x="317500" y="165100"/>
                  </a:lnTo>
                  <a:lnTo>
                    <a:pt x="266700" y="165100"/>
                  </a:lnTo>
                  <a:close/>
                  <a:moveTo>
                    <a:pt x="177800" y="330200"/>
                  </a:moveTo>
                  <a:lnTo>
                    <a:pt x="228600" y="330200"/>
                  </a:lnTo>
                  <a:lnTo>
                    <a:pt x="228600" y="165100"/>
                  </a:lnTo>
                  <a:lnTo>
                    <a:pt x="177800" y="165100"/>
                  </a:lnTo>
                  <a:lnTo>
                    <a:pt x="177800" y="330200"/>
                  </a:lnTo>
                  <a:close/>
                  <a:moveTo>
                    <a:pt x="88900" y="165100"/>
                  </a:moveTo>
                  <a:lnTo>
                    <a:pt x="88900" y="330200"/>
                  </a:lnTo>
                  <a:lnTo>
                    <a:pt x="139700" y="330200"/>
                  </a:lnTo>
                  <a:lnTo>
                    <a:pt x="139700" y="165100"/>
                  </a:lnTo>
                  <a:lnTo>
                    <a:pt x="88900" y="165100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4" name="Text 8"/>
            <p:cNvSpPr/>
            <p:nvPr>
              <p:custDataLst>
                <p:tags r:id="rId8"/>
              </p:custDataLst>
            </p:nvPr>
          </p:nvSpPr>
          <p:spPr>
            <a:xfrm>
              <a:off x="9495296" y="1768849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文化激励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Text 9"/>
            <p:cNvSpPr/>
            <p:nvPr>
              <p:custDataLst>
                <p:tags r:id="rId9"/>
              </p:custDataLst>
            </p:nvPr>
          </p:nvSpPr>
          <p:spPr>
            <a:xfrm>
              <a:off x="9494707" y="2303773"/>
              <a:ext cx="6095999" cy="20955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通过正向文化激活五大感知：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使命感：工作不只是谋生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责任感：主动履职尽责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价值感 + 存在感 + 获得感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16" name="Shape 10"/>
            <p:cNvSpPr/>
            <p:nvPr>
              <p:custDataLst>
                <p:tags r:id="rId10"/>
              </p:custDataLst>
            </p:nvPr>
          </p:nvSpPr>
          <p:spPr>
            <a:xfrm>
              <a:off x="1016000" y="5207000"/>
              <a:ext cx="7048500" cy="3302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17" name="Shape 11"/>
            <p:cNvSpPr/>
            <p:nvPr>
              <p:custDataLst>
                <p:tags r:id="rId11"/>
              </p:custDataLst>
            </p:nvPr>
          </p:nvSpPr>
          <p:spPr>
            <a:xfrm>
              <a:off x="1398608" y="551317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91294" y="69136"/>
                  </a:moveTo>
                  <a:lnTo>
                    <a:pt x="203200" y="85566"/>
                  </a:lnTo>
                  <a:lnTo>
                    <a:pt x="215106" y="69136"/>
                  </a:lnTo>
                  <a:cubicBezTo>
                    <a:pt x="234950" y="41672"/>
                    <a:pt x="266859" y="25400"/>
                    <a:pt x="300752" y="25400"/>
                  </a:cubicBezTo>
                  <a:cubicBezTo>
                    <a:pt x="359093" y="25400"/>
                    <a:pt x="406400" y="72708"/>
                    <a:pt x="406400" y="131048"/>
                  </a:cubicBezTo>
                  <a:lnTo>
                    <a:pt x="406400" y="133112"/>
                  </a:lnTo>
                  <a:cubicBezTo>
                    <a:pt x="406400" y="222171"/>
                    <a:pt x="295354" y="325596"/>
                    <a:pt x="237411" y="369808"/>
                  </a:cubicBezTo>
                  <a:cubicBezTo>
                    <a:pt x="227568" y="377269"/>
                    <a:pt x="215503" y="381000"/>
                    <a:pt x="203200" y="381000"/>
                  </a:cubicBezTo>
                  <a:cubicBezTo>
                    <a:pt x="190897" y="381000"/>
                    <a:pt x="178753" y="377349"/>
                    <a:pt x="168989" y="369808"/>
                  </a:cubicBezTo>
                  <a:cubicBezTo>
                    <a:pt x="111046" y="325596"/>
                    <a:pt x="0" y="222171"/>
                    <a:pt x="0" y="133112"/>
                  </a:cubicBezTo>
                  <a:lnTo>
                    <a:pt x="0" y="131048"/>
                  </a:lnTo>
                  <a:cubicBezTo>
                    <a:pt x="0" y="72708"/>
                    <a:pt x="47308" y="25400"/>
                    <a:pt x="105648" y="25400"/>
                  </a:cubicBezTo>
                  <a:cubicBezTo>
                    <a:pt x="139541" y="25400"/>
                    <a:pt x="171450" y="41672"/>
                    <a:pt x="191294" y="69136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8" name="Text 12"/>
            <p:cNvSpPr/>
            <p:nvPr>
              <p:custDataLst>
                <p:tags r:id="rId12"/>
              </p:custDataLst>
            </p:nvPr>
          </p:nvSpPr>
          <p:spPr>
            <a:xfrm>
              <a:off x="1968500" y="5513178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关爱激励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Text 13"/>
            <p:cNvSpPr/>
            <p:nvPr>
              <p:custDataLst>
                <p:tags r:id="rId13"/>
              </p:custDataLst>
            </p:nvPr>
          </p:nvSpPr>
          <p:spPr>
            <a:xfrm>
              <a:off x="1927045" y="5940595"/>
              <a:ext cx="5992149" cy="20955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基于霍桑实验"社会人"假设，人际情感与心理关怀的影响远大于物质福利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落地覆盖：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物质关怀：节日慰问、困难帮扶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心理精神关怀：情绪疏导、压力释放、被倾听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20" name="Shape 14"/>
            <p:cNvSpPr/>
            <p:nvPr>
              <p:custDataLst>
                <p:tags r:id="rId14"/>
              </p:custDataLst>
            </p:nvPr>
          </p:nvSpPr>
          <p:spPr>
            <a:xfrm>
              <a:off x="8445500" y="5207000"/>
              <a:ext cx="6794500" cy="3302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1" name="Shape 15"/>
            <p:cNvSpPr/>
            <p:nvPr>
              <p:custDataLst>
                <p:tags r:id="rId15"/>
              </p:custDataLst>
            </p:nvPr>
          </p:nvSpPr>
          <p:spPr>
            <a:xfrm>
              <a:off x="8826500" y="55245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14538" y="0"/>
                  </a:moveTo>
                  <a:lnTo>
                    <a:pt x="292338" y="0"/>
                  </a:lnTo>
                  <a:cubicBezTo>
                    <a:pt x="313373" y="0"/>
                    <a:pt x="330518" y="17304"/>
                    <a:pt x="329724" y="38259"/>
                  </a:cubicBezTo>
                  <a:cubicBezTo>
                    <a:pt x="329565" y="42466"/>
                    <a:pt x="329406" y="46673"/>
                    <a:pt x="329168" y="50800"/>
                  </a:cubicBezTo>
                  <a:lnTo>
                    <a:pt x="368538" y="50800"/>
                  </a:lnTo>
                  <a:cubicBezTo>
                    <a:pt x="389255" y="50800"/>
                    <a:pt x="407511" y="67945"/>
                    <a:pt x="405924" y="90329"/>
                  </a:cubicBezTo>
                  <a:cubicBezTo>
                    <a:pt x="399971" y="172641"/>
                    <a:pt x="357902" y="217884"/>
                    <a:pt x="312261" y="241538"/>
                  </a:cubicBezTo>
                  <a:cubicBezTo>
                    <a:pt x="299720" y="248047"/>
                    <a:pt x="286941" y="252889"/>
                    <a:pt x="274796" y="256461"/>
                  </a:cubicBezTo>
                  <a:cubicBezTo>
                    <a:pt x="258763" y="279162"/>
                    <a:pt x="242094" y="291148"/>
                    <a:pt x="228838" y="297577"/>
                  </a:cubicBezTo>
                  <a:lnTo>
                    <a:pt x="228838" y="355600"/>
                  </a:lnTo>
                  <a:lnTo>
                    <a:pt x="279638" y="355600"/>
                  </a:lnTo>
                  <a:cubicBezTo>
                    <a:pt x="293688" y="355600"/>
                    <a:pt x="305038" y="366951"/>
                    <a:pt x="305038" y="381000"/>
                  </a:cubicBezTo>
                  <a:cubicBezTo>
                    <a:pt x="305038" y="395049"/>
                    <a:pt x="293688" y="406400"/>
                    <a:pt x="279638" y="406400"/>
                  </a:cubicBezTo>
                  <a:lnTo>
                    <a:pt x="127238" y="406400"/>
                  </a:lnTo>
                  <a:cubicBezTo>
                    <a:pt x="113189" y="406400"/>
                    <a:pt x="101838" y="395049"/>
                    <a:pt x="101838" y="381000"/>
                  </a:cubicBezTo>
                  <a:cubicBezTo>
                    <a:pt x="101838" y="366951"/>
                    <a:pt x="113189" y="355600"/>
                    <a:pt x="127238" y="355600"/>
                  </a:cubicBezTo>
                  <a:lnTo>
                    <a:pt x="178038" y="355600"/>
                  </a:lnTo>
                  <a:lnTo>
                    <a:pt x="178038" y="297577"/>
                  </a:lnTo>
                  <a:cubicBezTo>
                    <a:pt x="165338" y="291465"/>
                    <a:pt x="149543" y="280114"/>
                    <a:pt x="134144" y="259239"/>
                  </a:cubicBezTo>
                  <a:cubicBezTo>
                    <a:pt x="119539" y="255429"/>
                    <a:pt x="103664" y="249634"/>
                    <a:pt x="88186" y="240903"/>
                  </a:cubicBezTo>
                  <a:cubicBezTo>
                    <a:pt x="45244" y="216852"/>
                    <a:pt x="6509" y="171529"/>
                    <a:pt x="953" y="90170"/>
                  </a:cubicBezTo>
                  <a:cubicBezTo>
                    <a:pt x="-556" y="67866"/>
                    <a:pt x="17621" y="50721"/>
                    <a:pt x="38338" y="50721"/>
                  </a:cubicBezTo>
                  <a:lnTo>
                    <a:pt x="77708" y="50721"/>
                  </a:lnTo>
                  <a:cubicBezTo>
                    <a:pt x="77470" y="46593"/>
                    <a:pt x="77311" y="42466"/>
                    <a:pt x="77153" y="38179"/>
                  </a:cubicBezTo>
                  <a:cubicBezTo>
                    <a:pt x="76359" y="17145"/>
                    <a:pt x="93504" y="-79"/>
                    <a:pt x="114538" y="-79"/>
                  </a:cubicBezTo>
                  <a:close/>
                  <a:moveTo>
                    <a:pt x="80566" y="88900"/>
                  </a:moveTo>
                  <a:lnTo>
                    <a:pt x="38973" y="88900"/>
                  </a:lnTo>
                  <a:cubicBezTo>
                    <a:pt x="43894" y="156131"/>
                    <a:pt x="74771" y="189786"/>
                    <a:pt x="106601" y="207645"/>
                  </a:cubicBezTo>
                  <a:cubicBezTo>
                    <a:pt x="95171" y="178038"/>
                    <a:pt x="85725" y="139383"/>
                    <a:pt x="80566" y="88900"/>
                  </a:cubicBezTo>
                  <a:close/>
                  <a:moveTo>
                    <a:pt x="301625" y="203835"/>
                  </a:moveTo>
                  <a:cubicBezTo>
                    <a:pt x="333772" y="184944"/>
                    <a:pt x="362823" y="151368"/>
                    <a:pt x="367744" y="88900"/>
                  </a:cubicBezTo>
                  <a:lnTo>
                    <a:pt x="326231" y="88900"/>
                  </a:lnTo>
                  <a:cubicBezTo>
                    <a:pt x="321310" y="137239"/>
                    <a:pt x="312420" y="174784"/>
                    <a:pt x="301625" y="203835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2" name="Text 16"/>
            <p:cNvSpPr/>
            <p:nvPr>
              <p:custDataLst>
                <p:tags r:id="rId16"/>
              </p:custDataLst>
            </p:nvPr>
          </p:nvSpPr>
          <p:spPr>
            <a:xfrm>
              <a:off x="9495296" y="5512234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竞争激励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Text 17"/>
            <p:cNvSpPr/>
            <p:nvPr>
              <p:custDataLst>
                <p:tags r:id="rId17"/>
              </p:custDataLst>
            </p:nvPr>
          </p:nvSpPr>
          <p:spPr>
            <a:xfrm>
              <a:off x="9403843" y="5940596"/>
              <a:ext cx="6095999" cy="20955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竞争意识根植于人性，健康的竞争机制能激活组织活力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落地原则：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优秀者优先，搭建能力导向竞争机制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能干者能上，破除论资排辈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吃苦者吃香，资源向一线倾斜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</p:grpSp>
      <p:sp>
        <p:nvSpPr>
          <p:cNvPr id="25" name="Text 1"/>
          <p:cNvSpPr/>
          <p:nvPr/>
        </p:nvSpPr>
        <p:spPr>
          <a:xfrm>
            <a:off x="655960" y="908720"/>
            <a:ext cx="8595501" cy="3526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七种非物质激励工具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655960" y="908720"/>
            <a:ext cx="10696624" cy="4752528"/>
            <a:chOff x="1016000" y="698500"/>
            <a:chExt cx="14224000" cy="7874000"/>
          </a:xfrm>
        </p:grpSpPr>
        <p:sp>
          <p:nvSpPr>
            <p:cNvPr id="2" name="Text 1"/>
            <p:cNvSpPr/>
            <p:nvPr/>
          </p:nvSpPr>
          <p:spPr>
            <a:xfrm>
              <a:off x="1396825" y="698500"/>
              <a:ext cx="11430000" cy="5080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七种非物质激励工具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" name="Shape 2"/>
            <p:cNvSpPr/>
            <p:nvPr>
              <p:custDataLst>
                <p:tags r:id="rId2"/>
              </p:custDataLst>
            </p:nvPr>
          </p:nvSpPr>
          <p:spPr>
            <a:xfrm>
              <a:off x="1016000" y="1524000"/>
              <a:ext cx="4699000" cy="70485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4" name="Shape 3"/>
            <p:cNvSpPr/>
            <p:nvPr>
              <p:custDataLst>
                <p:tags r:id="rId3"/>
              </p:custDataLst>
            </p:nvPr>
          </p:nvSpPr>
          <p:spPr>
            <a:xfrm>
              <a:off x="1397000" y="18796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472" y="101600"/>
                  </a:moveTo>
                  <a:lnTo>
                    <a:pt x="126728" y="-10239"/>
                  </a:lnTo>
                  <a:cubicBezTo>
                    <a:pt x="120831" y="-18812"/>
                    <a:pt x="108494" y="-21907"/>
                    <a:pt x="98334" y="-17462"/>
                  </a:cubicBezTo>
                  <a:lnTo>
                    <a:pt x="19776" y="16907"/>
                  </a:lnTo>
                  <a:cubicBezTo>
                    <a:pt x="8981" y="21590"/>
                    <a:pt x="4626" y="33020"/>
                    <a:pt x="9979" y="42466"/>
                  </a:cubicBezTo>
                  <a:lnTo>
                    <a:pt x="73116" y="152876"/>
                  </a:lnTo>
                  <a:cubicBezTo>
                    <a:pt x="45811" y="179784"/>
                    <a:pt x="29301" y="215186"/>
                    <a:pt x="29301" y="254000"/>
                  </a:cubicBezTo>
                  <a:cubicBezTo>
                    <a:pt x="29301" y="338138"/>
                    <a:pt x="107315" y="406400"/>
                    <a:pt x="203472" y="406400"/>
                  </a:cubicBezTo>
                  <a:cubicBezTo>
                    <a:pt x="299629" y="406400"/>
                    <a:pt x="377644" y="338138"/>
                    <a:pt x="377644" y="254000"/>
                  </a:cubicBezTo>
                  <a:cubicBezTo>
                    <a:pt x="377644" y="215186"/>
                    <a:pt x="361043" y="179784"/>
                    <a:pt x="333829" y="152876"/>
                  </a:cubicBezTo>
                  <a:lnTo>
                    <a:pt x="396966" y="42466"/>
                  </a:lnTo>
                  <a:cubicBezTo>
                    <a:pt x="402318" y="33020"/>
                    <a:pt x="397964" y="21590"/>
                    <a:pt x="387259" y="16907"/>
                  </a:cubicBezTo>
                  <a:lnTo>
                    <a:pt x="308610" y="-17542"/>
                  </a:lnTo>
                  <a:cubicBezTo>
                    <a:pt x="298450" y="-21987"/>
                    <a:pt x="286022" y="-18812"/>
                    <a:pt x="280216" y="-10319"/>
                  </a:cubicBezTo>
                  <a:lnTo>
                    <a:pt x="203472" y="101600"/>
                  </a:lnTo>
                  <a:close/>
                  <a:moveTo>
                    <a:pt x="231412" y="214709"/>
                  </a:moveTo>
                  <a:cubicBezTo>
                    <a:pt x="232682" y="216932"/>
                    <a:pt x="235041" y="218440"/>
                    <a:pt x="237762" y="218758"/>
                  </a:cubicBezTo>
                  <a:lnTo>
                    <a:pt x="283210" y="224552"/>
                  </a:lnTo>
                  <a:cubicBezTo>
                    <a:pt x="290195" y="225425"/>
                    <a:pt x="292916" y="232886"/>
                    <a:pt x="287927" y="237252"/>
                  </a:cubicBezTo>
                  <a:lnTo>
                    <a:pt x="254998" y="265351"/>
                  </a:lnTo>
                  <a:cubicBezTo>
                    <a:pt x="253002" y="267097"/>
                    <a:pt x="252095" y="269478"/>
                    <a:pt x="252549" y="271939"/>
                  </a:cubicBezTo>
                  <a:lnTo>
                    <a:pt x="260350" y="311547"/>
                  </a:lnTo>
                  <a:cubicBezTo>
                    <a:pt x="261529" y="317579"/>
                    <a:pt x="254272" y="322263"/>
                    <a:pt x="248013" y="319405"/>
                  </a:cubicBezTo>
                  <a:lnTo>
                    <a:pt x="207373" y="300672"/>
                  </a:lnTo>
                  <a:cubicBezTo>
                    <a:pt x="204924" y="299561"/>
                    <a:pt x="201930" y="299561"/>
                    <a:pt x="199481" y="300672"/>
                  </a:cubicBezTo>
                  <a:lnTo>
                    <a:pt x="158841" y="319405"/>
                  </a:lnTo>
                  <a:cubicBezTo>
                    <a:pt x="152581" y="322263"/>
                    <a:pt x="145324" y="317659"/>
                    <a:pt x="146504" y="311547"/>
                  </a:cubicBezTo>
                  <a:lnTo>
                    <a:pt x="154305" y="271939"/>
                  </a:lnTo>
                  <a:cubicBezTo>
                    <a:pt x="154759" y="269558"/>
                    <a:pt x="153851" y="267097"/>
                    <a:pt x="151856" y="265351"/>
                  </a:cubicBezTo>
                  <a:lnTo>
                    <a:pt x="118926" y="237252"/>
                  </a:lnTo>
                  <a:cubicBezTo>
                    <a:pt x="113846" y="232966"/>
                    <a:pt x="116659" y="225504"/>
                    <a:pt x="123644" y="224552"/>
                  </a:cubicBezTo>
                  <a:lnTo>
                    <a:pt x="169091" y="218758"/>
                  </a:lnTo>
                  <a:cubicBezTo>
                    <a:pt x="171813" y="218440"/>
                    <a:pt x="174262" y="216853"/>
                    <a:pt x="175441" y="214709"/>
                  </a:cubicBezTo>
                  <a:lnTo>
                    <a:pt x="195761" y="178673"/>
                  </a:lnTo>
                  <a:cubicBezTo>
                    <a:pt x="198846" y="173117"/>
                    <a:pt x="207826" y="173117"/>
                    <a:pt x="211001" y="178673"/>
                  </a:cubicBezTo>
                  <a:lnTo>
                    <a:pt x="231321" y="214709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5" name="Text 4"/>
            <p:cNvSpPr/>
            <p:nvPr>
              <p:custDataLst>
                <p:tags r:id="rId4"/>
              </p:custDataLst>
            </p:nvPr>
          </p:nvSpPr>
          <p:spPr>
            <a:xfrm>
              <a:off x="1968500" y="1891173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荣誉激励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Text 5"/>
            <p:cNvSpPr/>
            <p:nvPr>
              <p:custDataLst>
                <p:tags r:id="rId5"/>
              </p:custDataLst>
            </p:nvPr>
          </p:nvSpPr>
          <p:spPr>
            <a:xfrm>
              <a:off x="1396999" y="2540000"/>
              <a:ext cx="4171872" cy="3556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荣誉是人性对精神认可的强烈需求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落地四部曲：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① 荣誉奖项称号设计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② 荣誉奖品配套规划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③ 评选流程与防范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④ 荣誉奖项颁发仪式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案例（华为）：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多层级荣誉体系，明日之星覆盖80%新员工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7" name="Shape 6"/>
            <p:cNvSpPr/>
            <p:nvPr>
              <p:custDataLst>
                <p:tags r:id="rId6"/>
              </p:custDataLst>
            </p:nvPr>
          </p:nvSpPr>
          <p:spPr>
            <a:xfrm>
              <a:off x="6096000" y="1524000"/>
              <a:ext cx="4699000" cy="70485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8" name="Shape 7"/>
            <p:cNvSpPr/>
            <p:nvPr>
              <p:custDataLst>
                <p:tags r:id="rId7"/>
              </p:custDataLst>
            </p:nvPr>
          </p:nvSpPr>
          <p:spPr>
            <a:xfrm>
              <a:off x="6477000" y="18796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63500" y="127000"/>
                  </a:moveTo>
                  <a:cubicBezTo>
                    <a:pt x="77549" y="127000"/>
                    <a:pt x="88900" y="138351"/>
                    <a:pt x="88900" y="152400"/>
                  </a:cubicBezTo>
                  <a:lnTo>
                    <a:pt x="88900" y="355600"/>
                  </a:lnTo>
                  <a:cubicBezTo>
                    <a:pt x="88900" y="369649"/>
                    <a:pt x="77549" y="381000"/>
                    <a:pt x="63500" y="381000"/>
                  </a:cubicBezTo>
                  <a:lnTo>
                    <a:pt x="25400" y="381000"/>
                  </a:lnTo>
                  <a:cubicBezTo>
                    <a:pt x="11351" y="381000"/>
                    <a:pt x="0" y="369649"/>
                    <a:pt x="0" y="355600"/>
                  </a:cubicBezTo>
                  <a:lnTo>
                    <a:pt x="0" y="152400"/>
                  </a:lnTo>
                  <a:cubicBezTo>
                    <a:pt x="0" y="138351"/>
                    <a:pt x="11351" y="127000"/>
                    <a:pt x="25400" y="127000"/>
                  </a:cubicBezTo>
                  <a:lnTo>
                    <a:pt x="63500" y="127000"/>
                  </a:lnTo>
                  <a:close/>
                  <a:moveTo>
                    <a:pt x="214789" y="12700"/>
                  </a:moveTo>
                  <a:cubicBezTo>
                    <a:pt x="236458" y="12700"/>
                    <a:pt x="254000" y="30242"/>
                    <a:pt x="254000" y="51911"/>
                  </a:cubicBezTo>
                  <a:lnTo>
                    <a:pt x="254000" y="55245"/>
                  </a:lnTo>
                  <a:cubicBezTo>
                    <a:pt x="254000" y="60643"/>
                    <a:pt x="252968" y="66040"/>
                    <a:pt x="250984" y="71041"/>
                  </a:cubicBezTo>
                  <a:lnTo>
                    <a:pt x="228600" y="127000"/>
                  </a:lnTo>
                  <a:lnTo>
                    <a:pt x="355600" y="127000"/>
                  </a:lnTo>
                  <a:cubicBezTo>
                    <a:pt x="376634" y="127000"/>
                    <a:pt x="393700" y="144066"/>
                    <a:pt x="393700" y="165100"/>
                  </a:cubicBezTo>
                  <a:cubicBezTo>
                    <a:pt x="393700" y="180737"/>
                    <a:pt x="384254" y="194151"/>
                    <a:pt x="370761" y="200025"/>
                  </a:cubicBezTo>
                  <a:cubicBezTo>
                    <a:pt x="384254" y="205899"/>
                    <a:pt x="393700" y="219313"/>
                    <a:pt x="393700" y="234950"/>
                  </a:cubicBezTo>
                  <a:cubicBezTo>
                    <a:pt x="393700" y="253524"/>
                    <a:pt x="380365" y="269002"/>
                    <a:pt x="362744" y="272336"/>
                  </a:cubicBezTo>
                  <a:cubicBezTo>
                    <a:pt x="366236" y="278130"/>
                    <a:pt x="368300" y="284877"/>
                    <a:pt x="368300" y="292100"/>
                  </a:cubicBezTo>
                  <a:cubicBezTo>
                    <a:pt x="368300" y="309721"/>
                    <a:pt x="356394" y="324485"/>
                    <a:pt x="340201" y="328851"/>
                  </a:cubicBezTo>
                  <a:cubicBezTo>
                    <a:pt x="341948" y="333216"/>
                    <a:pt x="342900" y="337979"/>
                    <a:pt x="342900" y="342900"/>
                  </a:cubicBezTo>
                  <a:cubicBezTo>
                    <a:pt x="342900" y="363934"/>
                    <a:pt x="325834" y="381000"/>
                    <a:pt x="304800" y="381000"/>
                  </a:cubicBezTo>
                  <a:lnTo>
                    <a:pt x="235029" y="381000"/>
                  </a:lnTo>
                  <a:cubicBezTo>
                    <a:pt x="206216" y="381000"/>
                    <a:pt x="178197" y="371158"/>
                    <a:pt x="155734" y="353139"/>
                  </a:cubicBezTo>
                  <a:lnTo>
                    <a:pt x="146050" y="345440"/>
                  </a:lnTo>
                  <a:cubicBezTo>
                    <a:pt x="133985" y="335836"/>
                    <a:pt x="127000" y="321231"/>
                    <a:pt x="127000" y="305753"/>
                  </a:cubicBezTo>
                  <a:lnTo>
                    <a:pt x="127000" y="157639"/>
                  </a:lnTo>
                  <a:cubicBezTo>
                    <a:pt x="127000" y="145812"/>
                    <a:pt x="129778" y="134144"/>
                    <a:pt x="135017" y="123587"/>
                  </a:cubicBezTo>
                  <a:lnTo>
                    <a:pt x="179626" y="34369"/>
                  </a:lnTo>
                  <a:cubicBezTo>
                    <a:pt x="186293" y="21114"/>
                    <a:pt x="199866" y="12700"/>
                    <a:pt x="214789" y="127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9" name="Text 8"/>
            <p:cNvSpPr/>
            <p:nvPr>
              <p:custDataLst>
                <p:tags r:id="rId8"/>
              </p:custDataLst>
            </p:nvPr>
          </p:nvSpPr>
          <p:spPr>
            <a:xfrm>
              <a:off x="7100853" y="1891173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认可激励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" name="Text 9"/>
            <p:cNvSpPr/>
            <p:nvPr>
              <p:custDataLst>
                <p:tags r:id="rId9"/>
              </p:custDataLst>
            </p:nvPr>
          </p:nvSpPr>
          <p:spPr>
            <a:xfrm>
              <a:off x="6477000" y="2540000"/>
              <a:ext cx="4000500" cy="3556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人性底层自带获得他人认可的内在需求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六大维度：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关爱 / 绩效结果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正向行为 / 个人成长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• 管理优化 / 长期忠诚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关键：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以正向行为为核心，精神激励为主，小额实物为辅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11" name="Shape 10"/>
            <p:cNvSpPr/>
            <p:nvPr>
              <p:custDataLst>
                <p:tags r:id="rId10"/>
              </p:custDataLst>
            </p:nvPr>
          </p:nvSpPr>
          <p:spPr>
            <a:xfrm>
              <a:off x="11176000" y="1524000"/>
              <a:ext cx="4064000" cy="70485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12" name="Shape 11"/>
            <p:cNvSpPr/>
            <p:nvPr>
              <p:custDataLst>
                <p:tags r:id="rId11"/>
              </p:custDataLst>
            </p:nvPr>
          </p:nvSpPr>
          <p:spPr>
            <a:xfrm>
              <a:off x="11557000" y="18796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01600" y="254000"/>
                  </a:moveTo>
                  <a:lnTo>
                    <a:pt x="19447" y="254000"/>
                  </a:lnTo>
                  <a:cubicBezTo>
                    <a:pt x="-317" y="254000"/>
                    <a:pt x="-12462" y="232489"/>
                    <a:pt x="-2302" y="215503"/>
                  </a:cubicBezTo>
                  <a:lnTo>
                    <a:pt x="39688" y="145494"/>
                  </a:lnTo>
                  <a:cubicBezTo>
                    <a:pt x="46593" y="133985"/>
                    <a:pt x="58976" y="127000"/>
                    <a:pt x="72390" y="127000"/>
                  </a:cubicBezTo>
                  <a:lnTo>
                    <a:pt x="147796" y="127000"/>
                  </a:lnTo>
                  <a:cubicBezTo>
                    <a:pt x="208201" y="24686"/>
                    <a:pt x="298291" y="19526"/>
                    <a:pt x="358537" y="28337"/>
                  </a:cubicBezTo>
                  <a:cubicBezTo>
                    <a:pt x="368697" y="29845"/>
                    <a:pt x="376634" y="37783"/>
                    <a:pt x="378063" y="47863"/>
                  </a:cubicBezTo>
                  <a:cubicBezTo>
                    <a:pt x="386874" y="108109"/>
                    <a:pt x="381714" y="198199"/>
                    <a:pt x="279400" y="258604"/>
                  </a:cubicBezTo>
                  <a:lnTo>
                    <a:pt x="279400" y="334010"/>
                  </a:lnTo>
                  <a:cubicBezTo>
                    <a:pt x="279400" y="347424"/>
                    <a:pt x="272415" y="359807"/>
                    <a:pt x="260906" y="366713"/>
                  </a:cubicBezTo>
                  <a:lnTo>
                    <a:pt x="190897" y="408702"/>
                  </a:lnTo>
                  <a:cubicBezTo>
                    <a:pt x="173990" y="418862"/>
                    <a:pt x="152400" y="406638"/>
                    <a:pt x="152400" y="386953"/>
                  </a:cubicBezTo>
                  <a:lnTo>
                    <a:pt x="152400" y="304800"/>
                  </a:lnTo>
                  <a:cubicBezTo>
                    <a:pt x="152400" y="276781"/>
                    <a:pt x="129619" y="254000"/>
                    <a:pt x="101600" y="254000"/>
                  </a:cubicBezTo>
                  <a:lnTo>
                    <a:pt x="101521" y="254000"/>
                  </a:lnTo>
                  <a:close/>
                  <a:moveTo>
                    <a:pt x="317500" y="127000"/>
                  </a:moveTo>
                  <a:cubicBezTo>
                    <a:pt x="317500" y="105972"/>
                    <a:pt x="300428" y="88900"/>
                    <a:pt x="279400" y="88900"/>
                  </a:cubicBezTo>
                  <a:cubicBezTo>
                    <a:pt x="258372" y="88900"/>
                    <a:pt x="241300" y="105972"/>
                    <a:pt x="241300" y="127000"/>
                  </a:cubicBezTo>
                  <a:cubicBezTo>
                    <a:pt x="241300" y="148028"/>
                    <a:pt x="258372" y="165100"/>
                    <a:pt x="279400" y="165100"/>
                  </a:cubicBezTo>
                  <a:cubicBezTo>
                    <a:pt x="300428" y="165100"/>
                    <a:pt x="317500" y="148028"/>
                    <a:pt x="317500" y="1270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3" name="Text 12"/>
            <p:cNvSpPr/>
            <p:nvPr>
              <p:custDataLst>
                <p:tags r:id="rId12"/>
              </p:custDataLst>
            </p:nvPr>
          </p:nvSpPr>
          <p:spPr>
            <a:xfrm>
              <a:off x="12175786" y="1891173"/>
              <a:ext cx="2540000" cy="406400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noAutofit/>
            </a:bodyPr>
            <a:lstStyle/>
            <a:p>
              <a:pPr lvl="0" algn="just" defTabSz="914400" fontAlgn="base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sym typeface="+mn-ea"/>
                </a:rPr>
                <a:t>发展激励</a:t>
              </a:r>
              <a:endPara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4" name="Text 13"/>
            <p:cNvSpPr/>
            <p:nvPr>
              <p:custDataLst>
                <p:tags r:id="rId13"/>
              </p:custDataLst>
            </p:nvPr>
          </p:nvSpPr>
          <p:spPr>
            <a:xfrm>
              <a:off x="11557000" y="2540000"/>
              <a:ext cx="3365500" cy="3556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员工的终极诉求是持续成长与晋升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三大落地法宝：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① 完整晋升通道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② 全周期分层培训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③ 多元化专属头衔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关键：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员工看到职业上限不断拓宽，会主动长期稳定服务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965444" y="5832003"/>
            <a:ext cx="10261112" cy="521970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互动 04：在景嘉微，你见过哪几种非物质激励使用案例？</a:t>
            </a:r>
            <a:endParaRPr lang="zh-CN" altLang="en-US" sz="2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4497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/>
          </a:bodyPr>
          <a:lstStyle/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在你的团队中，7种工具里哪几个适用于你的员工？</a:t>
            </a:r>
            <a:b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要求：明确对照关系，说明你推荐的使用原因以及希望取得的效果。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911225" y="981075"/>
            <a:ext cx="8890000" cy="3149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分层激励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 —— 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四种标签，四种激励方式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Text 4"/>
          <p:cNvSpPr/>
          <p:nvPr/>
        </p:nvSpPr>
        <p:spPr>
          <a:xfrm>
            <a:off x="911300" y="1412905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重点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470" y="2853055"/>
            <a:ext cx="1163320" cy="11633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07260" y="2706370"/>
            <a:ext cx="849693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400" fontAlgn="base"/>
            <a:r>
              <a:rPr lang="zh-CN" altLang="en-US" sz="8800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敲黑板，划重点</a:t>
            </a:r>
            <a:endParaRPr lang="zh-CN" altLang="en-US" sz="8800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76300" y="933450"/>
            <a:ext cx="952500" cy="304800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876300" y="918210"/>
            <a:ext cx="952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核心骨干</a:t>
            </a:r>
            <a:endParaRPr lang="en-US" sz="1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6300" y="1268730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有能力 · 有热情 —— 授权与看见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76300" y="1762125"/>
            <a:ext cx="10668000" cy="57150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1104900" y="1714500"/>
            <a:ext cx="102108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我们是不是习惯性把所有重担都压在骨干身上，却很少顾及他们的疲惫与诉求？</a:t>
            </a:r>
            <a:endParaRPr lang="en-US" sz="15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767715" y="3608705"/>
            <a:ext cx="3362325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014095" y="374586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14095" y="4222115"/>
            <a:ext cx="2905125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充分授权，管住底线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014095" y="4603115"/>
            <a:ext cx="2905125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严守质量、交付与合规的红线，具体技术方案与执行细节交由骨干自主决策。信任是最好的激励，给足施展空间才能让专业价值充分释放。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4329430" y="3599815"/>
            <a:ext cx="3371850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4566920" y="374586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02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566920" y="4222115"/>
            <a:ext cx="291465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功劳显性化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，价值被看见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4566920" y="4603115"/>
            <a:ext cx="29146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在项目复盘、评优表彰及向上汇报时，主动且如实呈现骨干的核心贡献。不让默默付出被埋没，让每一份专业投入都被团队看见、被组织认可。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7900670" y="3555365"/>
            <a:ext cx="3552825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8129270" y="374586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03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8129270" y="4222115"/>
            <a:ext cx="3095625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用提问代替指令，激发内驱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8129270" y="4603115"/>
            <a:ext cx="3095625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摒弃“你应该这么做”的指令式说教，转而以提问激发思考：“你觉得解决这个问题的最佳方案是什么？”，唤醒其主人翁意识与专业自尊，而非被动执行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1225" y="6021070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▲</a:t>
            </a:r>
            <a:r>
              <a:rPr lang="en-US" sz="1350" b="1" dirty="0">
                <a:solidFill>
                  <a:srgbClr val="A69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</a:t>
            </a:r>
            <a:r>
              <a:rPr lang="zh-CN" alt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留住骨干往往不是只靠薪酬，而是给予充分的信任与授权、让价值被看见、并赋予其解决问题的主角感与专业尊严。</a:t>
            </a:r>
            <a:endParaRPr lang="zh-CN" altLang="en-US" sz="13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9470" y="2464435"/>
            <a:ext cx="10311130" cy="1191895"/>
            <a:chOff x="1209" y="3132"/>
            <a:chExt cx="16676" cy="4198"/>
          </a:xfrm>
        </p:grpSpPr>
        <p:sp>
          <p:nvSpPr>
            <p:cNvPr id="21" name="Shape 5"/>
            <p:cNvSpPr/>
            <p:nvPr/>
          </p:nvSpPr>
          <p:spPr>
            <a:xfrm>
              <a:off x="1209" y="3132"/>
              <a:ext cx="7977" cy="1962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2" name="Shape 6"/>
            <p:cNvSpPr/>
            <p:nvPr/>
          </p:nvSpPr>
          <p:spPr>
            <a:xfrm>
              <a:off x="1711" y="3513"/>
              <a:ext cx="478" cy="39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58314" y="58261"/>
                  </a:moveTo>
                  <a:cubicBezTo>
                    <a:pt x="45085" y="48339"/>
                    <a:pt x="23601" y="48339"/>
                    <a:pt x="10372" y="58261"/>
                  </a:cubicBezTo>
                  <a:cubicBezTo>
                    <a:pt x="-2857" y="68183"/>
                    <a:pt x="-2857" y="84296"/>
                    <a:pt x="10372" y="94218"/>
                  </a:cubicBezTo>
                  <a:lnTo>
                    <a:pt x="155787" y="203200"/>
                  </a:lnTo>
                  <a:lnTo>
                    <a:pt x="10478" y="312261"/>
                  </a:lnTo>
                  <a:cubicBezTo>
                    <a:pt x="-2752" y="322183"/>
                    <a:pt x="-2752" y="338296"/>
                    <a:pt x="10478" y="348218"/>
                  </a:cubicBezTo>
                  <a:cubicBezTo>
                    <a:pt x="23707" y="358140"/>
                    <a:pt x="45191" y="358140"/>
                    <a:pt x="58420" y="348218"/>
                  </a:cubicBezTo>
                  <a:lnTo>
                    <a:pt x="203729" y="239157"/>
                  </a:lnTo>
                  <a:lnTo>
                    <a:pt x="349144" y="348139"/>
                  </a:lnTo>
                  <a:cubicBezTo>
                    <a:pt x="362373" y="358061"/>
                    <a:pt x="383857" y="358061"/>
                    <a:pt x="397087" y="348139"/>
                  </a:cubicBezTo>
                  <a:cubicBezTo>
                    <a:pt x="410316" y="338217"/>
                    <a:pt x="410316" y="322104"/>
                    <a:pt x="397087" y="312182"/>
                  </a:cubicBezTo>
                  <a:lnTo>
                    <a:pt x="251672" y="203200"/>
                  </a:lnTo>
                  <a:lnTo>
                    <a:pt x="396981" y="94139"/>
                  </a:lnTo>
                  <a:cubicBezTo>
                    <a:pt x="410210" y="84217"/>
                    <a:pt x="410210" y="68104"/>
                    <a:pt x="396981" y="58182"/>
                  </a:cubicBezTo>
                  <a:cubicBezTo>
                    <a:pt x="383752" y="48260"/>
                    <a:pt x="362268" y="48260"/>
                    <a:pt x="349038" y="58182"/>
                  </a:cubicBezTo>
                  <a:lnTo>
                    <a:pt x="203729" y="167243"/>
                  </a:lnTo>
                  <a:lnTo>
                    <a:pt x="58314" y="58261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Text 7"/>
            <p:cNvSpPr/>
            <p:nvPr/>
          </p:nvSpPr>
          <p:spPr>
            <a:xfrm>
              <a:off x="2400" y="3472"/>
              <a:ext cx="6423" cy="34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1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误区一：无休止增加工作量</a:t>
              </a:r>
              <a:endParaRPr 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4" name="Text 8"/>
            <p:cNvSpPr/>
            <p:nvPr/>
          </p:nvSpPr>
          <p:spPr>
            <a:xfrm>
              <a:off x="2400" y="3926"/>
              <a:ext cx="6423" cy="85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1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把所有重担都压在骨干身上，却很少顾及他们的疲惫与诉求</a:t>
              </a:r>
              <a:endParaRPr lang="en-US" sz="11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5" name="Shape 9"/>
            <p:cNvSpPr/>
            <p:nvPr/>
          </p:nvSpPr>
          <p:spPr>
            <a:xfrm>
              <a:off x="9909" y="3132"/>
              <a:ext cx="7977" cy="1962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6" name="Shape 10"/>
            <p:cNvSpPr/>
            <p:nvPr/>
          </p:nvSpPr>
          <p:spPr>
            <a:xfrm>
              <a:off x="10350" y="3513"/>
              <a:ext cx="478" cy="39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58314" y="58261"/>
                  </a:moveTo>
                  <a:cubicBezTo>
                    <a:pt x="45085" y="48339"/>
                    <a:pt x="23601" y="48339"/>
                    <a:pt x="10372" y="58261"/>
                  </a:cubicBezTo>
                  <a:cubicBezTo>
                    <a:pt x="-2857" y="68183"/>
                    <a:pt x="-2857" y="84296"/>
                    <a:pt x="10372" y="94218"/>
                  </a:cubicBezTo>
                  <a:lnTo>
                    <a:pt x="155787" y="203200"/>
                  </a:lnTo>
                  <a:lnTo>
                    <a:pt x="10478" y="312261"/>
                  </a:lnTo>
                  <a:cubicBezTo>
                    <a:pt x="-2752" y="322183"/>
                    <a:pt x="-2752" y="338296"/>
                    <a:pt x="10478" y="348218"/>
                  </a:cubicBezTo>
                  <a:cubicBezTo>
                    <a:pt x="23707" y="358140"/>
                    <a:pt x="45191" y="358140"/>
                    <a:pt x="58420" y="348218"/>
                  </a:cubicBezTo>
                  <a:lnTo>
                    <a:pt x="203729" y="239157"/>
                  </a:lnTo>
                  <a:lnTo>
                    <a:pt x="349144" y="348139"/>
                  </a:lnTo>
                  <a:cubicBezTo>
                    <a:pt x="362373" y="358061"/>
                    <a:pt x="383857" y="358061"/>
                    <a:pt x="397087" y="348139"/>
                  </a:cubicBezTo>
                  <a:cubicBezTo>
                    <a:pt x="410316" y="338217"/>
                    <a:pt x="410316" y="322104"/>
                    <a:pt x="397087" y="312182"/>
                  </a:cubicBezTo>
                  <a:lnTo>
                    <a:pt x="251672" y="203200"/>
                  </a:lnTo>
                  <a:lnTo>
                    <a:pt x="396981" y="94139"/>
                  </a:lnTo>
                  <a:cubicBezTo>
                    <a:pt x="410210" y="84217"/>
                    <a:pt x="410210" y="68104"/>
                    <a:pt x="396981" y="58182"/>
                  </a:cubicBezTo>
                  <a:cubicBezTo>
                    <a:pt x="383752" y="48260"/>
                    <a:pt x="362268" y="48260"/>
                    <a:pt x="349038" y="58182"/>
                  </a:cubicBezTo>
                  <a:lnTo>
                    <a:pt x="203729" y="167243"/>
                  </a:lnTo>
                  <a:lnTo>
                    <a:pt x="58314" y="58261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defTabSz="914400" fontAlgn="base"/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11"/>
            <p:cNvSpPr/>
            <p:nvPr/>
          </p:nvSpPr>
          <p:spPr>
            <a:xfrm>
              <a:off x="11074" y="3513"/>
              <a:ext cx="6423" cy="34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1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误区二：频繁插手技术细节</a:t>
              </a:r>
              <a:endParaRPr 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8" name="Text 12"/>
            <p:cNvSpPr/>
            <p:nvPr/>
          </p:nvSpPr>
          <p:spPr>
            <a:xfrm>
              <a:off x="11074" y="3922"/>
              <a:ext cx="6423" cy="85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1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不信任骨干的专业判断，事事过问，剥夺了他们的自主决策空间</a:t>
              </a:r>
              <a:endParaRPr lang="en-US" sz="11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9" name="Shape 13"/>
            <p:cNvSpPr/>
            <p:nvPr/>
          </p:nvSpPr>
          <p:spPr>
            <a:xfrm>
              <a:off x="1209" y="5368"/>
              <a:ext cx="7977" cy="1962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30" name="Shape 14"/>
            <p:cNvSpPr/>
            <p:nvPr/>
          </p:nvSpPr>
          <p:spPr>
            <a:xfrm>
              <a:off x="1662" y="5717"/>
              <a:ext cx="478" cy="39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58314" y="58261"/>
                  </a:moveTo>
                  <a:cubicBezTo>
                    <a:pt x="45085" y="48339"/>
                    <a:pt x="23601" y="48339"/>
                    <a:pt x="10372" y="58261"/>
                  </a:cubicBezTo>
                  <a:cubicBezTo>
                    <a:pt x="-2857" y="68183"/>
                    <a:pt x="-2857" y="84296"/>
                    <a:pt x="10372" y="94218"/>
                  </a:cubicBezTo>
                  <a:lnTo>
                    <a:pt x="155787" y="203200"/>
                  </a:lnTo>
                  <a:lnTo>
                    <a:pt x="10478" y="312261"/>
                  </a:lnTo>
                  <a:cubicBezTo>
                    <a:pt x="-2752" y="322183"/>
                    <a:pt x="-2752" y="338296"/>
                    <a:pt x="10478" y="348218"/>
                  </a:cubicBezTo>
                  <a:cubicBezTo>
                    <a:pt x="23707" y="358140"/>
                    <a:pt x="45191" y="358140"/>
                    <a:pt x="58420" y="348218"/>
                  </a:cubicBezTo>
                  <a:lnTo>
                    <a:pt x="203729" y="239157"/>
                  </a:lnTo>
                  <a:lnTo>
                    <a:pt x="349144" y="348139"/>
                  </a:lnTo>
                  <a:cubicBezTo>
                    <a:pt x="362373" y="358061"/>
                    <a:pt x="383857" y="358061"/>
                    <a:pt x="397087" y="348139"/>
                  </a:cubicBezTo>
                  <a:cubicBezTo>
                    <a:pt x="410316" y="338217"/>
                    <a:pt x="410316" y="322104"/>
                    <a:pt x="397087" y="312182"/>
                  </a:cubicBezTo>
                  <a:lnTo>
                    <a:pt x="251672" y="203200"/>
                  </a:lnTo>
                  <a:lnTo>
                    <a:pt x="396981" y="94139"/>
                  </a:lnTo>
                  <a:cubicBezTo>
                    <a:pt x="410210" y="84217"/>
                    <a:pt x="410210" y="68104"/>
                    <a:pt x="396981" y="58182"/>
                  </a:cubicBezTo>
                  <a:cubicBezTo>
                    <a:pt x="383752" y="48260"/>
                    <a:pt x="362268" y="48260"/>
                    <a:pt x="349038" y="58182"/>
                  </a:cubicBezTo>
                  <a:lnTo>
                    <a:pt x="203729" y="167243"/>
                  </a:lnTo>
                  <a:lnTo>
                    <a:pt x="58314" y="58261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Text 15"/>
            <p:cNvSpPr/>
            <p:nvPr/>
          </p:nvSpPr>
          <p:spPr>
            <a:xfrm>
              <a:off x="2400" y="5682"/>
              <a:ext cx="6423" cy="34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1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误区三：只盯结果不问感受</a:t>
              </a:r>
              <a:endParaRPr 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2" name="Text 16"/>
            <p:cNvSpPr/>
            <p:nvPr/>
          </p:nvSpPr>
          <p:spPr>
            <a:xfrm>
              <a:off x="2400" y="6123"/>
              <a:ext cx="6423" cy="85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1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只看交付物，不关心过程中的压力和困难，让骨干感到不被理解</a:t>
              </a:r>
              <a:endParaRPr lang="en-US" sz="11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3" name="Shape 17"/>
            <p:cNvSpPr/>
            <p:nvPr/>
          </p:nvSpPr>
          <p:spPr>
            <a:xfrm>
              <a:off x="9900" y="5347"/>
              <a:ext cx="7977" cy="1962"/>
            </a:xfrm>
            <a:prstGeom prst="roundRect">
              <a:avLst>
                <a:gd name="adj" fmla="val 6000"/>
              </a:avLst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34" name="Shape 18"/>
            <p:cNvSpPr/>
            <p:nvPr/>
          </p:nvSpPr>
          <p:spPr>
            <a:xfrm>
              <a:off x="10350" y="5625"/>
              <a:ext cx="478" cy="39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394426" y="55642"/>
                  </a:moveTo>
                  <a:cubicBezTo>
                    <a:pt x="407398" y="63897"/>
                    <a:pt x="410301" y="79772"/>
                    <a:pt x="400866" y="91123"/>
                  </a:cubicBezTo>
                  <a:lnTo>
                    <a:pt x="168638" y="370523"/>
                  </a:lnTo>
                  <a:cubicBezTo>
                    <a:pt x="163649" y="376555"/>
                    <a:pt x="155938" y="380286"/>
                    <a:pt x="147411" y="380921"/>
                  </a:cubicBezTo>
                  <a:cubicBezTo>
                    <a:pt x="138884" y="381556"/>
                    <a:pt x="130629" y="378778"/>
                    <a:pt x="124641" y="373539"/>
                  </a:cubicBezTo>
                  <a:lnTo>
                    <a:pt x="8527" y="271939"/>
                  </a:lnTo>
                  <a:cubicBezTo>
                    <a:pt x="-2812" y="262017"/>
                    <a:pt x="-2812" y="245904"/>
                    <a:pt x="8527" y="235982"/>
                  </a:cubicBezTo>
                  <a:cubicBezTo>
                    <a:pt x="19866" y="226060"/>
                    <a:pt x="38281" y="226060"/>
                    <a:pt x="49621" y="235982"/>
                  </a:cubicBezTo>
                  <a:lnTo>
                    <a:pt x="141696" y="316548"/>
                  </a:lnTo>
                  <a:lnTo>
                    <a:pt x="353967" y="61198"/>
                  </a:lnTo>
                  <a:cubicBezTo>
                    <a:pt x="363401" y="49848"/>
                    <a:pt x="381544" y="47308"/>
                    <a:pt x="394516" y="55563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Text 19"/>
            <p:cNvSpPr/>
            <p:nvPr/>
          </p:nvSpPr>
          <p:spPr>
            <a:xfrm>
              <a:off x="11100" y="5625"/>
              <a:ext cx="6423" cy="34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正确做法</a:t>
              </a:r>
              <a:endParaRPr 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6" name="Text 20"/>
            <p:cNvSpPr/>
            <p:nvPr/>
          </p:nvSpPr>
          <p:spPr>
            <a:xfrm>
              <a:off x="10350" y="6080"/>
              <a:ext cx="7245" cy="67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1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授权、看见、关怀——让骨干感受到被信任和尊重</a:t>
              </a:r>
              <a:endPara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0100" y="908685"/>
            <a:ext cx="952500" cy="30480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青年潜力</a:t>
            </a:r>
            <a:endParaRPr lang="en-US" sz="1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0100" y="1196658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有热情 · 无经验 —— 容错与成长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652588"/>
            <a:ext cx="10668000" cy="57150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990600" y="1652588"/>
            <a:ext cx="102108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满腔热血的年轻人，为什么干不了多久就变得消极被动？</a:t>
            </a:r>
            <a:endParaRPr lang="en-US" sz="15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2509838"/>
            <a:ext cx="3362325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9" name="Text 7"/>
          <p:cNvSpPr/>
          <p:nvPr/>
        </p:nvSpPr>
        <p:spPr>
          <a:xfrm>
            <a:off x="990600" y="2700338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90600" y="3176588"/>
            <a:ext cx="2905125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阶梯式布置任务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0600" y="3557588"/>
            <a:ext cx="2905125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从辅助性工作逐步过渡到独立负责模块，再参与核心重点攻关。让其在每一步都能收获成就感，持续保护干事创业的热情与动力。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14825" y="2509838"/>
            <a:ext cx="3371850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13" name="Text 11"/>
          <p:cNvSpPr/>
          <p:nvPr/>
        </p:nvSpPr>
        <p:spPr>
          <a:xfrm>
            <a:off x="4543425" y="2700338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02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43425" y="3176588"/>
            <a:ext cx="291465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区分两类错误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43425" y="3557588"/>
            <a:ext cx="2914650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技术探索与创新中的试错，以指导改进、复盘优化为主；因责任心缺失、态度散漫导致的疏漏，则需从严管理，明确红线与底线。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77175" y="2509838"/>
            <a:ext cx="3552825" cy="2667000"/>
          </a:xfrm>
          <a:prstGeom prst="roundRect">
            <a:avLst>
              <a:gd name="adj" fmla="val 6000"/>
            </a:avLst>
          </a:prstGeom>
          <a:solidFill>
            <a:srgbClr val="F8F6F3"/>
          </a:solidFill>
        </p:spPr>
      </p:sp>
      <p:sp>
        <p:nvSpPr>
          <p:cNvPr id="17" name="Text 15"/>
          <p:cNvSpPr/>
          <p:nvPr/>
        </p:nvSpPr>
        <p:spPr>
          <a:xfrm>
            <a:off x="8105775" y="2700338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03</a:t>
            </a:r>
            <a:endParaRPr 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05775" y="3176588"/>
            <a:ext cx="3095625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善用“苏格拉底式提问”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05775" y="3557588"/>
            <a:ext cx="3095625" cy="1381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不直接否定方案，而是通过连续提问引导其自主发现问题。如问“方案的核心优势是什么？”“若出现突发情况有何风险？”，以此锻炼独立思考与解决问题的能力。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5510213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▲ </a:t>
            </a:r>
            <a:r>
              <a:rPr lang="zh-CN" alt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管理心法：容错不是放任，是给成长的空间；引导不是指责，是给思考的机会。</a:t>
            </a:r>
            <a:endParaRPr lang="zh-CN" altLang="en-US" sz="13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</a:t>
            </a:r>
            <a:r>
              <a:rPr lang="en-US" altLang="zh-CN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                       </a:t>
            </a:r>
            <a:r>
              <a:rPr lang="zh-CN" alt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留住潜力股的关键，是让他在试错中看见进步，在引导中学会独立。</a:t>
            </a:r>
            <a:endParaRPr lang="zh-CN" altLang="en-US" sz="13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0" y="908685"/>
            <a:ext cx="952500" cy="304800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762000" y="908685"/>
            <a:ext cx="952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倦怠老将</a:t>
            </a:r>
            <a:endParaRPr lang="en-US" sz="1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7715" y="1213485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有能力 · 无干劲 —— 唤醒与公平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700530"/>
            <a:ext cx="10668000" cy="467995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990600" y="1666875"/>
            <a:ext cx="10210800" cy="45593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能力出众的老同事逐步躺平，仅仅是思想松懈吗？</a:t>
            </a:r>
            <a:endParaRPr lang="en-US" sz="15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031864" y="3252005"/>
            <a:ext cx="4775453" cy="1149646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1208733" y="3340439"/>
            <a:ext cx="442172" cy="31836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</a:t>
            </a:r>
            <a:endParaRPr lang="en-US" sz="21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695121" y="3394090"/>
            <a:ext cx="1768686" cy="2653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优化团队分工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208733" y="3694177"/>
            <a:ext cx="4421715" cy="5306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2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攻坚任务轮流分摊，打破少数人负重、部分人清闲的失衡局面，让责任分配回归公平，消解“干多干少一个样”的消极心态。</a:t>
            </a: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118016" y="3252005"/>
            <a:ext cx="4775453" cy="1149646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337922" y="3340439"/>
            <a:ext cx="442172" cy="31836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02</a:t>
            </a:r>
            <a:endParaRPr lang="en-US" sz="2100" b="1" dirty="0">
              <a:solidFill>
                <a:srgbClr val="C17A3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824311" y="3367559"/>
            <a:ext cx="1768686" cy="2653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 defTabSz="914400" fontAlgn="base">
              <a:lnSpc>
                <a:spcPct val="117000"/>
              </a:lnSpc>
              <a:defRPr/>
            </a:pPr>
            <a:r>
              <a:rPr lang="en-US" sz="1350" b="1" dirty="0" err="1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一对一坦诚沟通（建安全区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337922" y="3694177"/>
            <a:ext cx="4421715" cy="5306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2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选私密场合先倾听委屈与顾虑，让他感受到被理解和尊重，而非被指责；在信任的基础上，再探讨职业规划与未来价值。</a:t>
            </a: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1031864" y="4666954"/>
            <a:ext cx="4775453" cy="1149646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1208733" y="4755388"/>
            <a:ext cx="442172" cy="31836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2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03</a:t>
            </a:r>
            <a:endParaRPr lang="en-US" sz="2100" b="1" dirty="0">
              <a:solidFill>
                <a:srgbClr val="C17A3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695121" y="4827315"/>
            <a:ext cx="2210858" cy="2653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匹配专项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业务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，重塑价值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208733" y="5109126"/>
            <a:ext cx="4421715" cy="5306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2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结合其专业特长分配核心固定模块，让他成为领域内的“定海神针”，重新找到被团队需要、不可替代的存在感与价值感。</a:t>
            </a: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161054" y="4666954"/>
            <a:ext cx="4775453" cy="1149646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337922" y="4755388"/>
            <a:ext cx="442172" cy="3183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04</a:t>
            </a:r>
            <a:endParaRPr lang="en-US" sz="21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824311" y="4808449"/>
            <a:ext cx="2210858" cy="2653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 defTabSz="914400" fontAlgn="base">
              <a:lnSpc>
                <a:spcPct val="117000"/>
              </a:lnSpc>
              <a:defRPr/>
            </a:pPr>
            <a:r>
              <a:rPr lang="en-US" sz="1350" b="1" dirty="0" err="1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用“问题”激发参与感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37922" y="5109126"/>
            <a:ext cx="4421715" cy="5306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2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遇到难题时主动请教：“张工，您经验丰富，觉得这个问题的关键突破口在哪？”，以尊重与认可唤醒其参与热情与责任感。</a:t>
            </a: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2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0255" y="5942965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defTabSz="914400" fontAlgn="base">
              <a:lnSpc>
                <a:spcPct val="15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▲</a:t>
            </a:r>
            <a:r>
              <a:rPr lang="en-US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 核心认知：</a:t>
            </a:r>
            <a:r>
              <a:rPr lang="zh-CN" altLang="en-US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老将的倦怠从来不是单纯的“躺平”，而是长期价值感的消退与公平感的失衡。</a:t>
            </a:r>
            <a:endParaRPr lang="zh-CN" altLang="en-US" sz="13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</a:t>
            </a:r>
            <a:r>
              <a:rPr lang="en-US" altLang="zh-CN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                          </a:t>
            </a:r>
            <a:r>
              <a:rPr lang="zh-CN" altLang="en-US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唯有通过重塑价值归属、回归分配公平，才能真正唤醒其沉睡的干事热情与专业能量。</a:t>
            </a:r>
            <a:endParaRPr lang="zh-CN" altLang="en-US" sz="13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grpSp>
        <p:nvGrpSpPr>
          <p:cNvPr id="2" name="组合 1"/>
          <p:cNvGrpSpPr/>
          <p:nvPr>
            <p:custDataLst>
              <p:tags r:id="rId17"/>
            </p:custDataLst>
          </p:nvPr>
        </p:nvGrpSpPr>
        <p:grpSpPr>
          <a:xfrm>
            <a:off x="1031240" y="2275840"/>
            <a:ext cx="9873615" cy="856615"/>
            <a:chOff x="1200" y="2792"/>
            <a:chExt cx="16560" cy="2612"/>
          </a:xfrm>
        </p:grpSpPr>
        <p:sp>
          <p:nvSpPr>
            <p:cNvPr id="25" name="Shape 4"/>
            <p:cNvSpPr/>
            <p:nvPr>
              <p:custDataLst>
                <p:tags r:id="rId18"/>
              </p:custDataLst>
            </p:nvPr>
          </p:nvSpPr>
          <p:spPr>
            <a:xfrm>
              <a:off x="1200" y="2792"/>
              <a:ext cx="8025" cy="2612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6" name="Shape 5"/>
            <p:cNvSpPr/>
            <p:nvPr>
              <p:custDataLst>
                <p:tags r:id="rId19"/>
              </p:custDataLst>
            </p:nvPr>
          </p:nvSpPr>
          <p:spPr>
            <a:xfrm>
              <a:off x="1664" y="3014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39117" y="86420"/>
                  </a:moveTo>
                  <a:lnTo>
                    <a:pt x="254000" y="106958"/>
                  </a:lnTo>
                  <a:lnTo>
                    <a:pt x="268883" y="86420"/>
                  </a:lnTo>
                  <a:cubicBezTo>
                    <a:pt x="293688" y="52090"/>
                    <a:pt x="333573" y="31750"/>
                    <a:pt x="375940" y="31750"/>
                  </a:cubicBezTo>
                  <a:cubicBezTo>
                    <a:pt x="448866" y="31750"/>
                    <a:pt x="508000" y="90884"/>
                    <a:pt x="508000" y="163810"/>
                  </a:cubicBezTo>
                  <a:lnTo>
                    <a:pt x="508000" y="166390"/>
                  </a:lnTo>
                  <a:cubicBezTo>
                    <a:pt x="508000" y="277713"/>
                    <a:pt x="369193" y="406995"/>
                    <a:pt x="296763" y="462260"/>
                  </a:cubicBezTo>
                  <a:cubicBezTo>
                    <a:pt x="284460" y="471587"/>
                    <a:pt x="269379" y="476250"/>
                    <a:pt x="254000" y="476250"/>
                  </a:cubicBezTo>
                  <a:cubicBezTo>
                    <a:pt x="238621" y="476250"/>
                    <a:pt x="223441" y="471686"/>
                    <a:pt x="211237" y="462260"/>
                  </a:cubicBezTo>
                  <a:cubicBezTo>
                    <a:pt x="138807" y="406995"/>
                    <a:pt x="0" y="277713"/>
                    <a:pt x="0" y="166390"/>
                  </a:cubicBezTo>
                  <a:lnTo>
                    <a:pt x="0" y="163810"/>
                  </a:lnTo>
                  <a:cubicBezTo>
                    <a:pt x="0" y="90884"/>
                    <a:pt x="59134" y="31750"/>
                    <a:pt x="132060" y="31750"/>
                  </a:cubicBezTo>
                  <a:cubicBezTo>
                    <a:pt x="174427" y="31750"/>
                    <a:pt x="214313" y="52090"/>
                    <a:pt x="239117" y="8642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Text 6"/>
            <p:cNvSpPr/>
            <p:nvPr>
              <p:custDataLst>
                <p:tags r:id="rId20"/>
              </p:custDataLst>
            </p:nvPr>
          </p:nvSpPr>
          <p:spPr>
            <a:xfrm>
              <a:off x="2489" y="3014"/>
              <a:ext cx="6450" cy="54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ranienbaum" panose="02000506080000020003" pitchFamily="34" charset="-120"/>
                </a:rPr>
                <a:t>接纳阶段性的疲惫</a:t>
              </a:r>
              <a:endParaRPr lang="en-US" sz="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endParaRPr>
            </a:p>
          </p:txBody>
        </p:sp>
        <p:sp>
          <p:nvSpPr>
            <p:cNvPr id="28" name="Text 7"/>
            <p:cNvSpPr/>
            <p:nvPr>
              <p:custDataLst>
                <p:tags r:id="rId21"/>
              </p:custDataLst>
            </p:nvPr>
          </p:nvSpPr>
          <p:spPr>
            <a:xfrm>
              <a:off x="1674" y="3615"/>
              <a:ext cx="7267" cy="162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60000"/>
                </a:lnSpc>
              </a:pPr>
              <a:r>
                <a:rPr lang="en-US" sz="9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• 老员工也曾是团队的中坚力量              • 长期高压和缺乏认可导致了倦怠</a:t>
              </a:r>
              <a:endParaRPr 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60000"/>
                </a:lnSpc>
              </a:pPr>
              <a:r>
                <a:rPr lang="en-US" sz="9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• 给他们时间和空间重新找回状态          • 用公平的环境和尊重的态度对待</a:t>
              </a:r>
              <a:endParaRPr lang="en-US" sz="9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9" name="Shape 8"/>
            <p:cNvSpPr/>
            <p:nvPr>
              <p:custDataLst>
                <p:tags r:id="rId22"/>
              </p:custDataLst>
            </p:nvPr>
          </p:nvSpPr>
          <p:spPr>
            <a:xfrm>
              <a:off x="9766" y="2792"/>
              <a:ext cx="7994" cy="2612"/>
            </a:xfrm>
            <a:prstGeom prst="roundRect">
              <a:avLst>
                <a:gd name="adj" fmla="val 6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30" name="Shape 9"/>
            <p:cNvSpPr/>
            <p:nvPr>
              <p:custDataLst>
                <p:tags r:id="rId23"/>
              </p:custDataLst>
            </p:nvPr>
          </p:nvSpPr>
          <p:spPr>
            <a:xfrm>
              <a:off x="10364" y="3014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258564" y="0"/>
                    <a:pt x="263128" y="992"/>
                    <a:pt x="267295" y="2877"/>
                  </a:cubicBezTo>
                  <a:lnTo>
                    <a:pt x="454223" y="82153"/>
                  </a:lnTo>
                  <a:cubicBezTo>
                    <a:pt x="476052" y="91380"/>
                    <a:pt x="492323" y="112911"/>
                    <a:pt x="492224" y="138906"/>
                  </a:cubicBezTo>
                  <a:cubicBezTo>
                    <a:pt x="491728" y="237331"/>
                    <a:pt x="451247" y="417413"/>
                    <a:pt x="280293" y="499269"/>
                  </a:cubicBezTo>
                  <a:cubicBezTo>
                    <a:pt x="263723" y="507206"/>
                    <a:pt x="244475" y="507206"/>
                    <a:pt x="227905" y="499269"/>
                  </a:cubicBezTo>
                  <a:cubicBezTo>
                    <a:pt x="56852" y="417413"/>
                    <a:pt x="16470" y="237331"/>
                    <a:pt x="15974" y="138906"/>
                  </a:cubicBezTo>
                  <a:cubicBezTo>
                    <a:pt x="15875" y="112911"/>
                    <a:pt x="32147" y="91380"/>
                    <a:pt x="53975" y="82153"/>
                  </a:cubicBezTo>
                  <a:lnTo>
                    <a:pt x="240804" y="2877"/>
                  </a:lnTo>
                  <a:cubicBezTo>
                    <a:pt x="244971" y="992"/>
                    <a:pt x="249436" y="0"/>
                    <a:pt x="254000" y="0"/>
                  </a:cubicBezTo>
                  <a:close/>
                  <a:moveTo>
                    <a:pt x="254000" y="66278"/>
                  </a:moveTo>
                  <a:lnTo>
                    <a:pt x="254000" y="441424"/>
                  </a:lnTo>
                  <a:cubicBezTo>
                    <a:pt x="390922" y="375146"/>
                    <a:pt x="427732" y="228302"/>
                    <a:pt x="428625" y="140395"/>
                  </a:cubicBezTo>
                  <a:lnTo>
                    <a:pt x="254000" y="66377"/>
                  </a:lnTo>
                  <a:lnTo>
                    <a:pt x="254000" y="66377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Text 10"/>
            <p:cNvSpPr/>
            <p:nvPr>
              <p:custDataLst>
                <p:tags r:id="rId24"/>
              </p:custDataLst>
            </p:nvPr>
          </p:nvSpPr>
          <p:spPr>
            <a:xfrm>
              <a:off x="11189" y="3014"/>
              <a:ext cx="6450" cy="54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9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ranienbaum" panose="02000506080000020003" pitchFamily="34" charset="-120"/>
                </a:rPr>
                <a:t>守住团队风气底线</a:t>
              </a:r>
              <a:endParaRPr 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endParaRPr>
            </a:p>
          </p:txBody>
        </p:sp>
        <p:sp>
          <p:nvSpPr>
            <p:cNvPr id="32" name="Text 11"/>
            <p:cNvSpPr/>
            <p:nvPr>
              <p:custDataLst>
                <p:tags r:id="rId25"/>
              </p:custDataLst>
            </p:nvPr>
          </p:nvSpPr>
          <p:spPr>
            <a:xfrm>
              <a:off x="10513" y="3669"/>
              <a:ext cx="7154" cy="154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60000"/>
                </a:lnSpc>
              </a:pPr>
              <a:r>
                <a:rPr lang="en-US" sz="9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• 不能让踏实肯干的人心寒                     • 不能让"躺平"成为团队常态   </a:t>
              </a:r>
              <a:endParaRPr lang="en-US" sz="9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  <a:p>
              <a:pPr algn="l" defTabSz="914400" fontAlgn="base">
                <a:lnSpc>
                  <a:spcPct val="160000"/>
                </a:lnSpc>
              </a:pPr>
              <a:r>
                <a:rPr lang="en-US" sz="900" b="1" dirty="0">
                  <a:solidFill>
                    <a:srgbClr val="2D29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• 用评价机制让担当者获得更多机会     • 长期安于现状就失去资源倾斜</a:t>
              </a:r>
              <a:endParaRPr lang="en-US" sz="9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95325" y="908685"/>
            <a:ext cx="952500" cy="304800"/>
          </a:xfrm>
          <a:prstGeom prst="roundRect">
            <a:avLst>
              <a:gd name="adj" fmla="val 10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695325" y="913765"/>
            <a:ext cx="952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基础执行</a:t>
            </a:r>
            <a:endParaRPr lang="en-US" sz="1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5325" y="1218565"/>
            <a:ext cx="66675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无能力 · 无追求 —— 明确与稳定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95325" y="1700530"/>
            <a:ext cx="10668000" cy="57150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7" name="Text 5"/>
          <p:cNvSpPr/>
          <p:nvPr/>
        </p:nvSpPr>
        <p:spPr>
          <a:xfrm>
            <a:off x="767080" y="1700530"/>
            <a:ext cx="102108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对只求安稳的员工不断拔高标准，是不是管理者和员工双方都内耗？</a:t>
            </a:r>
            <a:endParaRPr lang="en-US" sz="15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762000" y="2447925"/>
            <a:ext cx="5143500" cy="32385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047750" y="2733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571625" y="2733675"/>
            <a:ext cx="409575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管理定位</a:t>
            </a:r>
            <a:r>
              <a:rPr lang="zh-CN" alt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：扬长避短，明确边界</a:t>
            </a:r>
            <a:endParaRPr lang="zh-CN" altLang="en-US" sz="16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047750" y="3305175"/>
            <a:ext cx="4619625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•不必紧盯短板反复苛求，接纳能力现状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•立足岗位用好稳定性，发挥踏实特质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•清晰界定岗位职责，量化交付标准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•及时肯定踏实履职的表现，强化正向反馈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•做好基础业务辅导，而非拔高式要求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286500" y="2447925"/>
            <a:ext cx="5143500" cy="323850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572250" y="2733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9117" y="86420"/>
                </a:moveTo>
                <a:lnTo>
                  <a:pt x="254000" y="106958"/>
                </a:lnTo>
                <a:lnTo>
                  <a:pt x="268883" y="86420"/>
                </a:lnTo>
                <a:cubicBezTo>
                  <a:pt x="293688" y="52090"/>
                  <a:pt x="333573" y="31750"/>
                  <a:pt x="375940" y="31750"/>
                </a:cubicBezTo>
                <a:cubicBezTo>
                  <a:pt x="448866" y="31750"/>
                  <a:pt x="508000" y="90884"/>
                  <a:pt x="508000" y="163810"/>
                </a:cubicBezTo>
                <a:lnTo>
                  <a:pt x="508000" y="166390"/>
                </a:lnTo>
                <a:cubicBezTo>
                  <a:pt x="508000" y="277713"/>
                  <a:pt x="369193" y="406995"/>
                  <a:pt x="296763" y="462260"/>
                </a:cubicBezTo>
                <a:cubicBezTo>
                  <a:pt x="284460" y="471587"/>
                  <a:pt x="269379" y="476250"/>
                  <a:pt x="254000" y="476250"/>
                </a:cubicBezTo>
                <a:cubicBezTo>
                  <a:pt x="238621" y="476250"/>
                  <a:pt x="223441" y="471686"/>
                  <a:pt x="211237" y="462260"/>
                </a:cubicBezTo>
                <a:cubicBezTo>
                  <a:pt x="138807" y="406995"/>
                  <a:pt x="0" y="277713"/>
                  <a:pt x="0" y="166390"/>
                </a:cubicBezTo>
                <a:lnTo>
                  <a:pt x="0" y="163810"/>
                </a:lnTo>
                <a:cubicBezTo>
                  <a:pt x="0" y="90884"/>
                  <a:pt x="59134" y="31750"/>
                  <a:pt x="132060" y="31750"/>
                </a:cubicBezTo>
                <a:cubicBezTo>
                  <a:pt x="174427" y="31750"/>
                  <a:pt x="214313" y="52090"/>
                  <a:pt x="239117" y="8642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7096125" y="2733675"/>
            <a:ext cx="409575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核心原则</a:t>
            </a:r>
            <a:r>
              <a:rPr lang="zh-CN" alt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：设计清晰的“选择架构”</a:t>
            </a:r>
            <a:endParaRPr lang="zh-CN" altLang="en-US" sz="16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572250" y="3305175"/>
            <a:ext cx="4619625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管理的本质不是将人人塑造成精英，而是让每个人在适配的位置释放价值。为这类员工搭建清晰、无歧义的工作流程与标准，能有效降低其决策负担与焦虑感。</a:t>
            </a: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通过标准化减少不确定性，让他们在熟悉的框架内安稳履职，这不仅能保证基础业务的稳定输出，更是一种减少双方内耗、低成本高效能的管理智慧。</a:t>
            </a: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4497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 lnSpcReduction="10000"/>
          </a:bodyPr>
          <a:lstStyle/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你在团队日常管理中用错过激励方式吗？</a:t>
            </a:r>
            <a:b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有什么负面影响？</a:t>
            </a:r>
            <a:b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现在回想起来哪里有改善空间？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95500"/>
            <a:ext cx="1905000" cy="6667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03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2857500"/>
            <a:ext cx="571500" cy="285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762000" y="3048000"/>
            <a:ext cx="5715000" cy="4762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正向管理原则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3667125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全员通用的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引导式管理</a:t>
            </a: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逻辑</a:t>
            </a:r>
            <a:endParaRPr 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23570" y="1700530"/>
            <a:ext cx="10668000" cy="22860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047750" y="1844675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703705" y="1978025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对事严格，待人温和</a:t>
            </a:r>
            <a:endParaRPr lang="en-US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55370" y="2493010"/>
            <a:ext cx="10096500" cy="1238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业务风险和质量短板必须较真，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这是对结果负责的底线；同时要真诚认可所有人的辛苦付出，看见团队的每一份努力。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核心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逻辑</a:t>
            </a: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：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只针对工作问题本身进行批评指正，绝不否定个人的能力与价值。这是</a:t>
            </a:r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守护团队干事本心的关键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，让成员清楚：事错了改就行，人永远是被信任和尊重的。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622935" y="4048125"/>
            <a:ext cx="10668635" cy="22860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55370" y="4261485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02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1703705" y="4394835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兼顾过程激励，不只考核最终结果</a:t>
            </a:r>
            <a:endParaRPr lang="en-US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047750" y="4857750"/>
            <a:ext cx="10096500" cy="1238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研发项目周期长、变数多，只盯着结局，很容易磨灭中途的付出。一个项目失败了，但团队在其中积累的经验和努力值得被看见。</a:t>
            </a:r>
            <a:endParaRPr 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800"/>
              </a:spcBef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落地方式</a:t>
            </a: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：在关键节点给予正向反馈</a:t>
            </a: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与肯定</a:t>
            </a: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，及时肯定过程中的努力和进步。让团队感受到——</a:t>
            </a: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每一步都算数。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" name="Text 1"/>
          <p:cNvSpPr/>
          <p:nvPr/>
        </p:nvSpPr>
        <p:spPr>
          <a:xfrm>
            <a:off x="911225" y="958850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正向管理原则</a:t>
            </a:r>
            <a:endParaRPr lang="en-US" sz="2100" b="1" dirty="0" err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1225" y="1412875"/>
            <a:ext cx="7620000" cy="2476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  <a:buClrTx/>
              <a:buSzTx/>
              <a:buFontTx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始终紧扣扬长避短、激发善意这条主线</a:t>
            </a:r>
            <a:endParaRPr 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1225" y="958850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正向管理原则</a:t>
            </a:r>
            <a:endParaRPr lang="en-US" sz="2100" b="1" dirty="0" err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1225" y="1412875"/>
            <a:ext cx="7620000" cy="2476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  <a:buClrTx/>
              <a:buSzTx/>
              <a:buFontTx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始终紧扣扬长避短、激发善意这条主线</a:t>
            </a:r>
            <a:endParaRPr 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44675"/>
            <a:ext cx="10668000" cy="22860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Text 4"/>
          <p:cNvSpPr/>
          <p:nvPr/>
        </p:nvSpPr>
        <p:spPr>
          <a:xfrm>
            <a:off x="1055370" y="2060575"/>
            <a:ext cx="5715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03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03705" y="2193925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分类施策，守住整体公平</a:t>
            </a:r>
            <a:endParaRPr lang="en-US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2708910"/>
            <a:ext cx="10096500" cy="1238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管理方法因人而异，做到人尽其才。对骨干充分授权，对青年耐心培养，对老将公平唤醒，对执行明确标准。</a:t>
            </a:r>
            <a:endParaRPr 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差异化管理不是不公平，恰恰是为了</a:t>
            </a: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让每个人都在适合自己的方式下发挥最大价值</a:t>
            </a: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。公平才是长久留住人心的根基。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4208145"/>
            <a:ext cx="10668000" cy="20701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Text 8"/>
          <p:cNvSpPr/>
          <p:nvPr/>
        </p:nvSpPr>
        <p:spPr>
          <a:xfrm>
            <a:off x="1007745" y="4437380"/>
            <a:ext cx="619125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04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03705" y="4570730"/>
            <a:ext cx="5715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多给方法路径，少做负面否定</a:t>
            </a:r>
            <a:endParaRPr lang="en-US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5370" y="5040630"/>
            <a:ext cx="10096500" cy="1238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管理是带人成长，核心是激发人向上向善，而不是单纯约束管控。说"不行"的时候，要同时告诉"怎样才行"。</a:t>
            </a:r>
            <a:endParaRPr 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每一次否定都应该伴随建设性的方向指引。让团队感受到——</a:t>
            </a: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管理者是来帮助我成长的，不是来挑我毛病的</a:t>
            </a: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95500"/>
            <a:ext cx="1905000" cy="666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04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2857500"/>
            <a:ext cx="571500" cy="285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defTabSz="914400" fontAlgn="base"/>
            <a:endParaRPr lang="zh-CN" altLang="en-US" sz="1800" b="1" dirty="0">
              <a:latin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048000"/>
            <a:ext cx="5715000" cy="4762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管理困境与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认知升级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3667125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从“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管控</a:t>
            </a: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”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到</a:t>
            </a:r>
            <a:r>
              <a:rPr lang="en-US" altLang="zh-CN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“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引导</a:t>
            </a:r>
            <a:r>
              <a:rPr lang="en-US" altLang="zh-CN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”</a:t>
            </a:r>
            <a:r>
              <a: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，为何需要转变？</a:t>
            </a:r>
            <a:endParaRPr lang="zh-CN" alt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2059" y="5445209"/>
            <a:ext cx="10531156" cy="953135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lvl="0" algn="l" defTabSz="914400" fontAlgn="base">
              <a:buClrTx/>
              <a:buSzTx/>
              <a:buFontTx/>
            </a:pP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互动 05：你有尝试通过引导“改变”过你身边的人吗？</a:t>
            </a:r>
            <a:b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</a:t>
            </a:r>
            <a:r>
              <a: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有用过讲道理吗？困难吗？</a:t>
            </a:r>
            <a:endParaRPr lang="zh-CN" altLang="en-US" sz="2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623392" y="1052736"/>
            <a:ext cx="10768632" cy="5034756"/>
            <a:chOff x="1016000" y="698500"/>
            <a:chExt cx="14224000" cy="6921500"/>
          </a:xfrm>
        </p:grpSpPr>
        <p:sp>
          <p:nvSpPr>
            <p:cNvPr id="2" name="Text 1"/>
            <p:cNvSpPr/>
            <p:nvPr/>
          </p:nvSpPr>
          <p:spPr>
            <a:xfrm>
              <a:off x="1016000" y="698500"/>
              <a:ext cx="1016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 err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ranienbaum" panose="02000506080000020003" pitchFamily="34" charset="-120"/>
                  <a:sym typeface="+mn-ea"/>
                </a:rPr>
                <a:t>说服失效的底层逻辑</a:t>
              </a:r>
              <a:endParaRPr lang="en-US" sz="2100" b="1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endParaRPr>
            </a:p>
          </p:txBody>
        </p:sp>
        <p:sp>
          <p:nvSpPr>
            <p:cNvPr id="3" name="Shape 2"/>
            <p:cNvSpPr/>
            <p:nvPr/>
          </p:nvSpPr>
          <p:spPr>
            <a:xfrm>
              <a:off x="1016000" y="1587500"/>
              <a:ext cx="50800" cy="6350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4" name="Text 3"/>
            <p:cNvSpPr/>
            <p:nvPr/>
          </p:nvSpPr>
          <p:spPr>
            <a:xfrm>
              <a:off x="1270000" y="1587500"/>
              <a:ext cx="6985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01</a:t>
              </a:r>
              <a:endParaRPr 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5" name="Text 4"/>
            <p:cNvSpPr/>
            <p:nvPr/>
          </p:nvSpPr>
          <p:spPr>
            <a:xfrm>
              <a:off x="2125102" y="1391957"/>
              <a:ext cx="6604000" cy="889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说服的底层假设是人是理性的，但神经科学发现人是先有情绪再用大脑找理由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6" name="Shape 5"/>
            <p:cNvSpPr/>
            <p:nvPr/>
          </p:nvSpPr>
          <p:spPr>
            <a:xfrm>
              <a:off x="1016000" y="2603500"/>
              <a:ext cx="50800" cy="6350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7" name="Text 6"/>
            <p:cNvSpPr/>
            <p:nvPr/>
          </p:nvSpPr>
          <p:spPr>
            <a:xfrm>
              <a:off x="1270000" y="2603500"/>
              <a:ext cx="6985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02</a:t>
              </a:r>
              <a:endParaRPr 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8" name="Text 7"/>
            <p:cNvSpPr/>
            <p:nvPr/>
          </p:nvSpPr>
          <p:spPr>
            <a:xfrm>
              <a:off x="2062195" y="2456842"/>
              <a:ext cx="6604000" cy="889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人在听你讲话时，杏仁核比前额叶皮层更早反应，情绪先于理性判断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9" name="Shape 8"/>
            <p:cNvSpPr/>
            <p:nvPr/>
          </p:nvSpPr>
          <p:spPr>
            <a:xfrm>
              <a:off x="1016000" y="3619500"/>
              <a:ext cx="50800" cy="6350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10" name="Text 9"/>
            <p:cNvSpPr/>
            <p:nvPr/>
          </p:nvSpPr>
          <p:spPr>
            <a:xfrm>
              <a:off x="1270000" y="3619500"/>
              <a:ext cx="6985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03</a:t>
              </a:r>
              <a:endParaRPr 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1" name="Text 10"/>
            <p:cNvSpPr/>
            <p:nvPr/>
          </p:nvSpPr>
          <p:spPr>
            <a:xfrm>
              <a:off x="2062195" y="3433558"/>
              <a:ext cx="6604000" cy="889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人本能地不会承认自己的情绪判断是错的，因此讲道理越充分，对方防御心理越强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12" name="Shape 11"/>
            <p:cNvSpPr/>
            <p:nvPr/>
          </p:nvSpPr>
          <p:spPr>
            <a:xfrm>
              <a:off x="1016000" y="4635500"/>
              <a:ext cx="50800" cy="6350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13" name="Text 12"/>
            <p:cNvSpPr/>
            <p:nvPr/>
          </p:nvSpPr>
          <p:spPr>
            <a:xfrm>
              <a:off x="1270000" y="4635500"/>
              <a:ext cx="6985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04</a:t>
              </a:r>
              <a:endParaRPr 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4" name="Text 13"/>
            <p:cNvSpPr/>
            <p:nvPr/>
          </p:nvSpPr>
          <p:spPr>
            <a:xfrm>
              <a:off x="2062195" y="4508048"/>
              <a:ext cx="6604000" cy="889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  <a:sym typeface="+mn-ea"/>
                </a:rPr>
                <a:t>说服的本质是试图改变对方的情绪判断，但人不是被道理改变的，而是被环境改变的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15" name="Shape 14"/>
            <p:cNvSpPr/>
            <p:nvPr/>
          </p:nvSpPr>
          <p:spPr>
            <a:xfrm>
              <a:off x="1016000" y="6223000"/>
              <a:ext cx="7620000" cy="1397000"/>
            </a:xfrm>
            <a:prstGeom prst="roundRect">
              <a:avLst>
                <a:gd name="adj" fmla="val 8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6" name="Shape 15"/>
            <p:cNvSpPr/>
            <p:nvPr/>
          </p:nvSpPr>
          <p:spPr>
            <a:xfrm>
              <a:off x="1397000" y="647700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271238" y="266700"/>
                  </a:moveTo>
                  <a:cubicBezTo>
                    <a:pt x="277998" y="251212"/>
                    <a:pt x="291518" y="237182"/>
                    <a:pt x="306798" y="225098"/>
                  </a:cubicBezTo>
                  <a:cubicBezTo>
                    <a:pt x="337079" y="201206"/>
                    <a:pt x="355600" y="168910"/>
                    <a:pt x="355600" y="133350"/>
                  </a:cubicBezTo>
                  <a:cubicBezTo>
                    <a:pt x="355600" y="59730"/>
                    <a:pt x="275960" y="0"/>
                    <a:pt x="177800" y="0"/>
                  </a:cubicBezTo>
                  <a:cubicBezTo>
                    <a:pt x="79640" y="0"/>
                    <a:pt x="0" y="59730"/>
                    <a:pt x="0" y="133350"/>
                  </a:cubicBezTo>
                  <a:cubicBezTo>
                    <a:pt x="0" y="168910"/>
                    <a:pt x="18521" y="201206"/>
                    <a:pt x="48802" y="225098"/>
                  </a:cubicBezTo>
                  <a:cubicBezTo>
                    <a:pt x="64082" y="237182"/>
                    <a:pt x="77695" y="251212"/>
                    <a:pt x="84362" y="266700"/>
                  </a:cubicBezTo>
                  <a:lnTo>
                    <a:pt x="271145" y="266700"/>
                  </a:lnTo>
                  <a:close/>
                  <a:moveTo>
                    <a:pt x="266700" y="300038"/>
                  </a:moveTo>
                  <a:lnTo>
                    <a:pt x="88900" y="300038"/>
                  </a:lnTo>
                  <a:lnTo>
                    <a:pt x="88900" y="311150"/>
                  </a:lnTo>
                  <a:cubicBezTo>
                    <a:pt x="88900" y="341848"/>
                    <a:pt x="122052" y="366712"/>
                    <a:pt x="162983" y="366712"/>
                  </a:cubicBezTo>
                  <a:lnTo>
                    <a:pt x="192617" y="366712"/>
                  </a:lnTo>
                  <a:cubicBezTo>
                    <a:pt x="233548" y="366712"/>
                    <a:pt x="266700" y="341848"/>
                    <a:pt x="266700" y="311150"/>
                  </a:cubicBezTo>
                  <a:lnTo>
                    <a:pt x="266700" y="300038"/>
                  </a:lnTo>
                  <a:close/>
                  <a:moveTo>
                    <a:pt x="170392" y="77788"/>
                  </a:moveTo>
                  <a:cubicBezTo>
                    <a:pt x="133535" y="77788"/>
                    <a:pt x="103717" y="100151"/>
                    <a:pt x="103717" y="127794"/>
                  </a:cubicBezTo>
                  <a:cubicBezTo>
                    <a:pt x="103717" y="137031"/>
                    <a:pt x="93808" y="144463"/>
                    <a:pt x="81492" y="144463"/>
                  </a:cubicBezTo>
                  <a:cubicBezTo>
                    <a:pt x="69175" y="144463"/>
                    <a:pt x="59267" y="137031"/>
                    <a:pt x="59267" y="127794"/>
                  </a:cubicBezTo>
                  <a:cubicBezTo>
                    <a:pt x="59267" y="81746"/>
                    <a:pt x="108995" y="44450"/>
                    <a:pt x="170392" y="44450"/>
                  </a:cubicBezTo>
                  <a:cubicBezTo>
                    <a:pt x="182708" y="44450"/>
                    <a:pt x="192617" y="51881"/>
                    <a:pt x="192617" y="61119"/>
                  </a:cubicBezTo>
                  <a:cubicBezTo>
                    <a:pt x="192617" y="70356"/>
                    <a:pt x="182708" y="77788"/>
                    <a:pt x="170392" y="77788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7" name="Text 16"/>
            <p:cNvSpPr/>
            <p:nvPr/>
          </p:nvSpPr>
          <p:spPr>
            <a:xfrm>
              <a:off x="1905000" y="6434225"/>
              <a:ext cx="2540000" cy="3556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核心洞察</a:t>
              </a:r>
              <a:endParaRPr 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8" name="Text 17"/>
            <p:cNvSpPr/>
            <p:nvPr/>
          </p:nvSpPr>
          <p:spPr>
            <a:xfrm>
              <a:off x="1871530" y="6920975"/>
              <a:ext cx="6857658" cy="444338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4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当你开始"说服"的那一刻，你已经输了</a:t>
              </a:r>
              <a:endPara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19" name="Shape 18"/>
            <p:cNvSpPr/>
            <p:nvPr/>
          </p:nvSpPr>
          <p:spPr>
            <a:xfrm>
              <a:off x="9398000" y="1524000"/>
              <a:ext cx="5842000" cy="6096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0" name="Text 19"/>
            <p:cNvSpPr/>
            <p:nvPr/>
          </p:nvSpPr>
          <p:spPr>
            <a:xfrm>
              <a:off x="9779000" y="1841500"/>
              <a:ext cx="5080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Liter" pitchFamily="34" charset="-120"/>
                </a:rPr>
                <a:t>大脑决策流程</a:t>
              </a:r>
              <a:endPara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1" name="Shape 20"/>
            <p:cNvSpPr/>
            <p:nvPr/>
          </p:nvSpPr>
          <p:spPr>
            <a:xfrm>
              <a:off x="10033000" y="2476500"/>
              <a:ext cx="4572000" cy="698500"/>
            </a:xfrm>
            <a:prstGeom prst="roundRect">
              <a:avLst>
                <a:gd name="adj" fmla="val 10000"/>
              </a:avLst>
            </a:prstGeom>
            <a:solidFill>
              <a:srgbClr val="C4A265"/>
            </a:solidFill>
          </p:spPr>
        </p:sp>
        <p:sp>
          <p:nvSpPr>
            <p:cNvPr id="22" name="Text 21"/>
            <p:cNvSpPr/>
            <p:nvPr/>
          </p:nvSpPr>
          <p:spPr>
            <a:xfrm>
              <a:off x="10033000" y="2476500"/>
              <a:ext cx="4572000" cy="698500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+mn-ea"/>
                  <a:cs typeface="Quattrocento Sans" pitchFamily="34" charset="-120"/>
                </a:rPr>
                <a:t>外界刺激 → 杏仁核反应（情绪）</a:t>
              </a:r>
              <a:endParaRPr lang="en-US" sz="1600" b="1" dirty="0">
                <a:solidFill>
                  <a:srgbClr val="FFFFFF"/>
                </a:solidFill>
                <a:latin typeface="+mn-ea"/>
                <a:cs typeface="Quattrocento Sans" pitchFamily="34" charset="-120"/>
              </a:endParaRPr>
            </a:p>
          </p:txBody>
        </p:sp>
        <p:sp>
          <p:nvSpPr>
            <p:cNvPr id="23" name="Shape 22"/>
            <p:cNvSpPr/>
            <p:nvPr/>
          </p:nvSpPr>
          <p:spPr>
            <a:xfrm>
              <a:off x="12192000" y="3302000"/>
              <a:ext cx="254000" cy="381000"/>
            </a:xfrm>
            <a:custGeom>
              <a:avLst/>
              <a:gdLst/>
              <a:ahLst/>
              <a:cxnLst/>
              <a:rect l="l" t="t" r="r" b="b"/>
              <a:pathLst>
                <a:path w="254000" h="381000">
                  <a:moveTo>
                    <a:pt x="112051" y="374005"/>
                  </a:moveTo>
                  <a:cubicBezTo>
                    <a:pt x="120319" y="383307"/>
                    <a:pt x="133747" y="383307"/>
                    <a:pt x="142015" y="374005"/>
                  </a:cubicBezTo>
                  <a:lnTo>
                    <a:pt x="247848" y="254943"/>
                  </a:lnTo>
                  <a:cubicBezTo>
                    <a:pt x="256117" y="245641"/>
                    <a:pt x="256117" y="230535"/>
                    <a:pt x="247848" y="221233"/>
                  </a:cubicBezTo>
                  <a:cubicBezTo>
                    <a:pt x="239580" y="211931"/>
                    <a:pt x="226153" y="211931"/>
                    <a:pt x="217884" y="221233"/>
                  </a:cubicBezTo>
                  <a:lnTo>
                    <a:pt x="148167" y="299665"/>
                  </a:lnTo>
                  <a:lnTo>
                    <a:pt x="148167" y="23812"/>
                  </a:lnTo>
                  <a:cubicBezTo>
                    <a:pt x="148167" y="10641"/>
                    <a:pt x="138708" y="0"/>
                    <a:pt x="127000" y="0"/>
                  </a:cubicBezTo>
                  <a:cubicBezTo>
                    <a:pt x="115292" y="0"/>
                    <a:pt x="105833" y="10641"/>
                    <a:pt x="105833" y="23812"/>
                  </a:cubicBezTo>
                  <a:lnTo>
                    <a:pt x="105833" y="299665"/>
                  </a:lnTo>
                  <a:lnTo>
                    <a:pt x="36116" y="221233"/>
                  </a:lnTo>
                  <a:cubicBezTo>
                    <a:pt x="27847" y="211931"/>
                    <a:pt x="14420" y="211931"/>
                    <a:pt x="6152" y="221233"/>
                  </a:cubicBezTo>
                  <a:cubicBezTo>
                    <a:pt x="-2117" y="230535"/>
                    <a:pt x="-2117" y="245641"/>
                    <a:pt x="6152" y="254943"/>
                  </a:cubicBezTo>
                  <a:lnTo>
                    <a:pt x="111985" y="374005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24" name="Shape 23"/>
            <p:cNvSpPr/>
            <p:nvPr/>
          </p:nvSpPr>
          <p:spPr>
            <a:xfrm>
              <a:off x="10033000" y="3810000"/>
              <a:ext cx="4572000" cy="69850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Text 24"/>
            <p:cNvSpPr/>
            <p:nvPr/>
          </p:nvSpPr>
          <p:spPr>
            <a:xfrm>
              <a:off x="10033000" y="3810000"/>
              <a:ext cx="4572000" cy="6985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前额叶皮层寻找理由（理性）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26" name="Shape 25"/>
            <p:cNvSpPr/>
            <p:nvPr/>
          </p:nvSpPr>
          <p:spPr>
            <a:xfrm>
              <a:off x="12192000" y="4635500"/>
              <a:ext cx="254000" cy="381000"/>
            </a:xfrm>
            <a:custGeom>
              <a:avLst/>
              <a:gdLst/>
              <a:ahLst/>
              <a:cxnLst/>
              <a:rect l="l" t="t" r="r" b="b"/>
              <a:pathLst>
                <a:path w="254000" h="381000">
                  <a:moveTo>
                    <a:pt x="112051" y="374005"/>
                  </a:moveTo>
                  <a:cubicBezTo>
                    <a:pt x="120319" y="383307"/>
                    <a:pt x="133747" y="383307"/>
                    <a:pt x="142015" y="374005"/>
                  </a:cubicBezTo>
                  <a:lnTo>
                    <a:pt x="247848" y="254943"/>
                  </a:lnTo>
                  <a:cubicBezTo>
                    <a:pt x="256117" y="245641"/>
                    <a:pt x="256117" y="230535"/>
                    <a:pt x="247848" y="221233"/>
                  </a:cubicBezTo>
                  <a:cubicBezTo>
                    <a:pt x="239580" y="211931"/>
                    <a:pt x="226153" y="211931"/>
                    <a:pt x="217884" y="221233"/>
                  </a:cubicBezTo>
                  <a:lnTo>
                    <a:pt x="148167" y="299665"/>
                  </a:lnTo>
                  <a:lnTo>
                    <a:pt x="148167" y="23812"/>
                  </a:lnTo>
                  <a:cubicBezTo>
                    <a:pt x="148167" y="10641"/>
                    <a:pt x="138708" y="0"/>
                    <a:pt x="127000" y="0"/>
                  </a:cubicBezTo>
                  <a:cubicBezTo>
                    <a:pt x="115292" y="0"/>
                    <a:pt x="105833" y="10641"/>
                    <a:pt x="105833" y="23812"/>
                  </a:cubicBezTo>
                  <a:lnTo>
                    <a:pt x="105833" y="299665"/>
                  </a:lnTo>
                  <a:lnTo>
                    <a:pt x="36116" y="221233"/>
                  </a:lnTo>
                  <a:cubicBezTo>
                    <a:pt x="27847" y="211931"/>
                    <a:pt x="14420" y="211931"/>
                    <a:pt x="6152" y="221233"/>
                  </a:cubicBezTo>
                  <a:cubicBezTo>
                    <a:pt x="-2117" y="230535"/>
                    <a:pt x="-2117" y="245641"/>
                    <a:pt x="6152" y="254943"/>
                  </a:cubicBezTo>
                  <a:lnTo>
                    <a:pt x="111985" y="374005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27" name="Shape 26"/>
            <p:cNvSpPr/>
            <p:nvPr/>
          </p:nvSpPr>
          <p:spPr>
            <a:xfrm>
              <a:off x="10033000" y="5143500"/>
              <a:ext cx="4572000" cy="698500"/>
            </a:xfrm>
            <a:prstGeom prst="roundRect">
              <a:avLst>
                <a:gd name="adj" fmla="val 10000"/>
              </a:avLst>
            </a:prstGeom>
            <a:solidFill>
              <a:srgbClr val="8B9D8B"/>
            </a:solidFill>
          </p:spPr>
        </p:sp>
        <p:sp>
          <p:nvSpPr>
            <p:cNvPr id="28" name="Text 27"/>
            <p:cNvSpPr/>
            <p:nvPr/>
          </p:nvSpPr>
          <p:spPr>
            <a:xfrm>
              <a:off x="10033000" y="5143500"/>
              <a:ext cx="4572000" cy="698500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rgbClr val="FFFFFF"/>
                  </a:solidFill>
                  <a:latin typeface="+mn-ea"/>
                  <a:cs typeface="Quattrocento Sans" pitchFamily="34" charset="-120"/>
                  <a:sym typeface="+mn-ea"/>
                </a:rPr>
                <a:t>形成决策（情绪已先入为主）</a:t>
              </a:r>
              <a:endParaRPr lang="en-US" sz="1600" b="1" dirty="0">
                <a:solidFill>
                  <a:srgbClr val="FFFFFF"/>
                </a:solidFill>
                <a:latin typeface="+mn-ea"/>
                <a:cs typeface="Quattrocento Sans" pitchFamily="34" charset="-120"/>
                <a:sym typeface="+mn-ea"/>
              </a:endParaRPr>
            </a:p>
          </p:txBody>
        </p:sp>
        <p:sp>
          <p:nvSpPr>
            <p:cNvPr id="29" name="Text 28"/>
            <p:cNvSpPr/>
            <p:nvPr/>
          </p:nvSpPr>
          <p:spPr>
            <a:xfrm>
              <a:off x="10051453" y="6433610"/>
              <a:ext cx="4572000" cy="635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 defTabSz="914400" fontAlgn="base">
                <a:lnSpc>
                  <a:spcPct val="140000"/>
                </a:lnSpc>
              </a:pPr>
              <a:r>
                <a:rPr lang="en-US" sz="14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说服试图在第三步介入</a:t>
              </a:r>
              <a:br>
                <a:rPr lang="en-US" sz="14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</a:br>
              <a:r>
                <a:rPr lang="en-US" sz="14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但影响力已在第一步完成</a:t>
              </a:r>
              <a:endParaRPr 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9470" y="875665"/>
            <a:ext cx="66675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新晋管理者常见的误区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：为何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说服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尝尝失效？</a:t>
            </a:r>
            <a:endParaRPr lang="zh-CN" alt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9470" y="1391920"/>
            <a:ext cx="7620000" cy="2076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</a:pPr>
            <a:r>
              <a:rPr lang="zh-CN" alt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从单向“说服管控”到双向“引导激发”，避开管理沟通的三大认知陷阱</a:t>
            </a:r>
            <a:endParaRPr lang="zh-CN" alt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defTabSz="914400" fontAlgn="base">
              <a:lnSpc>
                <a:spcPct val="140000"/>
              </a:lnSpc>
            </a:pPr>
            <a:endParaRPr lang="zh-CN" alt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34060" y="1652270"/>
            <a:ext cx="3429000" cy="2381250"/>
          </a:xfrm>
          <a:prstGeom prst="roundRect">
            <a:avLst>
              <a:gd name="adj" fmla="val 8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62660" y="189039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603" y="65544"/>
                </a:moveTo>
                <a:cubicBezTo>
                  <a:pt x="50721" y="54382"/>
                  <a:pt x="26551" y="54382"/>
                  <a:pt x="11668" y="65544"/>
                </a:cubicBezTo>
                <a:cubicBezTo>
                  <a:pt x="-3215" y="76706"/>
                  <a:pt x="-3215" y="94833"/>
                  <a:pt x="11668" y="105995"/>
                </a:cubicBezTo>
                <a:lnTo>
                  <a:pt x="175260" y="228600"/>
                </a:lnTo>
                <a:lnTo>
                  <a:pt x="11787" y="351294"/>
                </a:lnTo>
                <a:cubicBezTo>
                  <a:pt x="-3096" y="362456"/>
                  <a:pt x="-3096" y="380583"/>
                  <a:pt x="11787" y="391745"/>
                </a:cubicBezTo>
                <a:cubicBezTo>
                  <a:pt x="26670" y="402908"/>
                  <a:pt x="50840" y="402908"/>
                  <a:pt x="65723" y="391745"/>
                </a:cubicBezTo>
                <a:lnTo>
                  <a:pt x="229195" y="269051"/>
                </a:lnTo>
                <a:lnTo>
                  <a:pt x="392787" y="391656"/>
                </a:lnTo>
                <a:cubicBezTo>
                  <a:pt x="407670" y="402818"/>
                  <a:pt x="431840" y="402818"/>
                  <a:pt x="446723" y="391656"/>
                </a:cubicBezTo>
                <a:cubicBezTo>
                  <a:pt x="461605" y="380494"/>
                  <a:pt x="461605" y="362367"/>
                  <a:pt x="446723" y="351205"/>
                </a:cubicBezTo>
                <a:lnTo>
                  <a:pt x="283131" y="228600"/>
                </a:lnTo>
                <a:lnTo>
                  <a:pt x="446603" y="105906"/>
                </a:lnTo>
                <a:cubicBezTo>
                  <a:pt x="461486" y="94744"/>
                  <a:pt x="461486" y="76617"/>
                  <a:pt x="446603" y="65455"/>
                </a:cubicBezTo>
                <a:cubicBezTo>
                  <a:pt x="431721" y="54293"/>
                  <a:pt x="407551" y="54293"/>
                  <a:pt x="392668" y="65455"/>
                </a:cubicBezTo>
                <a:lnTo>
                  <a:pt x="229195" y="188149"/>
                </a:lnTo>
                <a:lnTo>
                  <a:pt x="65603" y="65544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62660" y="2366645"/>
            <a:ext cx="295275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习惯纠错，缺少认可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962660" y="2728595"/>
            <a:ext cx="2952750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对问题敏锐，却忽略员工的付出与进步。长期只有指责、缺少肯定，再饱满的热情也会冷却。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353560" y="1652270"/>
            <a:ext cx="3429000" cy="2381250"/>
          </a:xfrm>
          <a:prstGeom prst="roundRect">
            <a:avLst>
              <a:gd name="adj" fmla="val 8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582160" y="189039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136178" y="263872"/>
                </a:lnTo>
                <a:cubicBezTo>
                  <a:pt x="124926" y="259497"/>
                  <a:pt x="112782" y="257175"/>
                  <a:pt x="100013" y="257175"/>
                </a:cubicBezTo>
                <a:cubicBezTo>
                  <a:pt x="44738" y="257175"/>
                  <a:pt x="0" y="301913"/>
                  <a:pt x="0" y="357188"/>
                </a:cubicBezTo>
                <a:cubicBezTo>
                  <a:pt x="0" y="412462"/>
                  <a:pt x="44738" y="457200"/>
                  <a:pt x="100013" y="457200"/>
                </a:cubicBezTo>
                <a:cubicBezTo>
                  <a:pt x="155287" y="457200"/>
                  <a:pt x="200025" y="412462"/>
                  <a:pt x="200025" y="357188"/>
                </a:cubicBezTo>
                <a:cubicBezTo>
                  <a:pt x="200025" y="344418"/>
                  <a:pt x="197614" y="332274"/>
                  <a:pt x="193328" y="321022"/>
                </a:cubicBezTo>
                <a:lnTo>
                  <a:pt x="445770" y="68580"/>
                </a:lnTo>
                <a:cubicBezTo>
                  <a:pt x="452110" y="62240"/>
                  <a:pt x="452110" y="52060"/>
                  <a:pt x="445770" y="45720"/>
                </a:cubicBezTo>
                <a:cubicBezTo>
                  <a:pt x="420499" y="20449"/>
                  <a:pt x="379601" y="20449"/>
                  <a:pt x="354330" y="45720"/>
                </a:cubicBezTo>
                <a:lnTo>
                  <a:pt x="228600" y="171450"/>
                </a:lnTo>
                <a:lnTo>
                  <a:pt x="193328" y="136178"/>
                </a:lnTo>
                <a:cubicBezTo>
                  <a:pt x="197703" y="124926"/>
                  <a:pt x="200025" y="112782"/>
                  <a:pt x="200025" y="100013"/>
                </a:cubicBez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cubicBezTo>
                  <a:pt x="0" y="155287"/>
                  <a:pt x="44738" y="200025"/>
                  <a:pt x="100013" y="200025"/>
                </a:cubicBezTo>
                <a:cubicBezTo>
                  <a:pt x="112782" y="200025"/>
                  <a:pt x="124926" y="197614"/>
                  <a:pt x="136178" y="193328"/>
                </a:cubicBezTo>
                <a:lnTo>
                  <a:pt x="171450" y="228600"/>
                </a:lnTo>
                <a:close/>
                <a:moveTo>
                  <a:pt x="258872" y="316022"/>
                </a:moveTo>
                <a:lnTo>
                  <a:pt x="354330" y="411480"/>
                </a:lnTo>
                <a:cubicBezTo>
                  <a:pt x="379601" y="436751"/>
                  <a:pt x="420499" y="436751"/>
                  <a:pt x="445770" y="411480"/>
                </a:cubicBezTo>
                <a:cubicBezTo>
                  <a:pt x="452110" y="405140"/>
                  <a:pt x="452110" y="394960"/>
                  <a:pt x="445770" y="388620"/>
                </a:cubicBezTo>
                <a:lnTo>
                  <a:pt x="316022" y="258872"/>
                </a:lnTo>
                <a:lnTo>
                  <a:pt x="258872" y="316022"/>
                </a:lnTo>
                <a:close/>
                <a:moveTo>
                  <a:pt x="57150" y="100013"/>
                </a:moveTo>
                <a:cubicBezTo>
                  <a:pt x="57150" y="76356"/>
                  <a:pt x="76356" y="57150"/>
                  <a:pt x="100012" y="57150"/>
                </a:cubicBezTo>
                <a:cubicBezTo>
                  <a:pt x="123669" y="57150"/>
                  <a:pt x="142875" y="76356"/>
                  <a:pt x="142875" y="100012"/>
                </a:cubicBezTo>
                <a:cubicBezTo>
                  <a:pt x="142875" y="123669"/>
                  <a:pt x="123669" y="142875"/>
                  <a:pt x="100013" y="142875"/>
                </a:cubicBezTo>
                <a:cubicBezTo>
                  <a:pt x="76356" y="142875"/>
                  <a:pt x="57150" y="123669"/>
                  <a:pt x="57150" y="100013"/>
                </a:cubicBezTo>
                <a:close/>
                <a:moveTo>
                  <a:pt x="100013" y="314325"/>
                </a:moveTo>
                <a:cubicBezTo>
                  <a:pt x="123669" y="314325"/>
                  <a:pt x="142875" y="333531"/>
                  <a:pt x="142875" y="357188"/>
                </a:cubicBezTo>
                <a:cubicBezTo>
                  <a:pt x="142875" y="380844"/>
                  <a:pt x="123669" y="400050"/>
                  <a:pt x="100013" y="400050"/>
                </a:cubicBezTo>
                <a:cubicBezTo>
                  <a:pt x="76356" y="400050"/>
                  <a:pt x="57150" y="380844"/>
                  <a:pt x="57150" y="357188"/>
                </a:cubicBezTo>
                <a:cubicBezTo>
                  <a:pt x="57150" y="333531"/>
                  <a:pt x="76356" y="314325"/>
                  <a:pt x="100012" y="31432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582160" y="2366645"/>
            <a:ext cx="295275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管理手段一刀切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582160" y="2728595"/>
            <a:ext cx="2952750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忽视员工的性格、能力与需求差异，用同一套标准要求所有人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。激励和人员特质不匹配，事倍功半。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7973060" y="1652270"/>
            <a:ext cx="3429000" cy="2381250"/>
          </a:xfrm>
          <a:prstGeom prst="roundRect">
            <a:avLst>
              <a:gd name="adj" fmla="val 8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8201660" y="189039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8201660" y="2366645"/>
            <a:ext cx="295275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只会加压，缺少疏导</a:t>
            </a:r>
            <a:endParaRPr 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8201660" y="2708910"/>
            <a:ext cx="2952750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遇到问题轻易将原因定性为“态度差”，忽视员工的实际困难、情绪压力与工作困境。只施压不疏导，只问责不倾听，让员工陷入心理防御，拒绝沟通与配合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10668000" cy="200025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Shape 16"/>
          <p:cNvSpPr/>
          <p:nvPr/>
        </p:nvSpPr>
        <p:spPr>
          <a:xfrm>
            <a:off x="1143000" y="4429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Text 17"/>
          <p:cNvSpPr/>
          <p:nvPr/>
        </p:nvSpPr>
        <p:spPr>
          <a:xfrm>
            <a:off x="1600200" y="4410075"/>
            <a:ext cx="3810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核心提醒</a:t>
            </a:r>
            <a:r>
              <a:rPr lang="zh-CN" alt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：当你开始</a:t>
            </a:r>
            <a:r>
              <a:rPr lang="en-US" alt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“</a:t>
            </a:r>
            <a:r>
              <a:rPr lang="zh-CN" alt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说服</a:t>
            </a:r>
            <a:r>
              <a:rPr lang="en-US" alt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”</a:t>
            </a:r>
            <a:r>
              <a:rPr lang="zh-CN" alt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的那一刻，你已经输了</a:t>
            </a:r>
            <a:endParaRPr lang="zh-CN" altLang="en-US" sz="16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4797425"/>
            <a:ext cx="10154285" cy="1000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说服的底层逻辑是“我对你错”，而人是先有情绪再找理由的感性生物。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一旦开启“说服模式”，对方的心理防御会瞬间启动，沟通变成对抗。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真正的引导，是放下“说服欲”，通过设计信息环境、抛出关键问题，让对方自己看到答案，实现自我说服与内在认同。</a:t>
            </a:r>
            <a:endParaRPr lang="zh-CN" alt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endParaRPr lang="zh-CN" alt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7715" y="908685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管理的本质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：从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改变他人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设计环境</a:t>
            </a:r>
            <a:r>
              <a:rPr lang="en-US" altLang="zh-CN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2000" y="1348264"/>
            <a:ext cx="3429000" cy="2190750"/>
          </a:xfrm>
          <a:prstGeom prst="roundRect">
            <a:avLst>
              <a:gd name="adj" fmla="val 8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047750" y="16340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47750" y="2157889"/>
            <a:ext cx="285750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rgbClr val="FFFFFF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保障目标落地</a:t>
            </a:r>
            <a:endParaRPr lang="en-US" sz="1650" b="1" dirty="0">
              <a:solidFill>
                <a:srgbClr val="FFFFFF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47750" y="2538730"/>
            <a:ext cx="30099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组织存在的本质，是通过协同机制保障整体目标的有效落地，而非简单的任务分配与监督。</a:t>
            </a: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367530" y="1348264"/>
            <a:ext cx="3429000" cy="2190750"/>
          </a:xfrm>
          <a:prstGeom prst="roundRect">
            <a:avLst>
              <a:gd name="adj" fmla="val 8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667250" y="16340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7155" y="84534"/>
                </a:moveTo>
                <a:lnTo>
                  <a:pt x="134320" y="213122"/>
                </a:lnTo>
                <a:cubicBezTo>
                  <a:pt x="130263" y="218182"/>
                  <a:pt x="130440" y="226020"/>
                  <a:pt x="134761" y="230882"/>
                </a:cubicBezTo>
                <a:cubicBezTo>
                  <a:pt x="161660" y="261144"/>
                  <a:pt x="205317" y="261144"/>
                  <a:pt x="232216" y="230882"/>
                </a:cubicBezTo>
                <a:lnTo>
                  <a:pt x="260262" y="199330"/>
                </a:lnTo>
                <a:cubicBezTo>
                  <a:pt x="263966" y="195163"/>
                  <a:pt x="268640" y="192881"/>
                  <a:pt x="273403" y="192484"/>
                </a:cubicBezTo>
                <a:cubicBezTo>
                  <a:pt x="279400" y="191889"/>
                  <a:pt x="285574" y="194171"/>
                  <a:pt x="290160" y="199330"/>
                </a:cubicBezTo>
                <a:lnTo>
                  <a:pt x="445911" y="373063"/>
                </a:lnTo>
                <a:lnTo>
                  <a:pt x="508000" y="317500"/>
                </a:lnTo>
                <a:lnTo>
                  <a:pt x="508000" y="31750"/>
                </a:lnTo>
                <a:lnTo>
                  <a:pt x="409222" y="95250"/>
                </a:lnTo>
                <a:lnTo>
                  <a:pt x="388232" y="79474"/>
                </a:lnTo>
                <a:cubicBezTo>
                  <a:pt x="374297" y="69056"/>
                  <a:pt x="357981" y="63500"/>
                  <a:pt x="341224" y="63500"/>
                </a:cubicBezTo>
                <a:lnTo>
                  <a:pt x="279135" y="63500"/>
                </a:lnTo>
                <a:cubicBezTo>
                  <a:pt x="278165" y="63500"/>
                  <a:pt x="277107" y="63500"/>
                  <a:pt x="276137" y="63599"/>
                </a:cubicBezTo>
                <a:cubicBezTo>
                  <a:pt x="261232" y="64492"/>
                  <a:pt x="247209" y="72033"/>
                  <a:pt x="237155" y="84534"/>
                </a:cubicBezTo>
                <a:close/>
                <a:moveTo>
                  <a:pt x="102835" y="181273"/>
                </a:moveTo>
                <a:lnTo>
                  <a:pt x="197026" y="63500"/>
                </a:lnTo>
                <a:lnTo>
                  <a:pt x="162101" y="63500"/>
                </a:lnTo>
                <a:cubicBezTo>
                  <a:pt x="139612" y="63500"/>
                  <a:pt x="118092" y="73521"/>
                  <a:pt x="102217" y="91380"/>
                </a:cubicBezTo>
                <a:lnTo>
                  <a:pt x="98778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37936" y="446782"/>
                </a:lnTo>
                <a:cubicBezTo>
                  <a:pt x="158221" y="465832"/>
                  <a:pt x="183797" y="476250"/>
                  <a:pt x="210167" y="476250"/>
                </a:cubicBezTo>
                <a:lnTo>
                  <a:pt x="224014" y="476250"/>
                </a:lnTo>
                <a:lnTo>
                  <a:pt x="217840" y="469305"/>
                </a:lnTo>
                <a:cubicBezTo>
                  <a:pt x="209550" y="459978"/>
                  <a:pt x="209550" y="444897"/>
                  <a:pt x="217840" y="435670"/>
                </a:cubicBezTo>
                <a:cubicBezTo>
                  <a:pt x="226131" y="426442"/>
                  <a:pt x="239536" y="426343"/>
                  <a:pt x="247738" y="435670"/>
                </a:cubicBezTo>
                <a:lnTo>
                  <a:pt x="283898" y="476349"/>
                </a:lnTo>
                <a:lnTo>
                  <a:pt x="291835" y="476349"/>
                </a:lnTo>
                <a:cubicBezTo>
                  <a:pt x="308681" y="476349"/>
                  <a:pt x="325173" y="472083"/>
                  <a:pt x="340166" y="464145"/>
                </a:cubicBezTo>
                <a:lnTo>
                  <a:pt x="316618" y="437555"/>
                </a:lnTo>
                <a:cubicBezTo>
                  <a:pt x="308328" y="428228"/>
                  <a:pt x="308328" y="413147"/>
                  <a:pt x="316618" y="403920"/>
                </a:cubicBezTo>
                <a:cubicBezTo>
                  <a:pt x="324908" y="394692"/>
                  <a:pt x="338314" y="394593"/>
                  <a:pt x="346516" y="403920"/>
                </a:cubicBezTo>
                <a:lnTo>
                  <a:pt x="374738" y="435670"/>
                </a:lnTo>
                <a:lnTo>
                  <a:pt x="390172" y="418306"/>
                </a:lnTo>
                <a:cubicBezTo>
                  <a:pt x="398022" y="409476"/>
                  <a:pt x="400315" y="396677"/>
                  <a:pt x="396875" y="385465"/>
                </a:cubicBezTo>
                <a:lnTo>
                  <a:pt x="275255" y="249734"/>
                </a:lnTo>
                <a:lnTo>
                  <a:pt x="262114" y="264517"/>
                </a:lnTo>
                <a:cubicBezTo>
                  <a:pt x="218634" y="313432"/>
                  <a:pt x="148255" y="313432"/>
                  <a:pt x="104775" y="264517"/>
                </a:cubicBezTo>
                <a:cubicBezTo>
                  <a:pt x="84490" y="241697"/>
                  <a:pt x="83697" y="205085"/>
                  <a:pt x="102835" y="181173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667250" y="2157889"/>
            <a:ext cx="285750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发挥长处</a:t>
            </a:r>
            <a:endParaRPr lang="en-US" sz="165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667250" y="2538730"/>
            <a:ext cx="29337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用人的核心在于识别并发挥每个人的长处，而非死盯着短板不放，让个体优势转化为团队合力。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8001000" y="1348264"/>
            <a:ext cx="3429000" cy="2190750"/>
          </a:xfrm>
          <a:prstGeom prst="roundRect">
            <a:avLst>
              <a:gd name="adj" fmla="val 8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8286750" y="16340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9117" y="86420"/>
                </a:moveTo>
                <a:lnTo>
                  <a:pt x="254000" y="106958"/>
                </a:lnTo>
                <a:lnTo>
                  <a:pt x="268883" y="86420"/>
                </a:lnTo>
                <a:cubicBezTo>
                  <a:pt x="293688" y="52090"/>
                  <a:pt x="333573" y="31750"/>
                  <a:pt x="375940" y="31750"/>
                </a:cubicBezTo>
                <a:cubicBezTo>
                  <a:pt x="448866" y="31750"/>
                  <a:pt x="508000" y="90884"/>
                  <a:pt x="508000" y="163810"/>
                </a:cubicBezTo>
                <a:lnTo>
                  <a:pt x="508000" y="166390"/>
                </a:lnTo>
                <a:cubicBezTo>
                  <a:pt x="508000" y="277713"/>
                  <a:pt x="369193" y="406995"/>
                  <a:pt x="296763" y="462260"/>
                </a:cubicBezTo>
                <a:cubicBezTo>
                  <a:pt x="284460" y="471587"/>
                  <a:pt x="269379" y="476250"/>
                  <a:pt x="254000" y="476250"/>
                </a:cubicBezTo>
                <a:cubicBezTo>
                  <a:pt x="238621" y="476250"/>
                  <a:pt x="223441" y="471686"/>
                  <a:pt x="211237" y="462260"/>
                </a:cubicBezTo>
                <a:cubicBezTo>
                  <a:pt x="138807" y="406995"/>
                  <a:pt x="0" y="277713"/>
                  <a:pt x="0" y="166390"/>
                </a:cubicBezTo>
                <a:lnTo>
                  <a:pt x="0" y="163810"/>
                </a:lnTo>
                <a:cubicBezTo>
                  <a:pt x="0" y="90884"/>
                  <a:pt x="59134" y="31750"/>
                  <a:pt x="132060" y="31750"/>
                </a:cubicBezTo>
                <a:cubicBezTo>
                  <a:pt x="174427" y="31750"/>
                  <a:pt x="214313" y="52090"/>
                  <a:pt x="239117" y="8642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286750" y="2157889"/>
            <a:ext cx="2857500" cy="285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65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</a:rPr>
              <a:t>唤醒善意</a:t>
            </a:r>
            <a:endParaRPr lang="en-US" sz="165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286750" y="2538730"/>
            <a:ext cx="2990215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50000"/>
              </a:lnSpc>
            </a:pP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管理的深层内核，是唤醒人内心向上向善的善意，激发个体主动创造价值的源动力与责任感。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5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7080" y="3933349"/>
            <a:ext cx="10668000" cy="238125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Text 15"/>
          <p:cNvSpPr/>
          <p:nvPr/>
        </p:nvSpPr>
        <p:spPr>
          <a:xfrm>
            <a:off x="1143000" y="4157980"/>
            <a:ext cx="5715000" cy="2914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endParaRPr lang="zh-CN" alt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  <a:p>
            <a:pPr algn="l" defTabSz="914400" fontAlgn="base">
              <a:lnSpc>
                <a:spcPct val="120000"/>
              </a:lnSpc>
            </a:pPr>
            <a:r>
              <a:rPr lang="zh-CN" altLang="en-US" sz="16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认知升级：从“改变他人”转向“设计环境”</a:t>
            </a:r>
            <a:endParaRPr lang="zh-CN" alt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  <a:p>
            <a:pPr algn="l" defTabSz="914400" fontAlgn="base">
              <a:lnSpc>
                <a:spcPct val="120000"/>
              </a:lnSpc>
            </a:pPr>
            <a:endParaRPr lang="zh-CN" altLang="en-US" sz="16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634389"/>
            <a:ext cx="9906000" cy="1428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我们总想直接说服或改变他人，却常引发对抗。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真正的影响力发生在对话前——我们缺的不是说服技巧，而是设计“信息环境”的能力，让对方产生自我改变的动力。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zh-CN" altLang="en-US" sz="15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这是从“管控式管理”到“引导式赋能”的关键跃迁：不试图改变人的想法，而是通过环境设计，让改变自然发生</a:t>
            </a:r>
            <a:endParaRPr lang="zh-CN" altLang="en-US" sz="15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462613" y="980728"/>
            <a:ext cx="11480647" cy="5400600"/>
            <a:chOff x="1016000" y="698500"/>
            <a:chExt cx="14353251" cy="8064500"/>
          </a:xfrm>
        </p:grpSpPr>
        <p:sp>
          <p:nvSpPr>
            <p:cNvPr id="31" name="Text 1"/>
            <p:cNvSpPr/>
            <p:nvPr/>
          </p:nvSpPr>
          <p:spPr>
            <a:xfrm>
              <a:off x="1016000" y="698500"/>
              <a:ext cx="1143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选择架构——看不见的引导力量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Shape 2"/>
            <p:cNvSpPr/>
            <p:nvPr/>
          </p:nvSpPr>
          <p:spPr>
            <a:xfrm>
              <a:off x="1016000" y="1524000"/>
              <a:ext cx="6858000" cy="3048000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</p:sp>
        <p:sp>
          <p:nvSpPr>
            <p:cNvPr id="33" name="Shape 3"/>
            <p:cNvSpPr/>
            <p:nvPr/>
          </p:nvSpPr>
          <p:spPr>
            <a:xfrm>
              <a:off x="1397000" y="184150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70933" y="114300"/>
                  </a:moveTo>
                  <a:cubicBezTo>
                    <a:pt x="270933" y="191452"/>
                    <a:pt x="210256" y="254000"/>
                    <a:pt x="135467" y="254000"/>
                  </a:cubicBezTo>
                  <a:cubicBezTo>
                    <a:pt x="116628" y="254000"/>
                    <a:pt x="98707" y="250031"/>
                    <a:pt x="82409" y="242888"/>
                  </a:cubicBezTo>
                  <a:lnTo>
                    <a:pt x="24836" y="277178"/>
                  </a:lnTo>
                  <a:cubicBezTo>
                    <a:pt x="18274" y="281067"/>
                    <a:pt x="10231" y="279717"/>
                    <a:pt x="4939" y="273844"/>
                  </a:cubicBezTo>
                  <a:cubicBezTo>
                    <a:pt x="-353" y="267970"/>
                    <a:pt x="-1552" y="258842"/>
                    <a:pt x="1976" y="251460"/>
                  </a:cubicBezTo>
                  <a:lnTo>
                    <a:pt x="27093" y="198120"/>
                  </a:lnTo>
                  <a:cubicBezTo>
                    <a:pt x="10089" y="174784"/>
                    <a:pt x="0" y="145733"/>
                    <a:pt x="0" y="114300"/>
                  </a:cubicBezTo>
                  <a:cubicBezTo>
                    <a:pt x="0" y="37147"/>
                    <a:pt x="60678" y="-25400"/>
                    <a:pt x="135467" y="-25400"/>
                  </a:cubicBezTo>
                  <a:cubicBezTo>
                    <a:pt x="210256" y="-25400"/>
                    <a:pt x="270933" y="37147"/>
                    <a:pt x="270933" y="114300"/>
                  </a:cubicBezTo>
                  <a:close/>
                  <a:moveTo>
                    <a:pt x="270933" y="406400"/>
                  </a:moveTo>
                  <a:cubicBezTo>
                    <a:pt x="204541" y="406400"/>
                    <a:pt x="149296" y="357108"/>
                    <a:pt x="137724" y="292100"/>
                  </a:cubicBezTo>
                  <a:cubicBezTo>
                    <a:pt x="222391" y="290909"/>
                    <a:pt x="295981" y="223123"/>
                    <a:pt x="304094" y="131207"/>
                  </a:cubicBezTo>
                  <a:cubicBezTo>
                    <a:pt x="362867" y="146447"/>
                    <a:pt x="406400" y="201295"/>
                    <a:pt x="406400" y="266700"/>
                  </a:cubicBezTo>
                  <a:cubicBezTo>
                    <a:pt x="406400" y="298133"/>
                    <a:pt x="396311" y="327184"/>
                    <a:pt x="379307" y="350520"/>
                  </a:cubicBezTo>
                  <a:lnTo>
                    <a:pt x="404424" y="403860"/>
                  </a:lnTo>
                  <a:cubicBezTo>
                    <a:pt x="407882" y="411242"/>
                    <a:pt x="406682" y="420291"/>
                    <a:pt x="401461" y="426244"/>
                  </a:cubicBezTo>
                  <a:cubicBezTo>
                    <a:pt x="396240" y="432197"/>
                    <a:pt x="388126" y="433546"/>
                    <a:pt x="381564" y="429578"/>
                  </a:cubicBezTo>
                  <a:lnTo>
                    <a:pt x="323991" y="395288"/>
                  </a:lnTo>
                  <a:cubicBezTo>
                    <a:pt x="307693" y="402431"/>
                    <a:pt x="289772" y="406400"/>
                    <a:pt x="270933" y="4064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34" name="Text 4"/>
            <p:cNvSpPr/>
            <p:nvPr/>
          </p:nvSpPr>
          <p:spPr>
            <a:xfrm>
              <a:off x="1968500" y="1841500"/>
              <a:ext cx="2540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苏格拉底产婆术</a:t>
              </a:r>
              <a:endParaRPr lang="en-US" sz="1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5" name="Text 5"/>
            <p:cNvSpPr/>
            <p:nvPr/>
          </p:nvSpPr>
          <p:spPr>
            <a:xfrm>
              <a:off x="1397000" y="2413000"/>
              <a:ext cx="6370899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2000" b="1" i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</a:t>
              </a:r>
              <a:r>
                <a:rPr lang="en-US" sz="18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我不是在灌输答案，而是在引导你自己得出结论"</a:t>
              </a:r>
              <a:endParaRPr lang="en-US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6" name="Text 6"/>
            <p:cNvSpPr/>
            <p:nvPr/>
          </p:nvSpPr>
          <p:spPr>
            <a:xfrm>
              <a:off x="1397000" y="3365500"/>
              <a:ext cx="6096000" cy="889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古希腊哲学家苏格拉底通过连续提问，让对方在对话中自行发现真理——这是最早的"信息环境设计"实践</a:t>
              </a:r>
              <a:endParaRPr lang="en-US" sz="1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7" name="Shape 7"/>
            <p:cNvSpPr/>
            <p:nvPr/>
          </p:nvSpPr>
          <p:spPr>
            <a:xfrm>
              <a:off x="8382000" y="1524000"/>
              <a:ext cx="6858000" cy="3048000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</p:sp>
        <p:sp>
          <p:nvSpPr>
            <p:cNvPr id="38" name="Text 8"/>
            <p:cNvSpPr/>
            <p:nvPr/>
          </p:nvSpPr>
          <p:spPr>
            <a:xfrm>
              <a:off x="8763000" y="1841500"/>
              <a:ext cx="6096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现代行为经济学：选择架构</a:t>
              </a:r>
              <a:endParaRPr lang="en-US" sz="1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9" name="Text 9"/>
            <p:cNvSpPr/>
            <p:nvPr/>
          </p:nvSpPr>
          <p:spPr>
            <a:xfrm>
              <a:off x="8763000" y="2349500"/>
              <a:ext cx="6096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诺贝尔经济学奖得主理查德·塞勒提出：人不是在选择选项，而是在选择你呈现的选项结构。改变选项的排列方式，就能改变人的决策结果</a:t>
              </a:r>
              <a:endParaRPr lang="en-US" sz="1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40" name="Shape 10"/>
            <p:cNvSpPr/>
            <p:nvPr/>
          </p:nvSpPr>
          <p:spPr>
            <a:xfrm>
              <a:off x="1016000" y="5016500"/>
              <a:ext cx="14224000" cy="12700"/>
            </a:xfrm>
            <a:prstGeom prst="rect">
              <a:avLst/>
            </a:prstGeom>
            <a:solidFill>
              <a:srgbClr val="D5D0C8"/>
            </a:solidFill>
          </p:spPr>
        </p:sp>
        <p:sp>
          <p:nvSpPr>
            <p:cNvPr id="41" name="Shape 11"/>
            <p:cNvSpPr/>
            <p:nvPr/>
          </p:nvSpPr>
          <p:spPr>
            <a:xfrm>
              <a:off x="1016000" y="5397500"/>
              <a:ext cx="50800" cy="24765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42" name="Text 12"/>
            <p:cNvSpPr/>
            <p:nvPr/>
          </p:nvSpPr>
          <p:spPr>
            <a:xfrm>
              <a:off x="1333500" y="5397500"/>
              <a:ext cx="2540000" cy="3556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经典案例</a:t>
              </a:r>
              <a:endPara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43" name="Text 13"/>
            <p:cNvSpPr/>
            <p:nvPr/>
          </p:nvSpPr>
          <p:spPr>
            <a:xfrm>
              <a:off x="1333500" y="5842000"/>
              <a:ext cx="6350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器官捐献率的惊人差异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4" name="Text 14"/>
            <p:cNvSpPr/>
            <p:nvPr/>
          </p:nvSpPr>
          <p:spPr>
            <a:xfrm>
              <a:off x="1333500" y="6477000"/>
              <a:ext cx="1270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12%</a:t>
              </a:r>
              <a:endParaRPr lang="en-US" sz="4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45" name="Text 15"/>
            <p:cNvSpPr/>
            <p:nvPr/>
          </p:nvSpPr>
          <p:spPr>
            <a:xfrm>
              <a:off x="1523999" y="7404101"/>
              <a:ext cx="1524001" cy="317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Quattrocento Sans" pitchFamily="34" charset="-120"/>
                </a:rPr>
                <a:t>默认不捐献</a:t>
              </a:r>
              <a:endPara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46" name="Shape 16"/>
            <p:cNvSpPr/>
            <p:nvPr/>
          </p:nvSpPr>
          <p:spPr>
            <a:xfrm>
              <a:off x="3266275" y="6934898"/>
              <a:ext cx="508000" cy="381000"/>
            </a:xfrm>
            <a:custGeom>
              <a:avLst/>
              <a:gdLst/>
              <a:ahLst/>
              <a:cxnLst/>
              <a:rect l="l" t="t" r="r" b="b"/>
              <a:pathLst>
                <a:path w="508000" h="381000">
                  <a:moveTo>
                    <a:pt x="498673" y="207318"/>
                  </a:moveTo>
                  <a:cubicBezTo>
                    <a:pt x="511076" y="198016"/>
                    <a:pt x="511076" y="182910"/>
                    <a:pt x="498673" y="173608"/>
                  </a:cubicBezTo>
                  <a:lnTo>
                    <a:pt x="339923" y="54546"/>
                  </a:lnTo>
                  <a:cubicBezTo>
                    <a:pt x="327521" y="45244"/>
                    <a:pt x="307380" y="45244"/>
                    <a:pt x="294977" y="54546"/>
                  </a:cubicBezTo>
                  <a:cubicBezTo>
                    <a:pt x="282575" y="63847"/>
                    <a:pt x="282575" y="78953"/>
                    <a:pt x="294977" y="88255"/>
                  </a:cubicBezTo>
                  <a:lnTo>
                    <a:pt x="399554" y="166688"/>
                  </a:lnTo>
                  <a:lnTo>
                    <a:pt x="31750" y="166688"/>
                  </a:lnTo>
                  <a:cubicBezTo>
                    <a:pt x="14188" y="166688"/>
                    <a:pt x="0" y="177329"/>
                    <a:pt x="0" y="190500"/>
                  </a:cubicBezTo>
                  <a:cubicBezTo>
                    <a:pt x="0" y="203671"/>
                    <a:pt x="14188" y="214313"/>
                    <a:pt x="31750" y="214313"/>
                  </a:cubicBezTo>
                  <a:lnTo>
                    <a:pt x="399554" y="214313"/>
                  </a:lnTo>
                  <a:lnTo>
                    <a:pt x="294977" y="292745"/>
                  </a:lnTo>
                  <a:cubicBezTo>
                    <a:pt x="282575" y="302047"/>
                    <a:pt x="282575" y="317153"/>
                    <a:pt x="294977" y="326454"/>
                  </a:cubicBezTo>
                  <a:cubicBezTo>
                    <a:pt x="307380" y="335756"/>
                    <a:pt x="327521" y="335756"/>
                    <a:pt x="339923" y="326454"/>
                  </a:cubicBezTo>
                  <a:lnTo>
                    <a:pt x="498673" y="207392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/>
            <a:lstStyle/>
            <a:p>
              <a:pPr defTabSz="914400" fontAlgn="base"/>
              <a:endPara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17"/>
            <p:cNvSpPr/>
            <p:nvPr/>
          </p:nvSpPr>
          <p:spPr>
            <a:xfrm>
              <a:off x="4317768" y="6476953"/>
              <a:ext cx="1524259" cy="63530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99%</a:t>
              </a:r>
              <a:endParaRPr 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48" name="Text 18"/>
            <p:cNvSpPr/>
            <p:nvPr/>
          </p:nvSpPr>
          <p:spPr>
            <a:xfrm>
              <a:off x="4400250" y="7395956"/>
              <a:ext cx="1524001" cy="317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Quattrocento Sans" pitchFamily="34" charset="-120"/>
                </a:rPr>
                <a:t>默认捐献</a:t>
              </a:r>
              <a:endPara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49" name="Text 19"/>
            <p:cNvSpPr/>
            <p:nvPr/>
          </p:nvSpPr>
          <p:spPr>
            <a:xfrm>
              <a:off x="6350000" y="6477000"/>
              <a:ext cx="9019251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同样的国家、同样的文化、同样的法律，仅仅是表格上的默认选项不同，器官捐献率从</a:t>
              </a:r>
              <a:r>
                <a:rPr 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12%</a:t>
              </a: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跃升至</a:t>
              </a:r>
              <a:r>
                <a:rPr lang="en-US" sz="16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99%</a:t>
              </a:r>
              <a:r>
                <a:rPr lang="en-US" sz="16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。没有说服，没有宣传，只是改变了信息的呈现结构</a:t>
              </a:r>
              <a:endParaRPr lang="en-US" sz="1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50" name="Shape 20"/>
            <p:cNvSpPr/>
            <p:nvPr/>
          </p:nvSpPr>
          <p:spPr>
            <a:xfrm>
              <a:off x="1016000" y="8128000"/>
              <a:ext cx="14224000" cy="635000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51" name="Text 21"/>
            <p:cNvSpPr/>
            <p:nvPr/>
          </p:nvSpPr>
          <p:spPr>
            <a:xfrm>
              <a:off x="1397000" y="8128000"/>
              <a:ext cx="13462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Quattrocento Sans" pitchFamily="34" charset="-120"/>
                </a:rPr>
                <a:t>核心洞察：</a:t>
              </a:r>
              <a:r>
                <a:rPr 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Quattrocento Sans" pitchFamily="34" charset="-120"/>
                </a:rPr>
                <a:t>你不需要改变对方的选择，你只需要改变选择的结构</a:t>
              </a:r>
              <a:endPara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/>
        </p:nvSpPr>
        <p:spPr>
          <a:xfrm>
            <a:off x="695400" y="981234"/>
            <a:ext cx="7620000" cy="698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lvl="0" algn="just" defTabSz="914400" fontAlgn="base"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信息环境设计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 —— 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sym typeface="+mn-ea"/>
              </a:rPr>
              <a:t>真正的影响力发生在对话之前</a:t>
            </a: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lvl="0" algn="just" defTabSz="914400" fontAlgn="base">
              <a:buClrTx/>
              <a:buSzTx/>
              <a:buFontTx/>
            </a:pP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Text 4"/>
          <p:cNvSpPr/>
          <p:nvPr/>
        </p:nvSpPr>
        <p:spPr>
          <a:xfrm>
            <a:off x="695400" y="2013744"/>
            <a:ext cx="7620000" cy="44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 defTabSz="914400" fontAlgn="base">
              <a:lnSpc>
                <a:spcPct val="100000"/>
              </a:lnSpc>
              <a:buClrTx/>
              <a:buSzTx/>
              <a:buFontTx/>
            </a:pPr>
            <a:endParaRPr lang="zh-CN" altLang="en-US" sz="18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30697" y="3068930"/>
            <a:ext cx="10531156" cy="953135"/>
            <a:chOff x="939999" y="6669489"/>
            <a:chExt cx="10531156" cy="953135"/>
          </a:xfrm>
        </p:grpSpPr>
        <p:sp>
          <p:nvSpPr>
            <p:cNvPr id="6" name="文本框 5"/>
            <p:cNvSpPr txBox="1"/>
            <p:nvPr/>
          </p:nvSpPr>
          <p:spPr>
            <a:xfrm>
              <a:off x="939999" y="6669489"/>
              <a:ext cx="10531156" cy="953135"/>
            </a:xfrm>
            <a:prstGeom prst="rect">
              <a:avLst/>
            </a:prstGeom>
            <a:effectLst>
              <a:softEdge rad="50800"/>
            </a:effec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spAutoFit/>
            </a:bodyPr>
            <a:lstStyle/>
            <a:p>
              <a:pPr lvl="0" algn="l" defTabSz="914400" fontAlgn="base">
                <a:buClrTx/>
                <a:buSzTx/>
                <a:buFontTx/>
              </a:pPr>
              <a:r>
                <a:rPr lang="zh-CN" altLang="en-US" sz="28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互动 06：你有尝试过给他人“选择架构”设计吗？</a:t>
              </a:r>
              <a:br>
                <a:rPr lang="zh-CN" altLang="en-US" sz="28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</a:br>
              <a:r>
                <a:rPr lang="zh-CN" altLang="en-US" sz="28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en-US" altLang="zh-CN" sz="28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   </a:t>
              </a:r>
              <a:r>
                <a:rPr lang="zh-CN" altLang="en-US" sz="28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（不要说没有，我就不信在座的都单身       ）</a:t>
              </a:r>
              <a:endParaRPr lang="zh-CN" altLang="en-US" sz="2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56799" y="7087319"/>
              <a:ext cx="503555" cy="5035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80098" y="980728"/>
            <a:ext cx="12065077" cy="5460522"/>
            <a:chOff x="1016000" y="698500"/>
            <a:chExt cx="15577872" cy="7588251"/>
          </a:xfrm>
        </p:grpSpPr>
        <p:sp>
          <p:nvSpPr>
            <p:cNvPr id="3" name="Text 1"/>
            <p:cNvSpPr/>
            <p:nvPr/>
          </p:nvSpPr>
          <p:spPr>
            <a:xfrm>
              <a:off x="1016000" y="698500"/>
              <a:ext cx="1143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信息环境设计的四大变量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1101503" y="1428751"/>
              <a:ext cx="6858000" cy="6858000"/>
            </a:xfrm>
            <a:prstGeom prst="roundRect">
              <a:avLst>
                <a:gd name="adj" fmla="val 6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sp>
        <p:sp>
          <p:nvSpPr>
            <p:cNvPr id="5" name="Shape 3"/>
            <p:cNvSpPr/>
            <p:nvPr/>
          </p:nvSpPr>
          <p:spPr>
            <a:xfrm>
              <a:off x="1397000" y="1905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64294"/>
                  </a:moveTo>
                  <a:cubicBezTo>
                    <a:pt x="0" y="52507"/>
                    <a:pt x="9555" y="42863"/>
                    <a:pt x="21431" y="42863"/>
                  </a:cubicBezTo>
                  <a:lnTo>
                    <a:pt x="64294" y="42863"/>
                  </a:lnTo>
                  <a:cubicBezTo>
                    <a:pt x="76170" y="42863"/>
                    <a:pt x="85725" y="52417"/>
                    <a:pt x="85725" y="64294"/>
                  </a:cubicBezTo>
                  <a:lnTo>
                    <a:pt x="85725" y="157163"/>
                  </a:lnTo>
                  <a:lnTo>
                    <a:pt x="107156" y="157163"/>
                  </a:lnTo>
                  <a:cubicBezTo>
                    <a:pt x="119033" y="157163"/>
                    <a:pt x="128588" y="166717"/>
                    <a:pt x="128588" y="178594"/>
                  </a:cubicBezTo>
                  <a:cubicBezTo>
                    <a:pt x="128588" y="190470"/>
                    <a:pt x="119033" y="200025"/>
                    <a:pt x="107156" y="200025"/>
                  </a:cubicBezTo>
                  <a:lnTo>
                    <a:pt x="21431" y="200025"/>
                  </a:lnTo>
                  <a:cubicBezTo>
                    <a:pt x="9555" y="200025"/>
                    <a:pt x="0" y="190470"/>
                    <a:pt x="0" y="178594"/>
                  </a:cubicBezTo>
                  <a:cubicBezTo>
                    <a:pt x="0" y="166717"/>
                    <a:pt x="9555" y="157163"/>
                    <a:pt x="21431" y="157163"/>
                  </a:cubicBezTo>
                  <a:lnTo>
                    <a:pt x="42863" y="157163"/>
                  </a:lnTo>
                  <a:lnTo>
                    <a:pt x="42863" y="85725"/>
                  </a:lnTo>
                  <a:lnTo>
                    <a:pt x="21431" y="85725"/>
                  </a:lnTo>
                  <a:cubicBezTo>
                    <a:pt x="9555" y="85725"/>
                    <a:pt x="0" y="76170"/>
                    <a:pt x="0" y="64294"/>
                  </a:cubicBezTo>
                  <a:close/>
                  <a:moveTo>
                    <a:pt x="27146" y="268962"/>
                  </a:moveTo>
                  <a:cubicBezTo>
                    <a:pt x="37326" y="261283"/>
                    <a:pt x="49738" y="257175"/>
                    <a:pt x="62508" y="257175"/>
                  </a:cubicBezTo>
                  <a:lnTo>
                    <a:pt x="66883" y="257175"/>
                  </a:lnTo>
                  <a:cubicBezTo>
                    <a:pt x="96976" y="257175"/>
                    <a:pt x="121444" y="281642"/>
                    <a:pt x="121444" y="311735"/>
                  </a:cubicBezTo>
                  <a:cubicBezTo>
                    <a:pt x="121444" y="329238"/>
                    <a:pt x="113050" y="345579"/>
                    <a:pt x="98941" y="355848"/>
                  </a:cubicBezTo>
                  <a:lnTo>
                    <a:pt x="77510" y="371475"/>
                  </a:lnTo>
                  <a:lnTo>
                    <a:pt x="107156" y="371475"/>
                  </a:lnTo>
                  <a:cubicBezTo>
                    <a:pt x="119033" y="371475"/>
                    <a:pt x="128588" y="381030"/>
                    <a:pt x="128588" y="392906"/>
                  </a:cubicBezTo>
                  <a:cubicBezTo>
                    <a:pt x="128588" y="404783"/>
                    <a:pt x="119033" y="414338"/>
                    <a:pt x="107156" y="414338"/>
                  </a:cubicBezTo>
                  <a:lnTo>
                    <a:pt x="26164" y="414338"/>
                  </a:lnTo>
                  <a:cubicBezTo>
                    <a:pt x="11698" y="414338"/>
                    <a:pt x="0" y="402640"/>
                    <a:pt x="0" y="388174"/>
                  </a:cubicBezTo>
                  <a:cubicBezTo>
                    <a:pt x="0" y="379780"/>
                    <a:pt x="4018" y="371921"/>
                    <a:pt x="10805" y="367010"/>
                  </a:cubicBezTo>
                  <a:lnTo>
                    <a:pt x="73759" y="321201"/>
                  </a:lnTo>
                  <a:cubicBezTo>
                    <a:pt x="76795" y="318968"/>
                    <a:pt x="78581" y="315486"/>
                    <a:pt x="78581" y="311735"/>
                  </a:cubicBezTo>
                  <a:cubicBezTo>
                    <a:pt x="78581" y="305306"/>
                    <a:pt x="73313" y="300037"/>
                    <a:pt x="66883" y="300037"/>
                  </a:cubicBezTo>
                  <a:lnTo>
                    <a:pt x="62508" y="300038"/>
                  </a:lnTo>
                  <a:cubicBezTo>
                    <a:pt x="59025" y="300038"/>
                    <a:pt x="55632" y="301198"/>
                    <a:pt x="52864" y="303252"/>
                  </a:cubicBezTo>
                  <a:lnTo>
                    <a:pt x="34290" y="317183"/>
                  </a:lnTo>
                  <a:cubicBezTo>
                    <a:pt x="24825" y="324326"/>
                    <a:pt x="11430" y="322362"/>
                    <a:pt x="4286" y="312896"/>
                  </a:cubicBezTo>
                  <a:cubicBezTo>
                    <a:pt x="-2858" y="303431"/>
                    <a:pt x="-893" y="290036"/>
                    <a:pt x="8573" y="282893"/>
                  </a:cubicBezTo>
                  <a:lnTo>
                    <a:pt x="27146" y="268962"/>
                  </a:lnTo>
                  <a:close/>
                  <a:moveTo>
                    <a:pt x="200025" y="57150"/>
                  </a:moveTo>
                  <a:lnTo>
                    <a:pt x="428625" y="57150"/>
                  </a:lnTo>
                  <a:cubicBezTo>
                    <a:pt x="444431" y="57150"/>
                    <a:pt x="457200" y="69919"/>
                    <a:pt x="457200" y="85725"/>
                  </a:cubicBezTo>
                  <a:cubicBezTo>
                    <a:pt x="457200" y="101531"/>
                    <a:pt x="444431" y="114300"/>
                    <a:pt x="428625" y="114300"/>
                  </a:cubicBezTo>
                  <a:lnTo>
                    <a:pt x="200025" y="114300"/>
                  </a:lnTo>
                  <a:cubicBezTo>
                    <a:pt x="184219" y="114300"/>
                    <a:pt x="171450" y="101531"/>
                    <a:pt x="171450" y="85725"/>
                  </a:cubicBezTo>
                  <a:cubicBezTo>
                    <a:pt x="171450" y="69919"/>
                    <a:pt x="184219" y="57150"/>
                    <a:pt x="200025" y="57150"/>
                  </a:cubicBezTo>
                  <a:close/>
                  <a:moveTo>
                    <a:pt x="200025" y="200025"/>
                  </a:moveTo>
                  <a:lnTo>
                    <a:pt x="428625" y="200025"/>
                  </a:lnTo>
                  <a:cubicBezTo>
                    <a:pt x="444431" y="200025"/>
                    <a:pt x="457200" y="212794"/>
                    <a:pt x="457200" y="228600"/>
                  </a:cubicBezTo>
                  <a:cubicBezTo>
                    <a:pt x="457200" y="244406"/>
                    <a:pt x="444431" y="257175"/>
                    <a:pt x="428625" y="257175"/>
                  </a:cubicBezTo>
                  <a:lnTo>
                    <a:pt x="200025" y="257175"/>
                  </a:lnTo>
                  <a:cubicBezTo>
                    <a:pt x="184219" y="257175"/>
                    <a:pt x="171450" y="244406"/>
                    <a:pt x="171450" y="228600"/>
                  </a:cubicBezTo>
                  <a:cubicBezTo>
                    <a:pt x="171450" y="212794"/>
                    <a:pt x="184219" y="200025"/>
                    <a:pt x="200025" y="200025"/>
                  </a:cubicBezTo>
                  <a:close/>
                  <a:moveTo>
                    <a:pt x="200025" y="342900"/>
                  </a:moveTo>
                  <a:lnTo>
                    <a:pt x="428625" y="342900"/>
                  </a:lnTo>
                  <a:cubicBezTo>
                    <a:pt x="444431" y="342900"/>
                    <a:pt x="457200" y="355669"/>
                    <a:pt x="457200" y="371475"/>
                  </a:cubicBezTo>
                  <a:cubicBezTo>
                    <a:pt x="457200" y="387281"/>
                    <a:pt x="444431" y="400050"/>
                    <a:pt x="428625" y="400050"/>
                  </a:cubicBezTo>
                  <a:lnTo>
                    <a:pt x="200025" y="400050"/>
                  </a:lnTo>
                  <a:cubicBezTo>
                    <a:pt x="184219" y="400050"/>
                    <a:pt x="171450" y="387281"/>
                    <a:pt x="171450" y="371475"/>
                  </a:cubicBezTo>
                  <a:cubicBezTo>
                    <a:pt x="171450" y="355669"/>
                    <a:pt x="184219" y="342900"/>
                    <a:pt x="200025" y="3429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2032000" y="1905000"/>
              <a:ext cx="1016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  <a:sym typeface="+mn-ea"/>
                </a:rPr>
                <a:t>变量一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  <a:sym typeface="+mn-ea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3059723" y="1872882"/>
              <a:ext cx="6096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</a:rPr>
                <a:t>信息接触顺序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572456" y="2599775"/>
              <a:ext cx="6096000" cy="1587501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人类大脑存在"锚定效应"，最先接触的信息会成为后续判断的基准。第一印象一旦形成，后续所有信息都会被用来验证而非推翻这个锚点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80054" y="4522078"/>
              <a:ext cx="871535" cy="31767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实战举例</a:t>
              </a:r>
              <a:endPara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479808" y="5000546"/>
              <a:ext cx="6096000" cy="1841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想和伴侣商量换工作，不要直接提出。正确顺序：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① 日常对话中先聊行业变化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② 再提到朋友换工作的经历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③ 最后才正式提出自己的想法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8382000" y="1398965"/>
              <a:ext cx="6858000" cy="6858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13" name="Shape 11"/>
            <p:cNvSpPr/>
            <p:nvPr/>
          </p:nvSpPr>
          <p:spPr>
            <a:xfrm>
              <a:off x="8763000" y="1905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cubicBezTo>
                    <a:pt x="354768" y="457200"/>
                    <a:pt x="457200" y="354768"/>
                    <a:pt x="457200" y="228600"/>
                  </a:cubicBezTo>
                  <a:cubicBezTo>
                    <a:pt x="457200" y="102432"/>
                    <a:pt x="354768" y="0"/>
                    <a:pt x="228600" y="0"/>
                  </a:cubicBezTo>
                  <a:cubicBezTo>
                    <a:pt x="102432" y="0"/>
                    <a:pt x="0" y="102432"/>
                    <a:pt x="0" y="228600"/>
                  </a:cubicBezTo>
                  <a:cubicBezTo>
                    <a:pt x="0" y="354768"/>
                    <a:pt x="102432" y="457200"/>
                    <a:pt x="228600" y="457200"/>
                  </a:cubicBezTo>
                  <a:close/>
                  <a:moveTo>
                    <a:pt x="147697" y="287447"/>
                  </a:moveTo>
                  <a:cubicBezTo>
                    <a:pt x="165914" y="312450"/>
                    <a:pt x="195382" y="328613"/>
                    <a:pt x="228600" y="328613"/>
                  </a:cubicBezTo>
                  <a:cubicBezTo>
                    <a:pt x="261818" y="328613"/>
                    <a:pt x="291286" y="312450"/>
                    <a:pt x="309503" y="287447"/>
                  </a:cubicBezTo>
                  <a:cubicBezTo>
                    <a:pt x="316468" y="277892"/>
                    <a:pt x="329863" y="275749"/>
                    <a:pt x="339417" y="282714"/>
                  </a:cubicBezTo>
                  <a:cubicBezTo>
                    <a:pt x="348972" y="289679"/>
                    <a:pt x="351115" y="303074"/>
                    <a:pt x="344150" y="312628"/>
                  </a:cubicBezTo>
                  <a:cubicBezTo>
                    <a:pt x="318165" y="348258"/>
                    <a:pt x="276106" y="371475"/>
                    <a:pt x="228600" y="371475"/>
                  </a:cubicBezTo>
                  <a:cubicBezTo>
                    <a:pt x="181094" y="371475"/>
                    <a:pt x="139035" y="348258"/>
                    <a:pt x="113050" y="312628"/>
                  </a:cubicBezTo>
                  <a:cubicBezTo>
                    <a:pt x="106085" y="303074"/>
                    <a:pt x="108228" y="289679"/>
                    <a:pt x="117783" y="282714"/>
                  </a:cubicBezTo>
                  <a:cubicBezTo>
                    <a:pt x="127337" y="275749"/>
                    <a:pt x="140732" y="277892"/>
                    <a:pt x="147697" y="287447"/>
                  </a:cubicBezTo>
                  <a:close/>
                  <a:moveTo>
                    <a:pt x="128588" y="185738"/>
                  </a:moveTo>
                  <a:cubicBezTo>
                    <a:pt x="128588" y="169967"/>
                    <a:pt x="141392" y="157163"/>
                    <a:pt x="157163" y="157163"/>
                  </a:cubicBezTo>
                  <a:cubicBezTo>
                    <a:pt x="172933" y="157163"/>
                    <a:pt x="185738" y="169967"/>
                    <a:pt x="185738" y="185738"/>
                  </a:cubicBezTo>
                  <a:cubicBezTo>
                    <a:pt x="185738" y="201508"/>
                    <a:pt x="172933" y="214313"/>
                    <a:pt x="157163" y="214313"/>
                  </a:cubicBezTo>
                  <a:cubicBezTo>
                    <a:pt x="141392" y="214313"/>
                    <a:pt x="128588" y="201508"/>
                    <a:pt x="128588" y="185738"/>
                  </a:cubicBezTo>
                  <a:close/>
                  <a:moveTo>
                    <a:pt x="300038" y="157163"/>
                  </a:moveTo>
                  <a:cubicBezTo>
                    <a:pt x="315808" y="157163"/>
                    <a:pt x="328613" y="169967"/>
                    <a:pt x="328613" y="185738"/>
                  </a:cubicBezTo>
                  <a:cubicBezTo>
                    <a:pt x="328613" y="201508"/>
                    <a:pt x="315808" y="214313"/>
                    <a:pt x="300038" y="214313"/>
                  </a:cubicBezTo>
                  <a:cubicBezTo>
                    <a:pt x="284267" y="214313"/>
                    <a:pt x="271463" y="201508"/>
                    <a:pt x="271463" y="185738"/>
                  </a:cubicBezTo>
                  <a:cubicBezTo>
                    <a:pt x="271463" y="169967"/>
                    <a:pt x="284267" y="157163"/>
                    <a:pt x="300038" y="157163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4" name="Text 12"/>
            <p:cNvSpPr/>
            <p:nvPr/>
          </p:nvSpPr>
          <p:spPr>
            <a:xfrm>
              <a:off x="9398000" y="1905000"/>
              <a:ext cx="1016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  <a:sym typeface="+mn-ea"/>
                </a:rPr>
                <a:t>变量二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  <a:sym typeface="+mn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10497872" y="1937299"/>
              <a:ext cx="6096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  <a:sym typeface="+mn-ea"/>
                </a:rPr>
                <a:t>接收信息时的情绪状态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  <a:sym typeface="+mn-ea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917958" y="2758527"/>
              <a:ext cx="6096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人在不同情绪状态下，大脑激活区域不同。紧张时杏仁核主导，理性被抑制。只有在放松、安全、被肯定的状态下，信息才能进入理性思考通道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918030" y="4700329"/>
              <a:ext cx="866616" cy="31767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实战举例</a:t>
              </a:r>
              <a:endPara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917958" y="5143500"/>
              <a:ext cx="6096000" cy="18415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在对方刚被批评时提建议，容易被误解为攻击。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最佳时机：对方放松时、刚获得成就感后、无外界压力的安全环境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51384" y="980728"/>
            <a:ext cx="11932607" cy="5472608"/>
            <a:chOff x="1016000" y="698500"/>
            <a:chExt cx="15609873" cy="7683500"/>
          </a:xfrm>
        </p:grpSpPr>
        <p:sp>
          <p:nvSpPr>
            <p:cNvPr id="17" name="Text 1"/>
            <p:cNvSpPr/>
            <p:nvPr/>
          </p:nvSpPr>
          <p:spPr>
            <a:xfrm>
              <a:off x="1016000" y="698500"/>
              <a:ext cx="1143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信息环境设计的四大变量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Shape 2"/>
            <p:cNvSpPr/>
            <p:nvPr/>
          </p:nvSpPr>
          <p:spPr>
            <a:xfrm>
              <a:off x="1016000" y="1524000"/>
              <a:ext cx="6858000" cy="6858000"/>
            </a:xfrm>
            <a:prstGeom prst="roundRect">
              <a:avLst>
                <a:gd name="adj" fmla="val 6000"/>
              </a:avLst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1" name="Shape 3"/>
            <p:cNvSpPr/>
            <p:nvPr/>
          </p:nvSpPr>
          <p:spPr>
            <a:xfrm>
              <a:off x="1397000" y="1905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14288"/>
                  </a:moveTo>
                  <a:cubicBezTo>
                    <a:pt x="269605" y="14288"/>
                    <a:pt x="302895" y="55901"/>
                    <a:pt x="302895" y="107156"/>
                  </a:cubicBezTo>
                  <a:cubicBezTo>
                    <a:pt x="302895" y="158412"/>
                    <a:pt x="269605" y="200025"/>
                    <a:pt x="228600" y="200025"/>
                  </a:cubicBezTo>
                  <a:cubicBezTo>
                    <a:pt x="187595" y="200025"/>
                    <a:pt x="154305" y="158412"/>
                    <a:pt x="154305" y="107156"/>
                  </a:cubicBezTo>
                  <a:cubicBezTo>
                    <a:pt x="154305" y="55901"/>
                    <a:pt x="187595" y="14288"/>
                    <a:pt x="228600" y="14288"/>
                  </a:cubicBezTo>
                  <a:close/>
                  <a:moveTo>
                    <a:pt x="68580" y="78581"/>
                  </a:moveTo>
                  <a:cubicBezTo>
                    <a:pt x="96968" y="78581"/>
                    <a:pt x="120015" y="107390"/>
                    <a:pt x="120015" y="142875"/>
                  </a:cubicBezTo>
                  <a:cubicBezTo>
                    <a:pt x="120015" y="178360"/>
                    <a:pt x="96968" y="207169"/>
                    <a:pt x="68580" y="207169"/>
                  </a:cubicBezTo>
                  <a:cubicBezTo>
                    <a:pt x="40192" y="207169"/>
                    <a:pt x="17145" y="178360"/>
                    <a:pt x="17145" y="142875"/>
                  </a:cubicBezTo>
                  <a:cubicBezTo>
                    <a:pt x="17145" y="107390"/>
                    <a:pt x="40192" y="78581"/>
                    <a:pt x="68580" y="78581"/>
                  </a:cubicBezTo>
                  <a:close/>
                  <a:moveTo>
                    <a:pt x="0" y="371475"/>
                  </a:moveTo>
                  <a:cubicBezTo>
                    <a:pt x="0" y="308342"/>
                    <a:pt x="40934" y="257175"/>
                    <a:pt x="91440" y="257175"/>
                  </a:cubicBezTo>
                  <a:cubicBezTo>
                    <a:pt x="100584" y="257175"/>
                    <a:pt x="109442" y="258872"/>
                    <a:pt x="117800" y="261997"/>
                  </a:cubicBezTo>
                  <a:cubicBezTo>
                    <a:pt x="94298" y="294858"/>
                    <a:pt x="80010" y="338257"/>
                    <a:pt x="80010" y="385763"/>
                  </a:cubicBezTo>
                  <a:lnTo>
                    <a:pt x="80010" y="400050"/>
                  </a:lnTo>
                  <a:cubicBezTo>
                    <a:pt x="80010" y="410230"/>
                    <a:pt x="81725" y="419874"/>
                    <a:pt x="84796" y="428625"/>
                  </a:cubicBezTo>
                  <a:lnTo>
                    <a:pt x="22860" y="428625"/>
                  </a:lnTo>
                  <a:cubicBezTo>
                    <a:pt x="10216" y="428625"/>
                    <a:pt x="0" y="415856"/>
                    <a:pt x="0" y="400050"/>
                  </a:cubicBezTo>
                  <a:lnTo>
                    <a:pt x="0" y="371475"/>
                  </a:lnTo>
                  <a:close/>
                  <a:moveTo>
                    <a:pt x="372404" y="428625"/>
                  </a:moveTo>
                  <a:cubicBezTo>
                    <a:pt x="375475" y="419874"/>
                    <a:pt x="377190" y="410230"/>
                    <a:pt x="377190" y="400050"/>
                  </a:cubicBezTo>
                  <a:lnTo>
                    <a:pt x="377190" y="385763"/>
                  </a:lnTo>
                  <a:cubicBezTo>
                    <a:pt x="377190" y="338257"/>
                    <a:pt x="362903" y="294858"/>
                    <a:pt x="339400" y="261997"/>
                  </a:cubicBezTo>
                  <a:cubicBezTo>
                    <a:pt x="347758" y="258872"/>
                    <a:pt x="356616" y="257175"/>
                    <a:pt x="365760" y="257175"/>
                  </a:cubicBezTo>
                  <a:cubicBezTo>
                    <a:pt x="416266" y="257175"/>
                    <a:pt x="457200" y="308342"/>
                    <a:pt x="457200" y="371475"/>
                  </a:cubicBezTo>
                  <a:lnTo>
                    <a:pt x="457200" y="400050"/>
                  </a:lnTo>
                  <a:cubicBezTo>
                    <a:pt x="457200" y="415856"/>
                    <a:pt x="446984" y="428625"/>
                    <a:pt x="434340" y="428625"/>
                  </a:cubicBezTo>
                  <a:lnTo>
                    <a:pt x="372404" y="428625"/>
                  </a:lnTo>
                  <a:close/>
                  <a:moveTo>
                    <a:pt x="337185" y="142875"/>
                  </a:moveTo>
                  <a:cubicBezTo>
                    <a:pt x="337185" y="107390"/>
                    <a:pt x="360232" y="78581"/>
                    <a:pt x="388620" y="78581"/>
                  </a:cubicBezTo>
                  <a:cubicBezTo>
                    <a:pt x="417008" y="78581"/>
                    <a:pt x="440055" y="107390"/>
                    <a:pt x="440055" y="142875"/>
                  </a:cubicBezTo>
                  <a:cubicBezTo>
                    <a:pt x="440055" y="178360"/>
                    <a:pt x="417008" y="207169"/>
                    <a:pt x="388620" y="207169"/>
                  </a:cubicBezTo>
                  <a:cubicBezTo>
                    <a:pt x="360232" y="207169"/>
                    <a:pt x="337185" y="178360"/>
                    <a:pt x="337185" y="142875"/>
                  </a:cubicBezTo>
                  <a:close/>
                  <a:moveTo>
                    <a:pt x="114300" y="385763"/>
                  </a:moveTo>
                  <a:cubicBezTo>
                    <a:pt x="114300" y="306824"/>
                    <a:pt x="165449" y="242888"/>
                    <a:pt x="228600" y="242888"/>
                  </a:cubicBezTo>
                  <a:cubicBezTo>
                    <a:pt x="291751" y="242888"/>
                    <a:pt x="342900" y="306824"/>
                    <a:pt x="342900" y="385763"/>
                  </a:cubicBezTo>
                  <a:lnTo>
                    <a:pt x="342900" y="400050"/>
                  </a:lnTo>
                  <a:cubicBezTo>
                    <a:pt x="342900" y="415856"/>
                    <a:pt x="332684" y="428625"/>
                    <a:pt x="320040" y="428625"/>
                  </a:cubicBezTo>
                  <a:lnTo>
                    <a:pt x="137160" y="428625"/>
                  </a:lnTo>
                  <a:cubicBezTo>
                    <a:pt x="124516" y="428625"/>
                    <a:pt x="114300" y="415856"/>
                    <a:pt x="114300" y="400050"/>
                  </a:cubicBezTo>
                  <a:lnTo>
                    <a:pt x="114300" y="385763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22" name="Text 4"/>
            <p:cNvSpPr/>
            <p:nvPr/>
          </p:nvSpPr>
          <p:spPr>
            <a:xfrm>
              <a:off x="2032000" y="1905000"/>
              <a:ext cx="1016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</a:rPr>
                <a:t>变量三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</a:endParaRPr>
            </a:p>
          </p:txBody>
        </p:sp>
        <p:sp>
          <p:nvSpPr>
            <p:cNvPr id="23" name="Text 5"/>
            <p:cNvSpPr/>
            <p:nvPr/>
          </p:nvSpPr>
          <p:spPr>
            <a:xfrm>
              <a:off x="3143936" y="1905227"/>
              <a:ext cx="6096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</a:rPr>
                <a:t>接触信息时的在场者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</a:endParaRPr>
            </a:p>
          </p:txBody>
        </p:sp>
        <p:sp>
          <p:nvSpPr>
            <p:cNvPr id="24" name="Text 6"/>
            <p:cNvSpPr/>
            <p:nvPr/>
          </p:nvSpPr>
          <p:spPr>
            <a:xfrm>
              <a:off x="1486714" y="2619373"/>
              <a:ext cx="6096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人极度依赖社会参考。同一句话从不同人嘴里说出，效果截然不同。高级影响力不是自己去说服，而是设计一个信息生态，让对方自己说服自己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6" name="Text 8"/>
            <p:cNvSpPr/>
            <p:nvPr/>
          </p:nvSpPr>
          <p:spPr>
            <a:xfrm>
              <a:off x="1487000" y="4698818"/>
              <a:ext cx="851455" cy="3173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实战举例</a:t>
              </a:r>
              <a:endPara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7" name="Text 9"/>
            <p:cNvSpPr/>
            <p:nvPr/>
          </p:nvSpPr>
          <p:spPr>
            <a:xfrm>
              <a:off x="1486714" y="5143500"/>
              <a:ext cx="6096000" cy="18415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想让团队接受新工具：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① 让资深同事先行试用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② 让他在日常中自然分享体验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③ 其他人从"被说服"变"主动询问"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8" name="Shape 10"/>
            <p:cNvSpPr/>
            <p:nvPr/>
          </p:nvSpPr>
          <p:spPr>
            <a:xfrm>
              <a:off x="8382000" y="1524000"/>
              <a:ext cx="6858000" cy="6858000"/>
            </a:xfrm>
            <a:prstGeom prst="roundRect">
              <a:avLst>
                <a:gd name="adj" fmla="val 6000"/>
              </a:avLst>
            </a:prstGeom>
            <a:ln w="63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sp>
        <p:sp>
          <p:nvSpPr>
            <p:cNvPr id="29" name="Shape 11"/>
            <p:cNvSpPr/>
            <p:nvPr/>
          </p:nvSpPr>
          <p:spPr>
            <a:xfrm>
              <a:off x="8763000" y="1905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cubicBezTo>
                    <a:pt x="354768" y="457200"/>
                    <a:pt x="457200" y="354768"/>
                    <a:pt x="457200" y="228600"/>
                  </a:cubicBezTo>
                  <a:cubicBezTo>
                    <a:pt x="457200" y="102432"/>
                    <a:pt x="354768" y="0"/>
                    <a:pt x="228600" y="0"/>
                  </a:cubicBezTo>
                  <a:cubicBezTo>
                    <a:pt x="102432" y="0"/>
                    <a:pt x="0" y="102432"/>
                    <a:pt x="0" y="228600"/>
                  </a:cubicBezTo>
                  <a:cubicBezTo>
                    <a:pt x="0" y="354768"/>
                    <a:pt x="102432" y="457200"/>
                    <a:pt x="228600" y="457200"/>
                  </a:cubicBezTo>
                  <a:close/>
                  <a:moveTo>
                    <a:pt x="228600" y="157163"/>
                  </a:moveTo>
                  <a:cubicBezTo>
                    <a:pt x="212794" y="157163"/>
                    <a:pt x="200025" y="169932"/>
                    <a:pt x="200025" y="185738"/>
                  </a:cubicBezTo>
                  <a:cubicBezTo>
                    <a:pt x="200025" y="197614"/>
                    <a:pt x="190470" y="207169"/>
                    <a:pt x="178594" y="207169"/>
                  </a:cubicBezTo>
                  <a:cubicBezTo>
                    <a:pt x="166717" y="207169"/>
                    <a:pt x="157163" y="197614"/>
                    <a:pt x="157163" y="185738"/>
                  </a:cubicBezTo>
                  <a:cubicBezTo>
                    <a:pt x="157163" y="146268"/>
                    <a:pt x="189131" y="114300"/>
                    <a:pt x="228600" y="114300"/>
                  </a:cubicBezTo>
                  <a:cubicBezTo>
                    <a:pt x="268069" y="114300"/>
                    <a:pt x="300038" y="146268"/>
                    <a:pt x="300038" y="185738"/>
                  </a:cubicBezTo>
                  <a:cubicBezTo>
                    <a:pt x="300038" y="227886"/>
                    <a:pt x="267891" y="245745"/>
                    <a:pt x="250031" y="252264"/>
                  </a:cubicBezTo>
                  <a:lnTo>
                    <a:pt x="250031" y="255657"/>
                  </a:lnTo>
                  <a:cubicBezTo>
                    <a:pt x="250031" y="267533"/>
                    <a:pt x="240476" y="277088"/>
                    <a:pt x="228600" y="277088"/>
                  </a:cubicBezTo>
                  <a:cubicBezTo>
                    <a:pt x="216724" y="277088"/>
                    <a:pt x="207169" y="267533"/>
                    <a:pt x="207169" y="255657"/>
                  </a:cubicBezTo>
                  <a:lnTo>
                    <a:pt x="207169" y="248424"/>
                  </a:lnTo>
                  <a:cubicBezTo>
                    <a:pt x="207169" y="230118"/>
                    <a:pt x="220385" y="216991"/>
                    <a:pt x="234047" y="212527"/>
                  </a:cubicBezTo>
                  <a:cubicBezTo>
                    <a:pt x="239762" y="210651"/>
                    <a:pt x="245834" y="207615"/>
                    <a:pt x="250299" y="203329"/>
                  </a:cubicBezTo>
                  <a:cubicBezTo>
                    <a:pt x="254139" y="199579"/>
                    <a:pt x="257175" y="194399"/>
                    <a:pt x="257175" y="185827"/>
                  </a:cubicBezTo>
                  <a:cubicBezTo>
                    <a:pt x="257175" y="170021"/>
                    <a:pt x="244406" y="157252"/>
                    <a:pt x="228600" y="157252"/>
                  </a:cubicBezTo>
                  <a:close/>
                  <a:moveTo>
                    <a:pt x="200025" y="328613"/>
                  </a:moveTo>
                  <a:cubicBezTo>
                    <a:pt x="200025" y="312842"/>
                    <a:pt x="212829" y="300038"/>
                    <a:pt x="228600" y="300038"/>
                  </a:cubicBezTo>
                  <a:cubicBezTo>
                    <a:pt x="244371" y="300038"/>
                    <a:pt x="257175" y="312842"/>
                    <a:pt x="257175" y="328613"/>
                  </a:cubicBezTo>
                  <a:cubicBezTo>
                    <a:pt x="257175" y="344383"/>
                    <a:pt x="244371" y="357188"/>
                    <a:pt x="228600" y="357188"/>
                  </a:cubicBezTo>
                  <a:cubicBezTo>
                    <a:pt x="212829" y="357188"/>
                    <a:pt x="200025" y="344383"/>
                    <a:pt x="200025" y="328613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30" name="Text 12"/>
            <p:cNvSpPr/>
            <p:nvPr/>
          </p:nvSpPr>
          <p:spPr>
            <a:xfrm>
              <a:off x="9398000" y="1905000"/>
              <a:ext cx="1016000" cy="381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</a:rPr>
                <a:t>变量四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</a:endParaRPr>
            </a:p>
          </p:txBody>
        </p:sp>
        <p:sp>
          <p:nvSpPr>
            <p:cNvPr id="31" name="Text 13"/>
            <p:cNvSpPr/>
            <p:nvPr/>
          </p:nvSpPr>
          <p:spPr>
            <a:xfrm>
              <a:off x="10529873" y="1905227"/>
              <a:ext cx="6096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汉仪粗宋简" panose="02010600000101010101" charset="-122"/>
                  <a:cs typeface="Liter" pitchFamily="34" charset="-120"/>
                </a:rPr>
                <a:t>陈述与问题的差异</a:t>
              </a:r>
              <a:endPara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汉仪粗宋简" panose="02010600000101010101" charset="-122"/>
                <a:cs typeface="Liter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8929138" y="2720116"/>
              <a:ext cx="6096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陈述会激起防御，问题会激发参与。当你陈述观点时，对方进入评判模式；当你提出问题时，对方进入思考模式——这就是信息环境设计的核心技巧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4" name="Text 16"/>
            <p:cNvSpPr/>
            <p:nvPr/>
          </p:nvSpPr>
          <p:spPr>
            <a:xfrm>
              <a:off x="8929131" y="4698818"/>
              <a:ext cx="922894" cy="3173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实战举例</a:t>
              </a:r>
              <a:endParaRPr 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8929138" y="5143500"/>
              <a:ext cx="6096000" cy="18415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员工谈加薪时：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陈述："我完成了三个大项目，应该加薪"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问题："部门要突破瓶颈，您认为最关键的能力缺口在哪？"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71364" y="908467"/>
            <a:ext cx="11449272" cy="5472861"/>
            <a:chOff x="1016000" y="797935"/>
            <a:chExt cx="14351000" cy="7584065"/>
          </a:xfrm>
        </p:grpSpPr>
        <p:sp>
          <p:nvSpPr>
            <p:cNvPr id="3" name="Text 1"/>
            <p:cNvSpPr/>
            <p:nvPr/>
          </p:nvSpPr>
          <p:spPr>
            <a:xfrm>
              <a:off x="1151309" y="797935"/>
              <a:ext cx="1270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认知场四步铺设法——实战操作指南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Shape 2"/>
            <p:cNvSpPr/>
            <p:nvPr>
              <p:custDataLst>
                <p:tags r:id="rId2"/>
              </p:custDataLst>
            </p:nvPr>
          </p:nvSpPr>
          <p:spPr>
            <a:xfrm>
              <a:off x="1016000" y="1524000"/>
              <a:ext cx="3302000" cy="6858000"/>
            </a:xfrm>
            <a:prstGeom prst="roundRect">
              <a:avLst>
                <a:gd name="adj" fmla="val 6000"/>
              </a:avLst>
            </a:prstGeom>
            <a:solidFill>
              <a:schemeClr val="accent1"/>
            </a:solidFill>
          </p:spPr>
        </p:sp>
        <p:sp>
          <p:nvSpPr>
            <p:cNvPr id="5" name="Text 3"/>
            <p:cNvSpPr/>
            <p:nvPr>
              <p:custDataLst>
                <p:tags r:id="rId3"/>
              </p:custDataLst>
            </p:nvPr>
          </p:nvSpPr>
          <p:spPr>
            <a:xfrm>
              <a:off x="1333500" y="1841500"/>
              <a:ext cx="1016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Liter" pitchFamily="34" charset="-120"/>
                </a:rPr>
                <a:t>01</a:t>
              </a:r>
              <a:endPara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6" name="Shape 4"/>
            <p:cNvSpPr/>
            <p:nvPr>
              <p:custDataLst>
                <p:tags r:id="rId4"/>
              </p:custDataLst>
            </p:nvPr>
          </p:nvSpPr>
          <p:spPr>
            <a:xfrm>
              <a:off x="2775736" y="32926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355600" y="203200"/>
                  </a:moveTo>
                  <a:cubicBezTo>
                    <a:pt x="355600" y="119088"/>
                    <a:pt x="287312" y="50800"/>
                    <a:pt x="203200" y="50800"/>
                  </a:cubicBezTo>
                  <a:cubicBezTo>
                    <a:pt x="119088" y="50800"/>
                    <a:pt x="50800" y="119088"/>
                    <a:pt x="50800" y="203200"/>
                  </a:cubicBezTo>
                  <a:cubicBezTo>
                    <a:pt x="50800" y="287312"/>
                    <a:pt x="119088" y="355600"/>
                    <a:pt x="203200" y="355600"/>
                  </a:cubicBezTo>
                  <a:cubicBezTo>
                    <a:pt x="287312" y="355600"/>
                    <a:pt x="355600" y="287312"/>
                    <a:pt x="355600" y="203200"/>
                  </a:cubicBezTo>
                  <a:close/>
                  <a:moveTo>
                    <a:pt x="0" y="203200"/>
                  </a:moveTo>
                  <a:cubicBezTo>
                    <a:pt x="0" y="91051"/>
                    <a:pt x="91051" y="0"/>
                    <a:pt x="203200" y="0"/>
                  </a:cubicBezTo>
                  <a:cubicBezTo>
                    <a:pt x="315349" y="0"/>
                    <a:pt x="406400" y="91051"/>
                    <a:pt x="406400" y="203200"/>
                  </a:cubicBezTo>
                  <a:cubicBezTo>
                    <a:pt x="406400" y="315349"/>
                    <a:pt x="315349" y="406400"/>
                    <a:pt x="203200" y="406400"/>
                  </a:cubicBezTo>
                  <a:cubicBezTo>
                    <a:pt x="91051" y="406400"/>
                    <a:pt x="0" y="315349"/>
                    <a:pt x="0" y="203200"/>
                  </a:cubicBezTo>
                  <a:close/>
                  <a:moveTo>
                    <a:pt x="203200" y="266700"/>
                  </a:moveTo>
                  <a:cubicBezTo>
                    <a:pt x="238247" y="266700"/>
                    <a:pt x="266700" y="238247"/>
                    <a:pt x="266700" y="203200"/>
                  </a:cubicBezTo>
                  <a:cubicBezTo>
                    <a:pt x="266700" y="168153"/>
                    <a:pt x="238247" y="139700"/>
                    <a:pt x="203200" y="139700"/>
                  </a:cubicBezTo>
                  <a:cubicBezTo>
                    <a:pt x="168153" y="139700"/>
                    <a:pt x="139700" y="168153"/>
                    <a:pt x="139700" y="203200"/>
                  </a:cubicBezTo>
                  <a:cubicBezTo>
                    <a:pt x="139700" y="238247"/>
                    <a:pt x="168153" y="266700"/>
                    <a:pt x="203200" y="266700"/>
                  </a:cubicBezTo>
                  <a:close/>
                  <a:moveTo>
                    <a:pt x="203200" y="88900"/>
                  </a:moveTo>
                  <a:cubicBezTo>
                    <a:pt x="266284" y="88900"/>
                    <a:pt x="317500" y="140116"/>
                    <a:pt x="317500" y="203200"/>
                  </a:cubicBezTo>
                  <a:cubicBezTo>
                    <a:pt x="317500" y="266284"/>
                    <a:pt x="266284" y="317500"/>
                    <a:pt x="203200" y="317500"/>
                  </a:cubicBezTo>
                  <a:cubicBezTo>
                    <a:pt x="140116" y="317500"/>
                    <a:pt x="88900" y="266284"/>
                    <a:pt x="88900" y="203200"/>
                  </a:cubicBezTo>
                  <a:cubicBezTo>
                    <a:pt x="88900" y="140116"/>
                    <a:pt x="140116" y="88900"/>
                    <a:pt x="203200" y="88900"/>
                  </a:cubicBezTo>
                  <a:close/>
                  <a:moveTo>
                    <a:pt x="177800" y="203200"/>
                  </a:moveTo>
                  <a:cubicBezTo>
                    <a:pt x="177800" y="189181"/>
                    <a:pt x="189181" y="177800"/>
                    <a:pt x="203200" y="177800"/>
                  </a:cubicBezTo>
                  <a:cubicBezTo>
                    <a:pt x="217219" y="177800"/>
                    <a:pt x="228600" y="189181"/>
                    <a:pt x="228600" y="203200"/>
                  </a:cubicBezTo>
                  <a:cubicBezTo>
                    <a:pt x="228600" y="217219"/>
                    <a:pt x="217219" y="228600"/>
                    <a:pt x="203200" y="228600"/>
                  </a:cubicBezTo>
                  <a:cubicBezTo>
                    <a:pt x="189181" y="228600"/>
                    <a:pt x="177800" y="217219"/>
                    <a:pt x="177800" y="203200"/>
                  </a:cubicBezTo>
                  <a:close/>
                </a:path>
              </a:pathLst>
            </a:custGeom>
            <a:solidFill>
              <a:schemeClr val="bg1"/>
            </a:solidFill>
          </p:spPr>
        </p:sp>
        <p:sp>
          <p:nvSpPr>
            <p:cNvPr id="7" name="Text 5"/>
            <p:cNvSpPr/>
            <p:nvPr>
              <p:custDataLst>
                <p:tags r:id="rId5"/>
              </p:custDataLst>
            </p:nvPr>
          </p:nvSpPr>
          <p:spPr>
            <a:xfrm>
              <a:off x="1333500" y="3238500"/>
              <a:ext cx="2667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Liter" pitchFamily="34" charset="-120"/>
                </a:rPr>
                <a:t>明确目标</a:t>
              </a:r>
              <a:endParaRPr lang="en-US" sz="2000" b="1" dirty="0">
                <a:solidFill>
                  <a:srgbClr val="FFFFFF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8" name="Text 6"/>
            <p:cNvSpPr/>
            <p:nvPr>
              <p:custDataLst>
                <p:tags r:id="rId6"/>
              </p:custDataLst>
            </p:nvPr>
          </p:nvSpPr>
          <p:spPr>
            <a:xfrm>
              <a:off x="1333500" y="3810000"/>
              <a:ext cx="2667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不是让对方按你说的做，而是让对方自己产生内在动机</a:t>
              </a:r>
              <a:endParaRPr lang="en-US" sz="1400" b="1" dirty="0">
                <a:latin typeface="微软雅黑" panose="020B0503020204020204" pitchFamily="34" charset="-122"/>
              </a:endParaRPr>
            </a:p>
          </p:txBody>
        </p:sp>
        <p:sp>
          <p:nvSpPr>
            <p:cNvPr id="9" name="Text 7"/>
            <p:cNvSpPr/>
            <p:nvPr>
              <p:custDataLst>
                <p:tags r:id="rId7"/>
              </p:custDataLst>
            </p:nvPr>
          </p:nvSpPr>
          <p:spPr>
            <a:xfrm>
              <a:off x="1333500" y="5080000"/>
              <a:ext cx="2667000" cy="254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endParaRPr lang="en-US" sz="1200" b="1" dirty="0">
                <a:solidFill>
                  <a:srgbClr val="C4A265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举例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想让伴侣早睡：</a:t>
              </a:r>
              <a:endParaRPr lang="en-US" sz="1200" b="1" dirty="0"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❌ "别熬夜了"</a:t>
              </a:r>
              <a:endParaRPr lang="en-US" sz="1200" b="1" dirty="0"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✓ "让对方自己想早睡"</a:t>
              </a:r>
              <a:endPara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10" name="Shape 8"/>
            <p:cNvSpPr/>
            <p:nvPr>
              <p:custDataLst>
                <p:tags r:id="rId8"/>
              </p:custDataLst>
            </p:nvPr>
          </p:nvSpPr>
          <p:spPr>
            <a:xfrm>
              <a:off x="4699000" y="1524000"/>
              <a:ext cx="3302000" cy="6858000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</p:sp>
        <p:sp>
          <p:nvSpPr>
            <p:cNvPr id="11" name="Text 9"/>
            <p:cNvSpPr/>
            <p:nvPr>
              <p:custDataLst>
                <p:tags r:id="rId9"/>
              </p:custDataLst>
            </p:nvPr>
          </p:nvSpPr>
          <p:spPr>
            <a:xfrm>
              <a:off x="5016500" y="1841500"/>
              <a:ext cx="1016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Liter" pitchFamily="34" charset="-120"/>
                </a:rPr>
                <a:t>02</a:t>
              </a:r>
              <a:endPara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2" name="Shape 10"/>
            <p:cNvSpPr/>
            <p:nvPr>
              <p:custDataLst>
                <p:tags r:id="rId10"/>
              </p:custDataLst>
            </p:nvPr>
          </p:nvSpPr>
          <p:spPr>
            <a:xfrm>
              <a:off x="6476246" y="32926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35467" y="76200"/>
                  </a:moveTo>
                  <a:cubicBezTo>
                    <a:pt x="135467" y="48181"/>
                    <a:pt x="165841" y="25400"/>
                    <a:pt x="203200" y="25400"/>
                  </a:cubicBezTo>
                  <a:cubicBezTo>
                    <a:pt x="236749" y="25400"/>
                    <a:pt x="264583" y="43656"/>
                    <a:pt x="269981" y="67707"/>
                  </a:cubicBezTo>
                  <a:cubicBezTo>
                    <a:pt x="273050" y="81518"/>
                    <a:pt x="290513" y="90884"/>
                    <a:pt x="309033" y="88582"/>
                  </a:cubicBezTo>
                  <a:cubicBezTo>
                    <a:pt x="327554" y="86281"/>
                    <a:pt x="339937" y="73184"/>
                    <a:pt x="336867" y="59293"/>
                  </a:cubicBezTo>
                  <a:cubicBezTo>
                    <a:pt x="326073" y="11192"/>
                    <a:pt x="270404" y="-25400"/>
                    <a:pt x="203200" y="-25400"/>
                  </a:cubicBezTo>
                  <a:cubicBezTo>
                    <a:pt x="128376" y="-25400"/>
                    <a:pt x="67733" y="20082"/>
                    <a:pt x="67733" y="76200"/>
                  </a:cubicBezTo>
                  <a:lnTo>
                    <a:pt x="67733" y="127000"/>
                  </a:lnTo>
                  <a:cubicBezTo>
                    <a:pt x="30374" y="127000"/>
                    <a:pt x="0" y="149781"/>
                    <a:pt x="0" y="177800"/>
                  </a:cubicBezTo>
                  <a:lnTo>
                    <a:pt x="0" y="355600"/>
                  </a:lnTo>
                  <a:cubicBezTo>
                    <a:pt x="0" y="383619"/>
                    <a:pt x="30374" y="406400"/>
                    <a:pt x="67733" y="406400"/>
                  </a:cubicBezTo>
                  <a:lnTo>
                    <a:pt x="338667" y="406400"/>
                  </a:lnTo>
                  <a:cubicBezTo>
                    <a:pt x="376026" y="406400"/>
                    <a:pt x="406400" y="383619"/>
                    <a:pt x="406400" y="355600"/>
                  </a:cubicBezTo>
                  <a:lnTo>
                    <a:pt x="406400" y="177800"/>
                  </a:lnTo>
                  <a:cubicBezTo>
                    <a:pt x="406400" y="149781"/>
                    <a:pt x="376026" y="127000"/>
                    <a:pt x="338667" y="127000"/>
                  </a:cubicBezTo>
                  <a:lnTo>
                    <a:pt x="135467" y="127000"/>
                  </a:lnTo>
                  <a:lnTo>
                    <a:pt x="135467" y="76200"/>
                  </a:ln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3" name="Text 11"/>
            <p:cNvSpPr/>
            <p:nvPr>
              <p:custDataLst>
                <p:tags r:id="rId11"/>
              </p:custDataLst>
            </p:nvPr>
          </p:nvSpPr>
          <p:spPr>
            <a:xfrm>
              <a:off x="5016500" y="3238500"/>
              <a:ext cx="2667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Liter" pitchFamily="34" charset="-120"/>
                </a:rPr>
                <a:t>松动信念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4" name="Text 12"/>
            <p:cNvSpPr/>
            <p:nvPr>
              <p:custDataLst>
                <p:tags r:id="rId12"/>
              </p:custDataLst>
            </p:nvPr>
          </p:nvSpPr>
          <p:spPr>
            <a:xfrm>
              <a:off x="5016500" y="3810000"/>
              <a:ext cx="2667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rgbClr val="2A2A2A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找到支撑现有行为的核心信念，逐步松动，让对方自己意识到问题</a:t>
              </a:r>
              <a:endParaRPr lang="en-US" sz="1400" b="1" dirty="0">
                <a:solidFill>
                  <a:srgbClr val="2A2A2A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15" name="Text 13"/>
            <p:cNvSpPr/>
            <p:nvPr>
              <p:custDataLst>
                <p:tags r:id="rId13"/>
              </p:custDataLst>
            </p:nvPr>
          </p:nvSpPr>
          <p:spPr>
            <a:xfrm>
              <a:off x="5016500" y="5080000"/>
              <a:ext cx="2667000" cy="254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endParaRPr lang="en-US" sz="1200" b="1" dirty="0">
                <a:solidFill>
                  <a:srgbClr val="C4A265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举例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熬夜者的心理防线：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"晚上是唯一放松时间"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"我身体没问题"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→ 用事实逐步瓦解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16" name="Shape 14"/>
            <p:cNvSpPr/>
            <p:nvPr>
              <p:custDataLst>
                <p:tags r:id="rId14"/>
              </p:custDataLst>
            </p:nvPr>
          </p:nvSpPr>
          <p:spPr>
            <a:xfrm>
              <a:off x="8382000" y="1524000"/>
              <a:ext cx="3302000" cy="6858000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</p:sp>
        <p:sp>
          <p:nvSpPr>
            <p:cNvPr id="17" name="Text 15"/>
            <p:cNvSpPr/>
            <p:nvPr>
              <p:custDataLst>
                <p:tags r:id="rId15"/>
              </p:custDataLst>
            </p:nvPr>
          </p:nvSpPr>
          <p:spPr>
            <a:xfrm>
              <a:off x="8699500" y="1841500"/>
              <a:ext cx="1016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Liter" pitchFamily="34" charset="-120"/>
                </a:rPr>
                <a:t>03</a:t>
              </a:r>
              <a:endPara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18" name="Shape 16"/>
            <p:cNvSpPr/>
            <p:nvPr>
              <p:custDataLst>
                <p:tags r:id="rId16"/>
              </p:custDataLst>
            </p:nvPr>
          </p:nvSpPr>
          <p:spPr>
            <a:xfrm>
              <a:off x="10177553" y="3292649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400" y="25400"/>
                  </a:moveTo>
                  <a:cubicBezTo>
                    <a:pt x="406400" y="111204"/>
                    <a:pt x="345599" y="182801"/>
                    <a:pt x="264795" y="199549"/>
                  </a:cubicBezTo>
                  <a:cubicBezTo>
                    <a:pt x="258524" y="153432"/>
                    <a:pt x="237808" y="111919"/>
                    <a:pt x="207248" y="79772"/>
                  </a:cubicBezTo>
                  <a:cubicBezTo>
                    <a:pt x="239078" y="31750"/>
                    <a:pt x="293608" y="0"/>
                    <a:pt x="355600" y="0"/>
                  </a:cubicBezTo>
                  <a:lnTo>
                    <a:pt x="381000" y="0"/>
                  </a:lnTo>
                  <a:cubicBezTo>
                    <a:pt x="395049" y="0"/>
                    <a:pt x="406400" y="11351"/>
                    <a:pt x="406400" y="25400"/>
                  </a:cubicBezTo>
                  <a:close/>
                  <a:moveTo>
                    <a:pt x="0" y="76200"/>
                  </a:moveTo>
                  <a:cubicBezTo>
                    <a:pt x="0" y="62151"/>
                    <a:pt x="11351" y="50800"/>
                    <a:pt x="25400" y="50800"/>
                  </a:cubicBezTo>
                  <a:lnTo>
                    <a:pt x="50800" y="50800"/>
                  </a:lnTo>
                  <a:cubicBezTo>
                    <a:pt x="148987" y="50800"/>
                    <a:pt x="228600" y="130413"/>
                    <a:pt x="228600" y="228600"/>
                  </a:cubicBezTo>
                  <a:lnTo>
                    <a:pt x="228600" y="381000"/>
                  </a:lnTo>
                  <a:cubicBezTo>
                    <a:pt x="228600" y="395049"/>
                    <a:pt x="217249" y="406400"/>
                    <a:pt x="203200" y="406400"/>
                  </a:cubicBezTo>
                  <a:cubicBezTo>
                    <a:pt x="189151" y="406400"/>
                    <a:pt x="177800" y="395049"/>
                    <a:pt x="177800" y="381000"/>
                  </a:cubicBezTo>
                  <a:lnTo>
                    <a:pt x="177800" y="254000"/>
                  </a:lnTo>
                  <a:cubicBezTo>
                    <a:pt x="79613" y="254000"/>
                    <a:pt x="0" y="174387"/>
                    <a:pt x="0" y="762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19" name="Text 17"/>
            <p:cNvSpPr/>
            <p:nvPr>
              <p:custDataLst>
                <p:tags r:id="rId17"/>
              </p:custDataLst>
            </p:nvPr>
          </p:nvSpPr>
          <p:spPr>
            <a:xfrm>
              <a:off x="8699500" y="3238500"/>
              <a:ext cx="2667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Liter" pitchFamily="34" charset="-120"/>
                  <a:sym typeface="+mn-ea"/>
                </a:rPr>
                <a:t>自然切入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Liter" pitchFamily="34" charset="-120"/>
                <a:sym typeface="+mn-ea"/>
              </a:endParaRPr>
            </a:p>
          </p:txBody>
        </p:sp>
        <p:sp>
          <p:nvSpPr>
            <p:cNvPr id="20" name="Text 18"/>
            <p:cNvSpPr/>
            <p:nvPr>
              <p:custDataLst>
                <p:tags r:id="rId18"/>
              </p:custDataLst>
            </p:nvPr>
          </p:nvSpPr>
          <p:spPr>
            <a:xfrm>
              <a:off x="8699500" y="3810000"/>
              <a:ext cx="2667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rgbClr val="2A2A2A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信息要以最不像影响的方式植入对方日常，让改变看起来是对方自己的发现</a:t>
              </a:r>
              <a:endParaRPr lang="en-US" sz="1400" b="1" dirty="0">
                <a:solidFill>
                  <a:srgbClr val="2A2A2A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21" name="Text 19"/>
            <p:cNvSpPr/>
            <p:nvPr>
              <p:custDataLst>
                <p:tags r:id="rId19"/>
              </p:custDataLst>
            </p:nvPr>
          </p:nvSpPr>
          <p:spPr>
            <a:xfrm>
              <a:off x="8699500" y="5080000"/>
              <a:ext cx="2667000" cy="254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endParaRPr lang="en-US" sz="1200" b="1" dirty="0">
                <a:solidFill>
                  <a:srgbClr val="C4A265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举例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自然植入的方式：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刷视频时提到熬夜的代价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分享朋友因熬夜健康出问题的事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自己先放下手机做榜样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22" name="Shape 20"/>
            <p:cNvSpPr/>
            <p:nvPr>
              <p:custDataLst>
                <p:tags r:id="rId20"/>
              </p:custDataLst>
            </p:nvPr>
          </p:nvSpPr>
          <p:spPr>
            <a:xfrm>
              <a:off x="12065000" y="1524000"/>
              <a:ext cx="3302000" cy="6858000"/>
            </a:xfrm>
            <a:prstGeom prst="roundRect">
              <a:avLst>
                <a:gd name="adj" fmla="val 6000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</p:sp>
        <p:sp>
          <p:nvSpPr>
            <p:cNvPr id="23" name="Text 21"/>
            <p:cNvSpPr/>
            <p:nvPr>
              <p:custDataLst>
                <p:tags r:id="rId21"/>
              </p:custDataLst>
            </p:nvPr>
          </p:nvSpPr>
          <p:spPr>
            <a:xfrm>
              <a:off x="12382500" y="1841500"/>
              <a:ext cx="1016000" cy="6350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4000" b="1" dirty="0">
                  <a:solidFill>
                    <a:srgbClr val="1E3932"/>
                  </a:solidFill>
                  <a:latin typeface="微软雅黑" panose="020B0503020204020204" pitchFamily="34" charset="-122"/>
                  <a:cs typeface="Liter" pitchFamily="34" charset="-120"/>
                </a:rPr>
                <a:t>04</a:t>
              </a:r>
              <a:endParaRPr lang="en-US" sz="4000" b="1" dirty="0">
                <a:solidFill>
                  <a:srgbClr val="1E3932"/>
                </a:solidFill>
                <a:latin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4" name="Shape 22"/>
            <p:cNvSpPr/>
            <p:nvPr>
              <p:custDataLst>
                <p:tags r:id="rId22"/>
              </p:custDataLst>
            </p:nvPr>
          </p:nvSpPr>
          <p:spPr>
            <a:xfrm>
              <a:off x="13877267" y="327593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70933" y="114300"/>
                  </a:moveTo>
                  <a:cubicBezTo>
                    <a:pt x="270933" y="191452"/>
                    <a:pt x="210256" y="254000"/>
                    <a:pt x="135467" y="254000"/>
                  </a:cubicBezTo>
                  <a:cubicBezTo>
                    <a:pt x="116628" y="254000"/>
                    <a:pt x="98707" y="250031"/>
                    <a:pt x="82409" y="242888"/>
                  </a:cubicBezTo>
                  <a:lnTo>
                    <a:pt x="24836" y="277178"/>
                  </a:lnTo>
                  <a:cubicBezTo>
                    <a:pt x="18274" y="281067"/>
                    <a:pt x="10231" y="279717"/>
                    <a:pt x="4939" y="273844"/>
                  </a:cubicBezTo>
                  <a:cubicBezTo>
                    <a:pt x="-353" y="267970"/>
                    <a:pt x="-1552" y="258842"/>
                    <a:pt x="1976" y="251460"/>
                  </a:cubicBezTo>
                  <a:lnTo>
                    <a:pt x="27093" y="198120"/>
                  </a:lnTo>
                  <a:cubicBezTo>
                    <a:pt x="10089" y="174784"/>
                    <a:pt x="0" y="145733"/>
                    <a:pt x="0" y="114300"/>
                  </a:cubicBezTo>
                  <a:cubicBezTo>
                    <a:pt x="0" y="37147"/>
                    <a:pt x="60678" y="-25400"/>
                    <a:pt x="135467" y="-25400"/>
                  </a:cubicBezTo>
                  <a:cubicBezTo>
                    <a:pt x="210256" y="-25400"/>
                    <a:pt x="270933" y="37147"/>
                    <a:pt x="270933" y="114300"/>
                  </a:cubicBezTo>
                  <a:close/>
                  <a:moveTo>
                    <a:pt x="270933" y="406400"/>
                  </a:moveTo>
                  <a:cubicBezTo>
                    <a:pt x="204541" y="406400"/>
                    <a:pt x="149296" y="357108"/>
                    <a:pt x="137724" y="292100"/>
                  </a:cubicBezTo>
                  <a:cubicBezTo>
                    <a:pt x="222391" y="290909"/>
                    <a:pt x="295981" y="223123"/>
                    <a:pt x="304094" y="131207"/>
                  </a:cubicBezTo>
                  <a:cubicBezTo>
                    <a:pt x="362867" y="146447"/>
                    <a:pt x="406400" y="201295"/>
                    <a:pt x="406400" y="266700"/>
                  </a:cubicBezTo>
                  <a:cubicBezTo>
                    <a:pt x="406400" y="298133"/>
                    <a:pt x="396311" y="327184"/>
                    <a:pt x="379307" y="350520"/>
                  </a:cubicBezTo>
                  <a:lnTo>
                    <a:pt x="404424" y="403860"/>
                  </a:lnTo>
                  <a:cubicBezTo>
                    <a:pt x="407882" y="411242"/>
                    <a:pt x="406682" y="420291"/>
                    <a:pt x="401461" y="426244"/>
                  </a:cubicBezTo>
                  <a:cubicBezTo>
                    <a:pt x="396240" y="432197"/>
                    <a:pt x="388126" y="433546"/>
                    <a:pt x="381564" y="429578"/>
                  </a:cubicBezTo>
                  <a:lnTo>
                    <a:pt x="323991" y="395288"/>
                  </a:lnTo>
                  <a:cubicBezTo>
                    <a:pt x="307693" y="402431"/>
                    <a:pt x="289772" y="406400"/>
                    <a:pt x="270933" y="406400"/>
                  </a:cubicBezTo>
                  <a:close/>
                </a:path>
              </a:pathLst>
            </a:custGeom>
            <a:solidFill>
              <a:schemeClr val="accent1"/>
            </a:solidFill>
          </p:spPr>
        </p:sp>
        <p:sp>
          <p:nvSpPr>
            <p:cNvPr id="25" name="Text 23"/>
            <p:cNvSpPr/>
            <p:nvPr>
              <p:custDataLst>
                <p:tags r:id="rId23"/>
              </p:custDataLst>
            </p:nvPr>
          </p:nvSpPr>
          <p:spPr>
            <a:xfrm>
              <a:off x="12382500" y="3238500"/>
              <a:ext cx="2667000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lvl="0" algn="l" defTabSz="914400" fontAlgn="base">
                <a:lnSpc>
                  <a:spcPct val="120000"/>
                </a:lnSpc>
                <a:buClrTx/>
                <a:buSzTx/>
                <a:buFontTx/>
              </a:pPr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Liter" pitchFamily="34" charset="-120"/>
                  <a:sym typeface="+mn-ea"/>
                </a:rPr>
                <a:t>提出问题</a:t>
              </a:r>
              <a:endPara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Liter" pitchFamily="34" charset="-120"/>
                <a:sym typeface="+mn-ea"/>
              </a:endParaRPr>
            </a:p>
          </p:txBody>
        </p:sp>
        <p:sp>
          <p:nvSpPr>
            <p:cNvPr id="26" name="Text 24"/>
            <p:cNvSpPr/>
            <p:nvPr>
              <p:custDataLst>
                <p:tags r:id="rId24"/>
              </p:custDataLst>
            </p:nvPr>
          </p:nvSpPr>
          <p:spPr>
            <a:xfrm>
              <a:off x="12382500" y="3810000"/>
              <a:ext cx="2667000" cy="127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400" b="1" dirty="0">
                  <a:solidFill>
                    <a:srgbClr val="2A2A2A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信息铺设需要时间发酵，用问题激活对方的自我反省，而非防御</a:t>
              </a:r>
              <a:endParaRPr lang="en-US" sz="1400" b="1" dirty="0">
                <a:solidFill>
                  <a:srgbClr val="2A2A2A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  <p:sp>
          <p:nvSpPr>
            <p:cNvPr id="27" name="Text 25"/>
            <p:cNvSpPr/>
            <p:nvPr>
              <p:custDataLst>
                <p:tags r:id="rId25"/>
              </p:custDataLst>
            </p:nvPr>
          </p:nvSpPr>
          <p:spPr>
            <a:xfrm>
              <a:off x="12382500" y="5080000"/>
              <a:ext cx="2667000" cy="2540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endParaRPr lang="en-US" sz="1200" b="1" dirty="0">
                <a:solidFill>
                  <a:srgbClr val="C4A265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buClrTx/>
                <a:buSzTx/>
                <a:buFontTx/>
              </a:pP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举例</a:t>
              </a:r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时机成熟时平静地问：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4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"你觉得这样下去你会开心吗？"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微软雅黑" panose="020B0503020204020204" pitchFamily="34" charset="-122"/>
                  <a:cs typeface="Quattrocento Sans" pitchFamily="34" charset="-120"/>
                </a:rPr>
                <a:t>问题激活的是自我反省，而非防御抵抗</a:t>
              </a:r>
              <a:endParaRPr 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cs typeface="Quattrocento Sans" pitchFamily="34" charset="-120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407368" y="908720"/>
            <a:ext cx="10552608" cy="5151416"/>
            <a:chOff x="1016000" y="698500"/>
            <a:chExt cx="15045320" cy="7700681"/>
          </a:xfrm>
        </p:grpSpPr>
        <p:sp>
          <p:nvSpPr>
            <p:cNvPr id="16" name="Text 1"/>
            <p:cNvSpPr/>
            <p:nvPr/>
          </p:nvSpPr>
          <p:spPr>
            <a:xfrm>
              <a:off x="1016000" y="698500"/>
              <a:ext cx="11430000" cy="5080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 defTabSz="914400" fontAlgn="base">
                <a:lnSpc>
                  <a:spcPct val="130000"/>
                </a:lnSpc>
                <a:buClrTx/>
                <a:buSzTx/>
                <a:buFontTx/>
              </a:pPr>
              <a:r>
                <a:rPr lang="en-US" sz="21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影响力的道德边界与终极价值</a:t>
              </a:r>
              <a:endPara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7" name="Shape 2"/>
            <p:cNvSpPr/>
            <p:nvPr/>
          </p:nvSpPr>
          <p:spPr>
            <a:xfrm>
              <a:off x="1016000" y="1587502"/>
              <a:ext cx="14224000" cy="1048562"/>
            </a:xfrm>
            <a:prstGeom prst="roundRect">
              <a:avLst>
                <a:gd name="adj" fmla="val 5000"/>
              </a:avLst>
            </a:prstGeom>
            <a:solidFill>
              <a:schemeClr val="accent1"/>
            </a:solidFill>
          </p:spPr>
        </p:sp>
        <p:sp>
          <p:nvSpPr>
            <p:cNvPr id="19" name="Text 4"/>
            <p:cNvSpPr/>
            <p:nvPr/>
          </p:nvSpPr>
          <p:spPr>
            <a:xfrm>
              <a:off x="1397000" y="1562101"/>
              <a:ext cx="13462000" cy="101599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50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ranienbaum" panose="02000506080000020003" pitchFamily="34" charset="-120"/>
                </a:rPr>
                <a:t>影响力本身是中性的，关键在于使用目的</a:t>
              </a:r>
              <a:endPara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endParaRPr>
            </a:p>
          </p:txBody>
        </p:sp>
        <p:sp>
          <p:nvSpPr>
            <p:cNvPr id="20" name="Text 5"/>
            <p:cNvSpPr/>
            <p:nvPr>
              <p:custDataLst>
                <p:tags r:id="rId2"/>
              </p:custDataLst>
            </p:nvPr>
          </p:nvSpPr>
          <p:spPr>
            <a:xfrm>
              <a:off x="1016000" y="3073683"/>
              <a:ext cx="3810001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真正的影响力</a:t>
              </a:r>
              <a:endParaRPr 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1" name="Shape 6"/>
            <p:cNvSpPr/>
            <p:nvPr>
              <p:custDataLst>
                <p:tags r:id="rId3"/>
              </p:custDataLst>
            </p:nvPr>
          </p:nvSpPr>
          <p:spPr>
            <a:xfrm>
              <a:off x="1016000" y="3619783"/>
              <a:ext cx="508000" cy="38100"/>
            </a:xfrm>
            <a:prstGeom prst="rect">
              <a:avLst/>
            </a:prstGeom>
            <a:solidFill>
              <a:schemeClr val="accent1"/>
            </a:solidFill>
          </p:spPr>
        </p:sp>
        <p:sp>
          <p:nvSpPr>
            <p:cNvPr id="22" name="Text 7"/>
            <p:cNvSpPr/>
            <p:nvPr>
              <p:custDataLst>
                <p:tags r:id="rId4"/>
              </p:custDataLst>
            </p:nvPr>
          </p:nvSpPr>
          <p:spPr>
            <a:xfrm>
              <a:off x="1016000" y="3899183"/>
              <a:ext cx="6604000" cy="3302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为对方的利益和成长着想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需要时间发酵，耐心等待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减少对抗，实现共同成长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对方会为自己的选择感到骄傲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建立长期的信任和尊重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Text 8"/>
            <p:cNvSpPr/>
            <p:nvPr>
              <p:custDataLst>
                <p:tags r:id="rId5"/>
              </p:custDataLst>
            </p:nvPr>
          </p:nvSpPr>
          <p:spPr>
            <a:xfrm>
              <a:off x="8382001" y="3073683"/>
              <a:ext cx="3810001" cy="44450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l" defTabSz="914400" fontAlgn="base">
                <a:lnSpc>
                  <a:spcPct val="120000"/>
                </a:lnSpc>
              </a:pPr>
              <a:r>
                <a:rPr lang="en-US" sz="1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iter" pitchFamily="34" charset="-120"/>
                </a:rPr>
                <a:t>操纵的陷阱</a:t>
              </a:r>
              <a:endPara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endParaRPr>
            </a:p>
          </p:txBody>
        </p:sp>
        <p:sp>
          <p:nvSpPr>
            <p:cNvPr id="24" name="Shape 9"/>
            <p:cNvSpPr/>
            <p:nvPr>
              <p:custDataLst>
                <p:tags r:id="rId6"/>
              </p:custDataLst>
            </p:nvPr>
          </p:nvSpPr>
          <p:spPr>
            <a:xfrm>
              <a:off x="8382001" y="3619783"/>
              <a:ext cx="508000" cy="381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</p:sp>
        <p:sp>
          <p:nvSpPr>
            <p:cNvPr id="25" name="Text 10"/>
            <p:cNvSpPr/>
            <p:nvPr>
              <p:custDataLst>
                <p:tags r:id="rId7"/>
              </p:custDataLst>
            </p:nvPr>
          </p:nvSpPr>
          <p:spPr>
            <a:xfrm>
              <a:off x="8382001" y="3899183"/>
              <a:ext cx="6604000" cy="3302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l" defTabSz="914400" fontAlgn="base">
                <a:lnSpc>
                  <a:spcPct val="150000"/>
                </a:lnSpc>
              </a:pP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</a:t>
              </a: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只为自己的利益服务</a:t>
              </a:r>
              <a:endPara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追求短期快速结果</a:t>
              </a:r>
              <a:endPara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一旦被识破，反噬严重</a:t>
              </a:r>
              <a:endPara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留下痕迹，损害信任关系</a:t>
              </a:r>
              <a:endPara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defTabSz="914400" fontAlgn="base">
                <a:lnSpc>
                  <a:spcPct val="150000"/>
                </a:lnSpc>
                <a:spcBef>
                  <a:spcPts val="800"/>
                </a:spcBef>
              </a:pPr>
              <a:r>
                <a: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• 长期内失去影响力</a:t>
              </a:r>
              <a:endPara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Shape 11"/>
            <p:cNvSpPr/>
            <p:nvPr>
              <p:custDataLst>
                <p:tags r:id="rId8"/>
              </p:custDataLst>
            </p:nvPr>
          </p:nvSpPr>
          <p:spPr>
            <a:xfrm>
              <a:off x="8001000" y="3073683"/>
              <a:ext cx="12701" cy="4191000"/>
            </a:xfrm>
            <a:prstGeom prst="rect">
              <a:avLst/>
            </a:prstGeom>
            <a:solidFill>
              <a:srgbClr val="D5D0C8"/>
            </a:solidFill>
          </p:spPr>
        </p:sp>
        <p:sp>
          <p:nvSpPr>
            <p:cNvPr id="27" name="Text 12"/>
            <p:cNvSpPr/>
            <p:nvPr/>
          </p:nvSpPr>
          <p:spPr>
            <a:xfrm>
              <a:off x="1837320" y="8018181"/>
              <a:ext cx="14224000" cy="3810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 defTabSz="914400" fontAlgn="base">
                <a:lnSpc>
                  <a:spcPct val="12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Quattrocento Sans" pitchFamily="34" charset="-120"/>
                </a:rPr>
                <a:t>理解信息环境设计，理解人是如何真正被改变的，才能实现真正的影响力</a:t>
              </a:r>
              <a:endParaRPr 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4497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 lnSpcReduction="10000"/>
          </a:bodyPr>
          <a:lstStyle/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在你的团队中找出一位你最想让其改变某种行为的同事，对其进行“选择架构”设计式“引导”，以实现你的目的。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要求：选择背景澄清，描述你的“设计”过程，以及最终取得的成效。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95500"/>
            <a:ext cx="1905000" cy="6667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  <a:sym typeface="+mn-ea"/>
              </a:rPr>
              <a:t>05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2857500"/>
            <a:ext cx="571500" cy="285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Text 2"/>
          <p:cNvSpPr/>
          <p:nvPr/>
        </p:nvSpPr>
        <p:spPr>
          <a:xfrm>
            <a:off x="762000" y="3048000"/>
            <a:ext cx="5715000" cy="47625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汉仪粗宋简" panose="02010600000101010101" charset="-122"/>
                <a:cs typeface="Oranienbaum" panose="02000506080000020003" pitchFamily="34" charset="-120"/>
                <a:sym typeface="+mn-ea"/>
              </a:rPr>
              <a:t>落地行动计划</a:t>
            </a:r>
            <a:endParaRPr 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汉仪粗宋简" panose="02010600000101010101" charset="-122"/>
              <a:cs typeface="Oranienbaum" panose="02000506080000020003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3667125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把今天学到的带回团队</a:t>
            </a:r>
            <a:endParaRPr lang="en-US" sz="15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83615" y="883920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管理者的自我修炼</a:t>
            </a:r>
            <a:endParaRPr 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3615" y="1283970"/>
            <a:ext cx="7620000" cy="2476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  <a:buClrTx/>
              <a:buSzTx/>
              <a:buFontTx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从个人贡献者到团队领导者，是一场持续的修行</a:t>
            </a:r>
            <a:endParaRPr 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955800" y="1644650"/>
            <a:ext cx="4839596" cy="2150932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224666" y="1958328"/>
            <a:ext cx="358489" cy="358489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31750"/>
                </a:moveTo>
                <a:cubicBezTo>
                  <a:pt x="508000" y="139005"/>
                  <a:pt x="431998" y="228501"/>
                  <a:pt x="330994" y="249436"/>
                </a:cubicBezTo>
                <a:cubicBezTo>
                  <a:pt x="323155" y="191790"/>
                  <a:pt x="297259" y="139898"/>
                  <a:pt x="259060" y="99715"/>
                </a:cubicBezTo>
                <a:cubicBezTo>
                  <a:pt x="298847" y="39688"/>
                  <a:pt x="367010" y="0"/>
                  <a:pt x="444500" y="0"/>
                </a:cubicBezTo>
                <a:lnTo>
                  <a:pt x="476250" y="0"/>
                </a:lnTo>
                <a:cubicBezTo>
                  <a:pt x="493812" y="0"/>
                  <a:pt x="508000" y="14188"/>
                  <a:pt x="508000" y="31750"/>
                </a:cubicBezTo>
                <a:close/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63500" y="63500"/>
                </a:lnTo>
                <a:cubicBezTo>
                  <a:pt x="186234" y="63500"/>
                  <a:pt x="285750" y="163016"/>
                  <a:pt x="285750" y="285750"/>
                </a:cubicBezTo>
                <a:lnTo>
                  <a:pt x="285750" y="476250"/>
                </a:lnTo>
                <a:cubicBezTo>
                  <a:pt x="285750" y="493812"/>
                  <a:pt x="271562" y="508000"/>
                  <a:pt x="254000" y="508000"/>
                </a:cubicBezTo>
                <a:cubicBezTo>
                  <a:pt x="236438" y="508000"/>
                  <a:pt x="222250" y="493812"/>
                  <a:pt x="222250" y="476250"/>
                </a:cubicBezTo>
                <a:lnTo>
                  <a:pt x="222250" y="317500"/>
                </a:lnTo>
                <a:cubicBezTo>
                  <a:pt x="99516" y="317500"/>
                  <a:pt x="0" y="217984"/>
                  <a:pt x="0" y="95250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717588" y="1958328"/>
            <a:ext cx="3853753" cy="322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培育新人</a:t>
            </a:r>
            <a:endParaRPr 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224666" y="2496060"/>
            <a:ext cx="4346675" cy="1075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给年轻人成长的空间和容错的机会。今天的潜力股，就是明天的骨干力量。耐心培养是对团队未来最好的投资。</a:t>
            </a:r>
            <a:endParaRPr 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6153885" y="1644650"/>
            <a:ext cx="4839596" cy="2150932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422751" y="1958328"/>
            <a:ext cx="358489" cy="358489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46592" y="30758"/>
                </a:moveTo>
                <a:cubicBezTo>
                  <a:pt x="234156" y="11410"/>
                  <a:pt x="214224" y="0"/>
                  <a:pt x="193058" y="0"/>
                </a:cubicBezTo>
                <a:cubicBezTo>
                  <a:pt x="156545" y="0"/>
                  <a:pt x="127000" y="33238"/>
                  <a:pt x="127000" y="74315"/>
                </a:cubicBezTo>
                <a:lnTo>
                  <a:pt x="127000" y="76696"/>
                </a:lnTo>
                <a:cubicBezTo>
                  <a:pt x="127000" y="140593"/>
                  <a:pt x="199319" y="209054"/>
                  <a:pt x="234774" y="238720"/>
                </a:cubicBezTo>
                <a:cubicBezTo>
                  <a:pt x="246239" y="248345"/>
                  <a:pt x="261673" y="248345"/>
                  <a:pt x="273138" y="238720"/>
                </a:cubicBezTo>
                <a:cubicBezTo>
                  <a:pt x="308592" y="208955"/>
                  <a:pt x="380912" y="140593"/>
                  <a:pt x="380912" y="76696"/>
                </a:cubicBezTo>
                <a:lnTo>
                  <a:pt x="380912" y="74315"/>
                </a:lnTo>
                <a:cubicBezTo>
                  <a:pt x="380912" y="33238"/>
                  <a:pt x="351367" y="0"/>
                  <a:pt x="314854" y="0"/>
                </a:cubicBezTo>
                <a:cubicBezTo>
                  <a:pt x="293688" y="0"/>
                  <a:pt x="273756" y="11410"/>
                  <a:pt x="261320" y="30758"/>
                </a:cubicBezTo>
                <a:lnTo>
                  <a:pt x="254000" y="42366"/>
                </a:lnTo>
                <a:lnTo>
                  <a:pt x="246592" y="30758"/>
                </a:lnTo>
                <a:close/>
                <a:moveTo>
                  <a:pt x="96397" y="338832"/>
                </a:moveTo>
                <a:lnTo>
                  <a:pt x="58826" y="381000"/>
                </a:lnTo>
                <a:lnTo>
                  <a:pt x="28222" y="381000"/>
                </a:lnTo>
                <a:cubicBezTo>
                  <a:pt x="12612" y="381000"/>
                  <a:pt x="0" y="395188"/>
                  <a:pt x="0" y="412750"/>
                </a:cubicBezTo>
                <a:lnTo>
                  <a:pt x="0" y="476250"/>
                </a:lnTo>
                <a:cubicBezTo>
                  <a:pt x="0" y="493812"/>
                  <a:pt x="12612" y="508000"/>
                  <a:pt x="28222" y="508000"/>
                </a:cubicBezTo>
                <a:lnTo>
                  <a:pt x="310885" y="508000"/>
                </a:lnTo>
                <a:cubicBezTo>
                  <a:pt x="336462" y="508000"/>
                  <a:pt x="361421" y="498773"/>
                  <a:pt x="382058" y="481707"/>
                </a:cubicBezTo>
                <a:lnTo>
                  <a:pt x="493713" y="389136"/>
                </a:lnTo>
                <a:cubicBezTo>
                  <a:pt x="509411" y="376138"/>
                  <a:pt x="512762" y="351334"/>
                  <a:pt x="501209" y="333673"/>
                </a:cubicBezTo>
                <a:cubicBezTo>
                  <a:pt x="489656" y="316012"/>
                  <a:pt x="467607" y="312241"/>
                  <a:pt x="451908" y="325239"/>
                </a:cubicBezTo>
                <a:lnTo>
                  <a:pt x="346251" y="412750"/>
                </a:lnTo>
                <a:lnTo>
                  <a:pt x="246944" y="412750"/>
                </a:lnTo>
                <a:cubicBezTo>
                  <a:pt x="235215" y="412750"/>
                  <a:pt x="225778" y="402134"/>
                  <a:pt x="225778" y="388938"/>
                </a:cubicBezTo>
                <a:cubicBezTo>
                  <a:pt x="225778" y="375741"/>
                  <a:pt x="235215" y="365125"/>
                  <a:pt x="246944" y="365125"/>
                </a:cubicBezTo>
                <a:lnTo>
                  <a:pt x="310444" y="365125"/>
                </a:lnTo>
                <a:cubicBezTo>
                  <a:pt x="326055" y="365125"/>
                  <a:pt x="338667" y="350937"/>
                  <a:pt x="338667" y="333375"/>
                </a:cubicBezTo>
                <a:cubicBezTo>
                  <a:pt x="338667" y="315813"/>
                  <a:pt x="326055" y="301625"/>
                  <a:pt x="310444" y="301625"/>
                </a:cubicBezTo>
                <a:lnTo>
                  <a:pt x="176213" y="301625"/>
                </a:lnTo>
                <a:cubicBezTo>
                  <a:pt x="146315" y="301625"/>
                  <a:pt x="117563" y="315020"/>
                  <a:pt x="96397" y="338832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6915673" y="1958328"/>
            <a:ext cx="3853753" cy="322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稳住骨干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422751" y="2496060"/>
            <a:ext cx="4346675" cy="1075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骨干是团队的压舱石。用授权表达信任，用看见回应付出，用关怀留住人心。别让默默付出的人寒了心。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955800" y="4064448"/>
            <a:ext cx="4839596" cy="2150932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8F6F3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1224666" y="4378126"/>
            <a:ext cx="358489" cy="358489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349" y="190500"/>
                </a:move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23812"/>
                </a:lnTo>
                <a:cubicBezTo>
                  <a:pt x="508000" y="14188"/>
                  <a:pt x="502245" y="5457"/>
                  <a:pt x="493316" y="1786"/>
                </a:cubicBezTo>
                <a:cubicBezTo>
                  <a:pt x="484386" y="-1885"/>
                  <a:pt x="474166" y="198"/>
                  <a:pt x="467320" y="6945"/>
                </a:cubicBezTo>
                <a:lnTo>
                  <a:pt x="416024" y="58341"/>
                </a:lnTo>
                <a:cubicBezTo>
                  <a:pt x="372070" y="21927"/>
                  <a:pt x="315516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ubicBezTo>
                  <a:pt x="78581" y="134441"/>
                  <a:pt x="158055" y="63500"/>
                  <a:pt x="254000" y="63500"/>
                </a:cubicBezTo>
                <a:cubicBezTo>
                  <a:pt x="298053" y="63500"/>
                  <a:pt x="338534" y="78383"/>
                  <a:pt x="370780" y="103485"/>
                </a:cubicBezTo>
                <a:lnTo>
                  <a:pt x="324445" y="149820"/>
                </a:lnTo>
                <a:cubicBezTo>
                  <a:pt x="317599" y="156666"/>
                  <a:pt x="315615" y="166886"/>
                  <a:pt x="319286" y="175816"/>
                </a:cubicBezTo>
                <a:cubicBezTo>
                  <a:pt x="322957" y="184745"/>
                  <a:pt x="331688" y="190500"/>
                  <a:pt x="341313" y="190500"/>
                </a:cubicBezTo>
                <a:lnTo>
                  <a:pt x="476349" y="190500"/>
                </a:lnTo>
                <a:close/>
                <a:moveTo>
                  <a:pt x="505520" y="290215"/>
                </a:moveTo>
                <a:cubicBezTo>
                  <a:pt x="508000" y="272852"/>
                  <a:pt x="495895" y="256778"/>
                  <a:pt x="478631" y="254298"/>
                </a:cubicBezTo>
                <a:cubicBezTo>
                  <a:pt x="461367" y="251817"/>
                  <a:pt x="445195" y="263922"/>
                  <a:pt x="442714" y="281186"/>
                </a:cubicBezTo>
                <a:cubicBezTo>
                  <a:pt x="429518" y="373459"/>
                  <a:pt x="350044" y="444401"/>
                  <a:pt x="254099" y="444401"/>
                </a:cubicBezTo>
                <a:cubicBezTo>
                  <a:pt x="210046" y="444401"/>
                  <a:pt x="169565" y="429518"/>
                  <a:pt x="137319" y="404416"/>
                </a:cubicBezTo>
                <a:lnTo>
                  <a:pt x="183555" y="358180"/>
                </a:lnTo>
                <a:cubicBezTo>
                  <a:pt x="190401" y="351334"/>
                  <a:pt x="192385" y="341114"/>
                  <a:pt x="188714" y="332184"/>
                </a:cubicBezTo>
                <a:cubicBezTo>
                  <a:pt x="185043" y="323255"/>
                  <a:pt x="176312" y="317500"/>
                  <a:pt x="16668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84187"/>
                </a:lnTo>
                <a:cubicBezTo>
                  <a:pt x="0" y="493812"/>
                  <a:pt x="5755" y="502543"/>
                  <a:pt x="14684" y="506214"/>
                </a:cubicBezTo>
                <a:cubicBezTo>
                  <a:pt x="23614" y="509885"/>
                  <a:pt x="33834" y="507802"/>
                  <a:pt x="40680" y="501055"/>
                </a:cubicBezTo>
                <a:lnTo>
                  <a:pt x="92075" y="449659"/>
                </a:lnTo>
                <a:cubicBezTo>
                  <a:pt x="135930" y="486073"/>
                  <a:pt x="192484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717588" y="4378126"/>
            <a:ext cx="3853753" cy="322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盘活倦怠</a:t>
            </a:r>
            <a:endParaRPr 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224666" y="4915859"/>
            <a:ext cx="4346675" cy="1075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老员工曾经也是骨干。用公平唤醒初心，用沟通解开疙瘩，让他们重新找到被团队需要的价值感。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153885" y="4064448"/>
            <a:ext cx="4839596" cy="2150932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6422751" y="4378126"/>
            <a:ext cx="358489" cy="358489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915673" y="4378126"/>
            <a:ext cx="3853753" cy="322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凝聚团队</a:t>
            </a:r>
            <a:endParaRPr lang="en-US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423025" y="4869180"/>
            <a:ext cx="4594860" cy="1075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真正的管理，不是强行改变他人的想法，而是设计一个能让对方主动改变、自我成长的环境</a:t>
            </a: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。</a:t>
            </a:r>
            <a:b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</a:b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让队伍因认同而凝聚，因价值而前行，这才是凝聚团队的根本之道。</a:t>
            </a: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endParaRPr lang="zh-CN" alt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9470" y="868680"/>
            <a:ext cx="5715000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30000"/>
              </a:lnSpc>
              <a:buClrTx/>
              <a:buSzTx/>
              <a:buFontTx/>
            </a:pPr>
            <a:r>
              <a:rPr 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三项行动</a:t>
            </a:r>
            <a:r>
              <a:rPr lang="zh-CN" altLang="en-US" sz="21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：尝试把今天分享的带回团队</a:t>
            </a:r>
            <a:endParaRPr lang="zh-CN" altLang="en-US" sz="21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9470" y="1268413"/>
            <a:ext cx="7620000" cy="2476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40000"/>
              </a:lnSpc>
              <a:buClrTx/>
              <a:buSzTx/>
              <a:buFontTx/>
            </a:pPr>
            <a:r>
              <a:rPr lang="zh-CN" alt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将培训所学转化为团队管理的具体行动，落地见效才是关键</a:t>
            </a:r>
            <a:endParaRPr lang="zh-CN" alt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628775"/>
            <a:ext cx="3429000" cy="4572000"/>
          </a:xfrm>
          <a:prstGeom prst="roundRect">
            <a:avLst>
              <a:gd name="adj" fmla="val 6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6" name="Text 4"/>
          <p:cNvSpPr/>
          <p:nvPr/>
        </p:nvSpPr>
        <p:spPr>
          <a:xfrm>
            <a:off x="1047750" y="1962150"/>
            <a:ext cx="2857500" cy="666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01</a:t>
            </a:r>
            <a:endParaRPr lang="en-US" sz="4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7750" y="2771775"/>
            <a:ext cx="28575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人才分类画像</a:t>
            </a:r>
            <a:endParaRPr lang="en-US" sz="1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7750" y="3248025"/>
            <a:ext cx="476250" cy="190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9" name="Text 7"/>
          <p:cNvSpPr/>
          <p:nvPr/>
        </p:nvSpPr>
        <p:spPr>
          <a:xfrm>
            <a:off x="989330" y="3486150"/>
            <a:ext cx="2915920" cy="2381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正式完成全员人才分类，把每一位员工归入四类画像之中，做好人才盘点。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200"/>
              </a:spcBef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对照能力与意愿两个标尺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给每位员工打上类型标签</a:t>
            </a:r>
            <a:endParaRPr lang="en-US" sz="13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1500" y="1628775"/>
            <a:ext cx="3429000" cy="45720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Text 9"/>
          <p:cNvSpPr/>
          <p:nvPr/>
        </p:nvSpPr>
        <p:spPr>
          <a:xfrm>
            <a:off x="4667250" y="1962150"/>
            <a:ext cx="2857500" cy="666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02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7250" y="2771775"/>
            <a:ext cx="28575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一对一谈心</a:t>
            </a:r>
            <a:endParaRPr lang="en-US" sz="18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7250" y="3248025"/>
            <a:ext cx="476250" cy="190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4" name="Text 12"/>
          <p:cNvSpPr/>
          <p:nvPr/>
        </p:nvSpPr>
        <p:spPr>
          <a:xfrm>
            <a:off x="4667250" y="3486150"/>
            <a:ext cx="2857500" cy="2381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三十天内完成一对一谈心，多倾听诉求，少单向下达指令。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200"/>
              </a:spcBef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了解每个人的真实状态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倾听委屈、期望与顾虑</a:t>
            </a:r>
            <a:endParaRPr 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01000" y="1628775"/>
            <a:ext cx="3429000" cy="4572000"/>
          </a:xfrm>
          <a:prstGeom prst="roundRect">
            <a:avLst>
              <a:gd name="adj" fmla="val 6000"/>
            </a:avLst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" name="Text 14"/>
          <p:cNvSpPr/>
          <p:nvPr/>
        </p:nvSpPr>
        <p:spPr>
          <a:xfrm>
            <a:off x="8286750" y="1962150"/>
            <a:ext cx="2857500" cy="666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03</a:t>
            </a:r>
            <a:endParaRPr 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86750" y="2771775"/>
            <a:ext cx="28575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defTabSz="914400" fontAlgn="base">
              <a:lnSpc>
                <a:spcPct val="120000"/>
              </a:lnSpc>
            </a:pPr>
            <a:r>
              <a:rPr lang="en-US" sz="180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ranienbaum" panose="02000506080000020003" pitchFamily="34" charset="-120"/>
              </a:rPr>
              <a:t>重新排布工作</a:t>
            </a:r>
            <a:endParaRPr lang="en-US" sz="180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6750" y="3248025"/>
            <a:ext cx="476250" cy="1905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9" name="Text 17"/>
          <p:cNvSpPr/>
          <p:nvPr/>
        </p:nvSpPr>
        <p:spPr>
          <a:xfrm>
            <a:off x="8286750" y="3486150"/>
            <a:ext cx="2857500" cy="2381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扬长避短均衡工作量，激活整个团队氛围。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  <a:spcBef>
                <a:spcPts val="1200"/>
              </a:spcBef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按人才类型匹配任务</a:t>
            </a:r>
            <a:endParaRPr 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fontAlgn="base">
              <a:lnSpc>
                <a:spcPct val="160000"/>
              </a:lnSpc>
            </a:pP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打破少数人负重的局面</a:t>
            </a:r>
            <a:br>
              <a:rPr 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</a:br>
            <a:r>
              <a:rPr lang="en-US" sz="13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▎</a:t>
            </a:r>
            <a:r>
              <a:rPr lang="zh-CN" altLang="en-US" sz="1350" b="1" dirty="0">
                <a:solidFill>
                  <a:srgbClr val="2D29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为不同类型员工设计适配的成长目标与任务</a:t>
            </a: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  <a:p>
            <a:pPr algn="l" defTabSz="914400" fontAlgn="base">
              <a:lnSpc>
                <a:spcPct val="160000"/>
              </a:lnSpc>
            </a:pPr>
            <a:endParaRPr lang="zh-CN" altLang="en-US" sz="1350" b="1" dirty="0">
              <a:solidFill>
                <a:srgbClr val="2D29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47850" y="2997200"/>
            <a:ext cx="8637905" cy="144970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rmAutofit/>
          </a:bodyPr>
          <a:lstStyle/>
          <a:p>
            <a:pPr defTabSz="914400" fontAlgn="base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将培训所学转化为团队管理的具体行动。</a:t>
            </a:r>
            <a:b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按上页过程进行操作，并记录每一步关键管理动作与员工反馈信息。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defTabSz="914400" fontAlgn="base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作业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905" y="1701165"/>
            <a:ext cx="914400" cy="9144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279650" y="1845310"/>
            <a:ext cx="1346200" cy="555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defTabSz="914400" fontAlgn="base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472941" y="2619375"/>
            <a:ext cx="3246120" cy="564515"/>
          </a:xfrm>
          <a:prstGeom prst="rect">
            <a:avLst/>
          </a:prstGeom>
          <a:noFill/>
          <a:ln w="3175">
            <a:noFill/>
            <a:prstDash val="dash"/>
          </a:ln>
          <a:effectLst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rtlCol="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</a:pPr>
            <a:r>
              <a:rPr sz="3200" b="1" spc="288" dirty="0" err="1">
                <a:ln w="3175">
                  <a:noFill/>
                  <a:prstDash val="dash"/>
                </a:ln>
                <a:pattFill prst="dashDnDiag">
                  <a:fgClr>
                    <a:schemeClr val="accent1"/>
                  </a:fgClr>
                  <a:bgClr>
                    <a:schemeClr val="accent1">
                      <a:lumMod val="50000"/>
                    </a:schemeClr>
                  </a:bgClr>
                </a:pattFill>
                <a:uFillTx/>
                <a:latin typeface="微软雅黑" panose="020B0503020204020204" pitchFamily="34" charset="-122"/>
                <a:ea typeface="汉仪粗宋简" panose="02010600000101010101" charset="-122"/>
                <a:cs typeface="微软雅黑" panose="020B0503020204020204" pitchFamily="34" charset="-122"/>
                <a:sym typeface="+mn-ea"/>
              </a:rPr>
              <a:t>真正的管理本事</a:t>
            </a:r>
            <a:endParaRPr sz="3200" b="1" spc="288" dirty="0" err="1">
              <a:ln w="3175">
                <a:noFill/>
                <a:prstDash val="dash"/>
              </a:ln>
              <a:pattFill prst="dashDnDiag">
                <a:fgClr>
                  <a:schemeClr val="accent1"/>
                </a:fgClr>
                <a:bgClr>
                  <a:schemeClr val="accent1">
                    <a:lumMod val="50000"/>
                  </a:schemeClr>
                </a:bgClr>
              </a:pattFill>
              <a:uFillTx/>
              <a:latin typeface="微软雅黑" panose="020B0503020204020204" pitchFamily="34" charset="-122"/>
              <a:ea typeface="汉仪粗宋简" panose="02010600000101010101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23795" y="3589655"/>
            <a:ext cx="7620000" cy="42989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ctr" defTabSz="914400" fontAlgn="base">
              <a:lnSpc>
                <a:spcPct val="120000"/>
              </a:lnSpc>
              <a:buClrTx/>
              <a:buSzTx/>
              <a:buFontTx/>
            </a:pPr>
            <a:endParaRPr lang="en-US" sz="1500" b="1" kern="0" spc="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  <a:p>
            <a:pPr lvl="0" algn="ctr" defTabSz="914400" fontAlgn="base">
              <a:lnSpc>
                <a:spcPct val="120000"/>
              </a:lnSpc>
              <a:buClrTx/>
              <a:buSzTx/>
              <a:buFontTx/>
            </a:pPr>
            <a:r>
              <a:rPr lang="en-US" sz="1500" b="1" kern="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  <a:sym typeface="+mn-ea"/>
              </a:rPr>
              <a:t>用好每个人的长处，点燃每个人内心的积极性</a:t>
            </a:r>
            <a:endParaRPr lang="en-US" sz="1500" b="1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  <a:p>
            <a:pPr lvl="0" algn="ctr" defTabSz="914400" fontAlgn="base">
              <a:lnSpc>
                <a:spcPct val="120000"/>
              </a:lnSpc>
              <a:buClrTx/>
              <a:buSzTx/>
              <a:buFontTx/>
            </a:pPr>
            <a:endParaRPr lang="en-US" sz="1500" b="1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91000" y="4953000"/>
            <a:ext cx="3810000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 defTabSz="914400" fontAlgn="base">
              <a:lnSpc>
                <a:spcPct val="120000"/>
              </a:lnSpc>
            </a:pPr>
            <a:r>
              <a:rPr lang="en-US" sz="1500" b="1" kern="0" spc="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ter" pitchFamily="34" charset="-120"/>
              </a:rPr>
              <a:t>谢谢大家</a:t>
            </a:r>
            <a:endParaRPr lang="en-US" sz="1500" b="1" kern="0" spc="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ter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5771727" y="114300"/>
            <a:ext cx="6420273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sz="2665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扫码完成《激励与引导》满意度调研</a:t>
            </a:r>
            <a:endParaRPr lang="zh-CN" sz="2400" b="1" dirty="0" smtClean="0">
              <a:solidFill>
                <a:srgbClr val="1F43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7440" y="1069340"/>
            <a:ext cx="4814570" cy="4814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7157720" y="114300"/>
            <a:ext cx="5034280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sz="2665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《激励与引导》作业安排</a:t>
            </a:r>
            <a:endParaRPr lang="zh-CN" sz="2400" b="1" dirty="0" smtClean="0">
              <a:solidFill>
                <a:srgbClr val="1F43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93087" y="1172633"/>
            <a:ext cx="4886960" cy="1291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zh-CN" sz="180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提交时间：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8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月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pitchFamily="34" charset="-122"/>
              </a:rPr>
              <a:t>日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zh-CN" sz="180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注意事项：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请大家合理规划时间，按期完成作业，确保上级批阅后再提交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563360" y="2896447"/>
          <a:ext cx="5245100" cy="3575685"/>
        </p:xfrm>
        <a:graphic>
          <a:graphicData uri="http://schemas.openxmlformats.org/drawingml/2006/table">
            <a:tbl>
              <a:tblPr/>
              <a:tblGrid>
                <a:gridCol w="5245100"/>
              </a:tblGrid>
              <a:tr h="19621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作业提交与批阅流程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379470">
                <a:tc>
                  <a:txBody>
                    <a:bodyPr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、创建模板副本：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创建此模板表单副本，命名：激励与引导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实践作业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张三；</a:t>
                      </a:r>
                      <a:b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、完成作业填写：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完成表单中【基础信息】【作业回答区】内容填写；</a:t>
                      </a:r>
                      <a:b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、提交上级批阅：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将个人作业发上级查阅并完成评分与点评，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上级完成评分后将个人作业提交至共享文件夹对应组文件夹内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200" b="1" i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1" i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、组长作业跟进：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组长检查本组作业是否全部提交且均完成上级评分，按时（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日）完成提交后告知班主任，完成组可加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分。</a:t>
                      </a:r>
                      <a:b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</a:t>
                      </a:r>
                      <a:r>
                        <a:rPr lang="en-US" altLang="zh-CN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——————</a:t>
                      </a:r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</a:t>
                      </a:r>
                      <a:r>
                        <a:rPr lang="en-US" altLang="zh-CN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项内容需于</a:t>
                      </a:r>
                      <a:r>
                        <a:rPr lang="en-US" altLang="zh-CN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日前完成</a:t>
                      </a:r>
                      <a:r>
                        <a:rPr lang="en-US" altLang="zh-CN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———————</a:t>
                      </a:r>
                      <a:b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、导师依次批阅：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所有作业上传共享盘后，班主任提醒导师进行作业评审；</a:t>
                      </a:r>
                      <a:b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1" i="0">
                          <a:solidFill>
                            <a:srgbClr val="2F75B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、作业统分公示：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所有作业上级与导师均评审结束后，班主任进行统分与作业得分公示。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811953" y="1313180"/>
          <a:ext cx="4592320" cy="4911090"/>
        </p:xfrm>
        <a:graphic>
          <a:graphicData uri="http://schemas.openxmlformats.org/drawingml/2006/table">
            <a:tbl>
              <a:tblPr/>
              <a:tblGrid>
                <a:gridCol w="1054735"/>
                <a:gridCol w="601345"/>
                <a:gridCol w="1069340"/>
                <a:gridCol w="488315"/>
                <a:gridCol w="540385"/>
                <a:gridCol w="419100"/>
                <a:gridCol w="419100"/>
              </a:tblGrid>
              <a:tr h="229235">
                <a:tc gridSpan="7">
                  <a:txBody>
                    <a:bodyPr/>
                    <a:p>
                      <a:pPr algn="ctr" fontAlgn="ctr"/>
                      <a:r>
                        <a:rPr lang="zh-CN" altLang="en-US" sz="93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景锐计划【激励与引导】实践作业</a:t>
                      </a:r>
                      <a:endParaRPr lang="zh-CN" altLang="en-US" sz="935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gridSpan="7">
                  <a:txBody>
                    <a:bodyPr/>
                    <a:p>
                      <a:pPr algn="ctr" fontAlgn="ctr"/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基础信息</a:t>
                      </a:r>
                      <a:endParaRPr lang="zh-CN" altLang="en-US" sz="665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255"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工号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科室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作业总分</a:t>
                      </a:r>
                      <a:endParaRPr lang="zh-CN" altLang="en-US"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algn="ctr" fontAlgn="ctr"/>
                      <a:endParaRPr sz="665" b="0" i="0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65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255">
                <a:tc gridSpan="5">
                  <a:txBody>
                    <a:bodyPr/>
                    <a:p>
                      <a:pPr algn="ctr" fontAlgn="ctr"/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作业回答区</a:t>
                      </a:r>
                      <a:r>
                        <a:rPr lang="en-US" altLang="zh-CN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学员填</a:t>
                      </a:r>
                      <a:endParaRPr lang="zh-CN" altLang="en-US" sz="665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作业评分区</a:t>
                      </a:r>
                      <a:r>
                        <a:rPr lang="en-US" altLang="zh-CN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r>
                        <a:rPr lang="en-US" altLang="zh-CN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665" b="1" i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导师填</a:t>
                      </a:r>
                      <a:endParaRPr lang="zh-CN" altLang="en-US" sz="665" b="1" i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rowSpan="2" gridSpan="5">
                  <a:txBody>
                    <a:bodyPr/>
                    <a:p>
                      <a:pPr algn="l" fontAlgn="ctr"/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第一题（</a:t>
                      </a:r>
                      <a:r>
                        <a:rPr lang="en-US" altLang="zh-CN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学分）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做一次人员盘点，将你团队的员工打上标签分类，要求有明确的分类依据（注意隐私安全：用</a:t>
                      </a:r>
                      <a:r>
                        <a:rPr lang="en-US" altLang="zh-CN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代替员工姓名）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4630">
                <a:tc vMerge="1" gridSpan="5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等级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输入总分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2135">
                <a:tc gridSpan="5">
                  <a:txBody>
                    <a:bodyPr/>
                    <a:p>
                      <a:pPr algn="l" fontAlgn="ctr"/>
                      <a:r>
                        <a:rPr lang="zh-CN" altLang="en-US" sz="535" b="0" i="1">
                          <a:solidFill>
                            <a:srgbClr val="AEAAA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输入答案</a:t>
                      </a:r>
                      <a:endParaRPr lang="zh-CN" altLang="en-US" sz="535" b="0" i="1">
                        <a:solidFill>
                          <a:srgbClr val="AEAAA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上级点评：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导师点评：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065">
                <a:tc rowSpan="2" gridSpan="5">
                  <a:txBody>
                    <a:bodyPr/>
                    <a:p>
                      <a:pPr algn="l" fontAlgn="ctr"/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第二题（</a:t>
                      </a:r>
                      <a:r>
                        <a:rPr lang="en-US" altLang="zh-CN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学分）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在景嘉微，你经历过的物质激励失效的场景？分析下原因。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4630">
                <a:tc vMerge="1" gridSpan="5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等级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输入总分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8170">
                <a:tc gridSpan="5">
                  <a:txBody>
                    <a:bodyPr/>
                    <a:p>
                      <a:pPr algn="l" fontAlgn="ctr"/>
                      <a:r>
                        <a:rPr lang="zh-CN" altLang="en-US" sz="535" b="0" i="1">
                          <a:solidFill>
                            <a:srgbClr val="AEAAA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输入答案</a:t>
                      </a:r>
                      <a:endParaRPr lang="zh-CN" altLang="en-US" sz="535" b="0" i="1">
                        <a:solidFill>
                          <a:srgbClr val="AEAAA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t"/>
                      <a:endParaRPr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endParaRPr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3195">
                <a:tc rowSpan="2" gridSpan="5">
                  <a:txBody>
                    <a:bodyPr/>
                    <a:p>
                      <a:pPr algn="l" fontAlgn="ctr"/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第三题（</a:t>
                      </a:r>
                      <a:r>
                        <a:rPr lang="en-US" altLang="zh-CN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学分）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在你的团队中，</a:t>
                      </a:r>
                      <a:r>
                        <a:rPr lang="en-US" altLang="zh-CN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种工具里哪几个适用于你的员工？</a:t>
                      </a:r>
                      <a:b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要求：明确对照关系，说明你推荐的使用原因以及希望取得的效果。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5265">
                <a:tc vMerge="1" gridSpan="5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等级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输入分数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3740">
                <a:tc gridSpan="5">
                  <a:txBody>
                    <a:bodyPr/>
                    <a:p>
                      <a:pPr algn="l" fontAlgn="ctr"/>
                      <a:r>
                        <a:rPr lang="zh-CN" altLang="en-US" sz="535" b="0" i="1">
                          <a:solidFill>
                            <a:srgbClr val="BFBFB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输入答案</a:t>
                      </a:r>
                      <a:endParaRPr lang="zh-CN" altLang="en-US" sz="535" b="0" i="1">
                        <a:solidFill>
                          <a:srgbClr val="BFBFB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t"/>
                      <a:endParaRPr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endParaRPr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9065">
                <a:tc rowSpan="2" gridSpan="5">
                  <a:txBody>
                    <a:bodyPr/>
                    <a:p>
                      <a:pPr algn="l" fontAlgn="ctr"/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第四题（</a:t>
                      </a:r>
                      <a:r>
                        <a:rPr lang="en-US" altLang="zh-CN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665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学分）</a:t>
                      </a:r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你在团队日常管理中用错过激励方式吗？有什么负面影响？现在回想起来哪里有改善空间？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65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</a:t>
                      </a:r>
                      <a:endParaRPr lang="zh-CN" altLang="en-US" sz="665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7805">
                <a:tc vMerge="1" gridSpan="5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等级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输入分数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0545">
                <a:tc gridSpan="5">
                  <a:txBody>
                    <a:bodyPr/>
                    <a:p>
                      <a:pPr algn="l" fontAlgn="ctr"/>
                      <a:r>
                        <a:rPr lang="zh-CN" altLang="en-US" sz="665" b="0" i="1">
                          <a:solidFill>
                            <a:srgbClr val="BFBFB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输入答案</a:t>
                      </a:r>
                      <a:endParaRPr lang="zh-CN" altLang="en-US" sz="665" b="0" i="1">
                        <a:solidFill>
                          <a:srgbClr val="BFBFB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上级点评：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zh-CN" altLang="en-US" sz="535" b="0" i="1">
                          <a:solidFill>
                            <a:srgbClr val="D0CE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导师点评：</a:t>
                      </a:r>
                      <a:endParaRPr lang="zh-CN" altLang="en-US" sz="535" b="0" i="1">
                        <a:solidFill>
                          <a:srgbClr val="D0CE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22" marR="13122" marT="13122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e0fc28b9115d30298870cc6dd7d13fa6b087b"/>
  <p:tag name="KSO_WM_NEWLAYOUT_GROUP_ID" val="layout_10003"/>
  <p:tag name="KSO_WM_NEWLAYOUT_ID" val="slide_1b8e207f8b04e0fb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3.xml><?xml version="1.0" encoding="utf-8"?>
<p:tagLst xmlns:p="http://schemas.openxmlformats.org/presentationml/2006/main">
  <p:tag name="HASNOTE" val="true"/>
  <p:tag name="NOTESHAPEID" val="4"/>
  <p:tag name="KSO_WM_UNIT_TEXTBOXSTYLE_SHAPETYPE" val="0"/>
  <p:tag name="KSO_WM_UNIT_TEXTBOXSTYLE_TEMPLATETYPE" val="0"/>
  <p:tag name="KSO_WM_UNIT_ISCONTENTSTITLE" val="0"/>
  <p:tag name="KSO_WM_UNIT_PRESET_TEXT" val="WPS极墨简约斜条标题"/>
  <p:tag name="KSO_WM_UNIT_NOCLEAR" val="1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956_66*a*1"/>
  <p:tag name="KSO_WM_TEMPLATE_CATEGORY" val="mixed"/>
  <p:tag name="KSO_WM_TEMPLATE_INDEX" val="20201956"/>
  <p:tag name="KSO_WM_UNIT_LAYERLEVEL" val="1"/>
  <p:tag name="KSO_WM_TAG_VERSION" val="1.0"/>
  <p:tag name="KSO_WM_BEAUTIFY_FLAG" val="#wm#"/>
  <p:tag name="KSO_WM_UNIT_TEXTBOXSTYLE_GUID" val="{d649c4d9-a36b-43fa-9a96-d614756841e7}"/>
  <p:tag name="KSO_WM_UNIT_TEXTBOXSTYLE_TEMPLATEID" val="3131282"/>
  <p:tag name="KSO_WM_UNIT_TEXTBOXSTYLE_TYPE" val="1"/>
</p:tagLst>
</file>

<file path=ppt/tags/tag74.xml><?xml version="1.0" encoding="utf-8"?>
<p:tagLst xmlns:p="http://schemas.openxmlformats.org/presentationml/2006/main">
  <p:tag name="KSO_WM_DIAGRAM_VIRTUALLY_FRAME" val="{&quot;height&quot;:372.3103942871094,&quot;left&quot;:54.73673829086183,&quot;top&quot;:113.1896060060516,&quot;width&quot;:850.4632617091381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8_3*l_h_i*1_1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68_3*l_h_a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1_1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868_3*l_h_i*1_2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2_1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868_3*l_h_i*1_3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868_3*l_h_f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3_1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868_3*l_h_i*1_4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4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4_1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1"/>
</p:tagLst>
</file>

<file path=ppt/tags/tag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68_3*l_h_f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868_3*l_h_f*1_4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left&quot;:54.73673829086183,&quot;top&quot;:113.1896060060516,&quot;width&quot;:850.46326170913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868_3*a*1"/>
  <p:tag name="KSO_WM_TEMPLATE_CATEGORY" val="diagram"/>
  <p:tag name="KSO_WM_TEMPLATE_INDEX" val="20231868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SLIDE_ID" val="diagram20231868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868"/>
  <p:tag name="KSO_WM_SLIDE_TYPE" val="text"/>
  <p:tag name="KSO_WM_SLIDE_SUBTYPE" val="diag"/>
  <p:tag name="KSO_WM_SLIDE_SIZE" val="850.42*372.31"/>
  <p:tag name="KSO_WM_SLIDE_POSITION" val="54.75*113.19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5_2*a*1"/>
  <p:tag name="KSO_WM_TEMPLATE_CATEGORY" val="diagram"/>
  <p:tag name="KSO_WM_TEMPLATE_INDEX" val="2023318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UNIT_PRESET_TEXT" val="单击此处添加标题内容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85_2*l_h_a*1_1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500061035156,&quot;left&quot;:59.02500610351562,&quot;top&quot;:181.1999969482422,&quot;width&quot;:813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185_2*l_h_a*1_3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500061035156,&quot;left&quot;:59.02500610351562,&quot;top&quot;:181.1999969482422,&quot;width&quot;:813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85_2*l_h_a*1_2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500061035156,&quot;left&quot;:59.02500610351562,&quot;top&quot;:181.1999969482422,&quot;width&quot;:813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85"/>
  <p:tag name="KSO_WM_SLIDE_ID" val="diagram2023318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13.45*259.05"/>
  <p:tag name="KSO_WM_SLIDE_POSITION" val="69.35*177.55"/>
</p:tagLst>
</file>

<file path=ppt/tags/tag94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95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96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97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98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99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0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1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2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3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4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5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6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7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8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09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10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11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12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13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14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15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16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17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18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19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0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1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2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3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4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5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6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7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8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29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30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31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32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33.xml><?xml version="1.0" encoding="utf-8"?>
<p:tagLst xmlns:p="http://schemas.openxmlformats.org/presentationml/2006/main">
  <p:tag name="KSO_WM_DIAGRAM_VIRTUALLY_FRAME" val="{&quot;height&quot;:337.5,&quot;left&quot;:60,&quot;top&quot;:120,&quot;width&quot;:840}"/>
</p:tagLst>
</file>

<file path=ppt/tags/tag134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35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36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37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38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39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40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41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42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43.xml><?xml version="1.0" encoding="utf-8"?>
<p:tagLst xmlns:p="http://schemas.openxmlformats.org/presentationml/2006/main">
  <p:tag name="KSO_WM_DIAGRAM_VIRTUALLY_FRAME" val="{&quot;height&quot;:378.9,&quot;left&quot;:60,&quot;top&quot;:114.45,&quot;width&quot;:824.3}"/>
</p:tagLst>
</file>

<file path=ppt/tags/tag144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45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46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47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48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49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50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51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52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53.xml><?xml version="1.0" encoding="utf-8"?>
<p:tagLst xmlns:p="http://schemas.openxmlformats.org/presentationml/2006/main">
  <p:tag name="KSO_WM_DIAGRAM_VIRTUALLY_FRAME" val="{&quot;height&quot;:382.15000000000003,&quot;left&quot;:60,&quot;top&quot;:116.97503937007873,&quot;width&quot;:837.75}"/>
</p:tagLst>
</file>

<file path=ppt/tags/tag154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55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56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57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58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59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0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1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2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3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4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5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6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7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8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69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70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71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72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73.xml><?xml version="1.0" encoding="utf-8"?>
<p:tagLst xmlns:p="http://schemas.openxmlformats.org/presentationml/2006/main">
  <p:tag name="KSO_WM_DIAGRAM_VIRTUALLY_FRAME" val="{&quot;height&quot;:276.0374803149606,&quot;left&quot;:69.37503937007874,&quot;top&quot;:216.71251968503938,&quot;width&quot;:821.2874803149605}"/>
</p:tagLst>
</file>

<file path=ppt/tags/tag174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a*1_5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a"/>
  <p:tag name="KSO_WM_UNIT_INDEX" val="1_5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f*1_5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SUBTYPE" val="a"/>
  <p:tag name="KSO_WM_UNIT_TYPE" val="o_h_f"/>
  <p:tag name="KSO_WM_UNIT_INDEX" val="1_5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a*1_3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a"/>
  <p:tag name="KSO_WM_UNIT_INDEX" val="1_3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f*1_3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SUBTYPE" val="a"/>
  <p:tag name="KSO_WM_UNIT_TYPE" val="o_h_f"/>
  <p:tag name="KSO_WM_UNIT_INDEX" val="1_3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a*1_1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a"/>
  <p:tag name="KSO_WM_UNIT_INDEX" val="1_1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8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f*1_1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SUBTYPE" val="a"/>
  <p:tag name="KSO_WM_UNIT_TYPE" val="o_h_f"/>
  <p:tag name="KSO_WM_UNIT_INDEX" val="1_1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8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f*1_4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SUBTYPE" val="a"/>
  <p:tag name="KSO_WM_UNIT_TYPE" val="o_h_f"/>
  <p:tag name="KSO_WM_UNIT_INDEX" val="1_4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8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f*1_2_1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SUBTYPE" val="a"/>
  <p:tag name="KSO_WM_UNIT_TYPE" val="o_h_f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输入你的智能图形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1_2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1_2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2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2_2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gradient&quot;:[{&quot;brightness&quot;:0.4000000059604645,&quot;colorType&quot;:1,&quot;foreColorIndex&quot;:6,&quot;pos&quot;:0,&quot;transparency&quot;:0},{&quot;brightness&quot;:0,&quot;colorType&quot;:1,&quot;foreColorIndex&quot;:6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3_2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3_2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4_2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4_2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5_2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5_2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gradient&quot;:[{&quot;brightness&quot;:0.4000000059604645,&quot;colorType&quot;:1,&quot;foreColorIndex&quot;:9,&quot;pos&quot;:0,&quot;transparency&quot;:0},{&quot;brightness&quot;:0,&quot;colorType&quot;:1,&quot;foreColorIndex&quot;:9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1_3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1_3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25"/>
  <p:tag name="KSO_WM_UNIT_TEXT_FILL_FORE_SCHEMECOLOR_INDEX" val="2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3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2_3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solid&quot;:{&quot;brightness&quot;:-0.25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-0.25"/>
  <p:tag name="KSO_WM_UNIT_TEXT_FILL_FORE_SCHEMECOLOR_INDEX" val="2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3_3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3_3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solid&quot;:{&quot;brightness&quot;:-0.25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-0.25"/>
  <p:tag name="KSO_WM_UNIT_TEXT_FILL_FORE_SCHEMECOLOR_INDEX" val="2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4_3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4_3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solid&quot;:{&quot;brightness&quot;:-0.25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-0.25"/>
  <p:tag name="KSO_WM_UNIT_TEXT_FILL_FORE_SCHEMECOLOR_INDEX" val="2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5_3"/>
  <p:tag name="KSO_WM_TEMPLATE_CATEGORY" val="diagram"/>
  <p:tag name="KSO_WM_TEMPLATE_INDEX" val="20231106"/>
  <p:tag name="KSO_WM_UNIT_LAYERLEVEL" val="1_1_1"/>
  <p:tag name="KSO_WM_TAG_VERSION" val="3.0"/>
  <p:tag name="KSO_WM_BEAUTIFY_FLAG" val="#wm#"/>
  <p:tag name="KSO_WM_UNIT_TYPE" val="o_h_i"/>
  <p:tag name="KSO_WM_UNIT_INDEX" val="1_5_3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848.1096062992126}"/>
  <p:tag name="KSO_WM_DIAGRAM_COLOR_MATCH_VALUE" val="{&quot;shape&quot;:{&quot;fill&quot;:{&quot;solid&quot;:{&quot;brightness&quot;:-0.25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-0.25"/>
  <p:tag name="KSO_WM_UNIT_TEXT_FILL_FORE_SCHEMECOLOR_INDEX" val="2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1106_4*o_h_a*1_3_1"/>
  <p:tag name="KSO_WM_TEMPLATE_CATEGORY" val="diagram"/>
  <p:tag name="KSO_WM_TEMPLATE_INDEX" val="20231106"/>
  <p:tag name="KSO_WM_UNIT_LAYERLEVEL" val="1_1_1"/>
  <p:tag name="KSO_WM_TAG_VERSION" val="3.0"/>
  <p:tag name="KSO_WM_UNIT_TYPE" val="o_h_a"/>
  <p:tag name="KSO_WM_UNIT_INDEX" val="1_3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8.55,&quot;top&quot;:65.9,&quot;width&quot;:75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1"/>
  <p:tag name="KSO_WM_TEMPLATE_CATEGORY" val="diagram"/>
  <p:tag name="KSO_WM_TEMPLATE_INDEX" val="20231106"/>
  <p:tag name="KSO_WM_UNIT_LAYERLEVEL" val="1_1_1"/>
  <p:tag name="KSO_WM_TAG_VERSION" val="3.0"/>
  <p:tag name="KSO_WM_UNIT_TYPE" val="o_h_i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763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1"/>
  <p:tag name="KSO_WM_TEMPLATE_CATEGORY" val="diagram"/>
  <p:tag name="KSO_WM_TEMPLATE_INDEX" val="20231106"/>
  <p:tag name="KSO_WM_UNIT_LAYERLEVEL" val="1_1_1"/>
  <p:tag name="KSO_WM_TAG_VERSION" val="3.0"/>
  <p:tag name="KSO_WM_UNIT_TYPE" val="o_h_i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763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1"/>
  <p:tag name="KSO_WM_TEMPLATE_CATEGORY" val="diagram"/>
  <p:tag name="KSO_WM_TEMPLATE_INDEX" val="20231106"/>
  <p:tag name="KSO_WM_UNIT_LAYERLEVEL" val="1_1_1"/>
  <p:tag name="KSO_WM_TAG_VERSION" val="3.0"/>
  <p:tag name="KSO_WM_UNIT_TYPE" val="o_h_i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763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106_4*o_h_i*1_2_1"/>
  <p:tag name="KSO_WM_TEMPLATE_CATEGORY" val="diagram"/>
  <p:tag name="KSO_WM_TEMPLATE_INDEX" val="20231106"/>
  <p:tag name="KSO_WM_UNIT_LAYERLEVEL" val="1_1_1"/>
  <p:tag name="KSO_WM_TAG_VERSION" val="3.0"/>
  <p:tag name="KSO_WM_UNIT_TYPE" val="o_h_i"/>
  <p:tag name="KSO_WM_UNIT_INDEX" val="1_2_1"/>
  <p:tag name="KSO_WM_DIAGRAM_VERSION" val="3"/>
  <p:tag name="KSO_WM_DIAGRAM_COLOR_TRICK" val="4"/>
  <p:tag name="KSO_WM_DIAGRAM_COLOR_TEXT_CAN_REMOVE" val="n"/>
  <p:tag name="KSO_WM_DIAGRAM_GROUP_CODE" val="o1-1"/>
  <p:tag name="KSO_WM_DIAGRAM_MAX_ITEMCNT" val="6"/>
  <p:tag name="KSO_WM_DIAGRAM_MIN_ITEMCNT" val="2"/>
  <p:tag name="KSO_WM_DIAGRAM_VIRTUALLY_FRAME" val="{&quot;height&quot;:449.625,&quot;left&quot;:60.45,&quot;top&quot;:65.9,&quot;width&quot;:763.6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99.xml><?xml version="1.0" encoding="utf-8"?>
<p:tagLst xmlns:p="http://schemas.openxmlformats.org/presentationml/2006/main">
  <p:tag name="KSO_WM_SLIDE_ID" val="diagram20231106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1106"/>
  <p:tag name="KSO_WM_SLIDE_TYPE" val="text"/>
  <p:tag name="KSO_WM_SLIDE_SUBTYPE" val="diag"/>
  <p:tag name="KSO_WM_SLIDE_SIZE" val="655.95*319.8"/>
  <p:tag name="KSO_WM_SLIDE_POSITION" val="135*160.75"/>
  <p:tag name="KSO_WM_SLIDE_LAYOUT" val="a_o"/>
  <p:tag name="KSO_WM_SLIDE_LAYOUT_CNT" val="1_1"/>
  <p:tag name="KSO_WM_SPECIAL_SOURCE" val="bdnull"/>
  <p:tag name="KSO_WM_DIAGRAM_GROUP_CODE" val="o1-1"/>
  <p:tag name="KSO_WM_SLIDE_DIAGTYPE" val="o"/>
</p:tagLst>
</file>

<file path=ppt/tags/tag200.xml><?xml version="1.0" encoding="utf-8"?>
<p:tagLst xmlns:p="http://schemas.openxmlformats.org/presentationml/2006/main">
  <p:tag name="KSO_DOCER_RESOURCE_TRACE_INFO" val="{&quot;id&quot;:&quot;50062392&quot;,&quot;origin&quot;:0,&quot;type&quot;:&quot;icons&quot;,&quot;user&quot;:&quot;204530131&quot;}"/>
</p:tagLst>
</file>

<file path=ppt/tags/tag201.xml><?xml version="1.0" encoding="utf-8"?>
<p:tagLst xmlns:p="http://schemas.openxmlformats.org/presentationml/2006/main">
  <p:tag name="KSO_DOCER_RESOURCE_TRACE_INFO" val="{&quot;id&quot;:&quot;50063706&quot;,&quot;origin&quot;:0,&quot;type&quot;:&quot;icons&quot;,&quot;user&quot;:&quot;204530131&quot;}"/>
</p:tagLst>
</file>

<file path=ppt/tags/tag202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203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4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5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6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7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8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09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0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1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2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3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4.xml><?xml version="1.0" encoding="utf-8"?>
<p:tagLst xmlns:p="http://schemas.openxmlformats.org/presentationml/2006/main">
  <p:tag name="KSO_WM_DIAGRAM_VIRTUALLY_FRAME" val="{&quot;height&quot;:198.49724409448828,&quot;left&quot;:100.80653543307086,&quot;top&quot;:196.2410236220472,&quot;width&quot;:639.320157480315}"/>
</p:tagLst>
</file>

<file path=ppt/tags/tag215.xml><?xml version="1.0" encoding="utf-8"?>
<p:tagLst xmlns:p="http://schemas.openxmlformats.org/presentationml/2006/main">
  <p:tag name="MH" val="20170629132324"/>
  <p:tag name="MH_LIBRARY" val="GRAPHIC"/>
  <p:tag name="MH_ORDER" val="TextBox 9"/>
</p:tagLst>
</file>

<file path=ppt/tags/tag216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17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18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19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0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1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2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3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4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5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6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7.xml><?xml version="1.0" encoding="utf-8"?>
<p:tagLst xmlns:p="http://schemas.openxmlformats.org/presentationml/2006/main">
  <p:tag name="KSO_WM_DIAGRAM_VIRTUALLY_FRAME" val="{&quot;height&quot;:208.44724409448827,&quot;left&quot;:100.80653543307086,&quot;top&quot;:186.29102362204725,&quot;width&quot;:639.320157480315}"/>
</p:tagLst>
</file>

<file path=ppt/tags/tag228.xml><?xml version="1.0" encoding="utf-8"?>
<p:tagLst xmlns:p="http://schemas.openxmlformats.org/presentationml/2006/main">
  <p:tag name="KSO_DOCER_RESOURCE_TRACE_INFO" val="{&quot;id&quot;:&quot;4590497&quot;,&quot;origin&quot;:0,&quot;type&quot;:&quot;icons&quot;,&quot;user&quot;:&quot;204530131&quot;}"/>
</p:tagLst>
</file>

<file path=ppt/tags/tag229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0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1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2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3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4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5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6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7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8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39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0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1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2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3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4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5.xml><?xml version="1.0" encoding="utf-8"?>
<p:tagLst xmlns:p="http://schemas.openxmlformats.org/presentationml/2006/main">
  <p:tag name="KSO_WM_DIAGRAM_VIRTUALLY_FRAME" val="{&quot;height&quot;:370.1582677165355,&quot;left&quot;:35.01622047244091,&quot;top&quot;:116.88858267716535,&quot;width&quot;:906.2750938551235}"/>
</p:tagLst>
</file>

<file path=ppt/tags/tag246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47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48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49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0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1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2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3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4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5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6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7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8.xml><?xml version="1.0" encoding="utf-8"?>
<p:tagLst xmlns:p="http://schemas.openxmlformats.org/presentationml/2006/main">
  <p:tag name="KSO_WM_DIAGRAM_VIRTUALLY_FRAME" val="{&quot;height&quot;:374.21480314960627,&quot;left&quot;:51.650393700787404,&quot;top&quot;:71.55275590551182,&quot;width&quot;:842.2538582677165}"/>
</p:tagLst>
</file>

<file path=ppt/tags/tag259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260.xml><?xml version="1.0" encoding="utf-8"?>
<p:tagLst xmlns:p="http://schemas.openxmlformats.org/presentationml/2006/main">
  <p:tag name="KSO_DOCER_RESOURCE_TRACE_INFO" val="{&quot;id&quot;:&quot;4590497&quot;,&quot;origin&quot;:0,&quot;type&quot;:&quot;icons&quot;,&quot;user&quot;:&quot;204530131&quot;}"/>
</p:tagLst>
</file>

<file path=ppt/tags/tag261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2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3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4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5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6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7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8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69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70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71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72.xml><?xml version="1.0" encoding="utf-8"?>
<p:tagLst xmlns:p="http://schemas.openxmlformats.org/presentationml/2006/main">
  <p:tag name="KSO_WM_DIAGRAM_VIRTUALLY_FRAME" val="{&quot;height&quot;:210,&quot;left&quot;:61.15,&quot;top&quot;:268.75,&quot;width&quot;:840}"/>
</p:tagLst>
</file>

<file path=ppt/tags/tag273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4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5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6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7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8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79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0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1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2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3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4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5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6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7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8.xml><?xml version="1.0" encoding="utf-8"?>
<p:tagLst xmlns:p="http://schemas.openxmlformats.org/presentationml/2006/main">
  <p:tag name="KSO_WM_DIAGRAM_VIRTUALLY_FRAME" val="{&quot;height&quot;:201.93660714285707,&quot;left&quot;:4.05,&quot;top&quot;:256.06339285714296,&quot;width&quot;:943.1}"/>
</p:tagLst>
</file>

<file path=ppt/tags/tag289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0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1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2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3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4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5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6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7.xml><?xml version="1.0" encoding="utf-8"?>
<p:tagLst xmlns:p="http://schemas.openxmlformats.org/presentationml/2006/main">
  <p:tag name="KSO_WM_DIAGRAM_VIRTUALLY_FRAME" val="{&quot;height&quot;:201.4,&quot;left&quot;:59.99999999999996,&quot;top&quot;:128.2,&quot;width&quot;:842}"/>
</p:tagLst>
</file>

<file path=ppt/tags/tag298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299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0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1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2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3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4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5.xml><?xml version="1.0" encoding="utf-8"?>
<p:tagLst xmlns:p="http://schemas.openxmlformats.org/presentationml/2006/main">
  <p:tag name="KSO_WM_DIAGRAM_VIRTUALLY_FRAME" val="{&quot;height&quot;:255,&quot;left&quot;:60,&quot;top&quot;:192.75,&quot;width&quot;:840}"/>
</p:tagLst>
</file>

<file path=ppt/tags/tag306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307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08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09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0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1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2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3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4.xml><?xml version="1.0" encoding="utf-8"?>
<p:tagLst xmlns:p="http://schemas.openxmlformats.org/presentationml/2006/main">
  <p:tag name="KSO_WM_DIAGRAM_VIRTUALLY_FRAME" val="{&quot;height&quot;:382.5,&quot;left&quot;:32.05,&quot;top&quot;:116.25,&quot;width&quot;:867.95}"/>
</p:tagLst>
</file>

<file path=ppt/tags/tag315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16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17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18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19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0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1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2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3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4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5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6.xml><?xml version="1.0" encoding="utf-8"?>
<p:tagLst xmlns:p="http://schemas.openxmlformats.org/presentationml/2006/main">
  <p:tag name="KSO_WM_DIAGRAM_VIRTUALLY_FRAME" val="{&quot;height&quot;:187.5,&quot;left&quot;:57.8,&quot;top&quot;:130.1,&quot;width&quot;:840}"/>
</p:tagLst>
</file>

<file path=ppt/tags/tag327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28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29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0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1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2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3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4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5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6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7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8.xml><?xml version="1.0" encoding="utf-8"?>
<p:tagLst xmlns:p="http://schemas.openxmlformats.org/presentationml/2006/main">
  <p:tag name="KSO_WM_DIAGRAM_VIRTUALLY_FRAME" val="{&quot;height&quot;:172.50000000000003,&quot;left&quot;:60,&quot;top&quot;:106.16251968503937,&quot;width&quot;:840}"/>
</p:tagLst>
</file>

<file path=ppt/tags/tag339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0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1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2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3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4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5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6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7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8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49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0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1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2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3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4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5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6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7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8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59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60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61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62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63.xml><?xml version="1.0" encoding="utf-8"?>
<p:tagLst xmlns:p="http://schemas.openxmlformats.org/presentationml/2006/main">
  <p:tag name="KSO_WM_DIAGRAM_VIRTUALLY_FRAME" val="{&quot;height&quot;:436.583937007874,&quot;left&quot;:29.241259842519685,&quot;top&quot;:65.88283464566929,&quot;width&quot;:901.5174803149606}"/>
</p:tagLst>
</file>

<file path=ppt/tags/tag364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65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66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67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68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69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70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71.xml><?xml version="1.0" encoding="utf-8"?>
<p:tagLst xmlns:p="http://schemas.openxmlformats.org/presentationml/2006/main">
  <p:tag name="KSO_WM_DIAGRAM_VIRTUALLY_FRAME" val="{&quot;height&quot;:405.6233070866141,&quot;left&quot;:32.076220472440944,&quot;top&quot;:71.55275590551182,&quot;width&quot;:830.9140157480315}"/>
</p:tagLst>
</file>

<file path=ppt/tags/tag372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373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4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5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6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7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8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79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0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1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2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3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4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5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6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7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8.xml><?xml version="1.0" encoding="utf-8"?>
<p:tagLst xmlns:p="http://schemas.openxmlformats.org/presentationml/2006/main">
  <p:tag name="KSO_WM_DIAGRAM_VIRTUALLY_FRAME" val="{&quot;height&quot;:359.9,&quot;left&quot;:60,&quot;top&quot;:129.5,&quot;width&quot;:835.75}"/>
</p:tagLst>
</file>

<file path=ppt/tags/tag389.xml><?xml version="1.0" encoding="utf-8"?>
<p:tagLst xmlns:p="http://schemas.openxmlformats.org/presentationml/2006/main">
  <p:tag name="KSO_DOCER_RESOURCE_TRACE_INFO" val="{&quot;id&quot;:&quot;3505404&quot;,&quot;origin&quot;:0,&quot;type&quot;:&quot;icons&quot;,&quot;user&quot;:&quot;204530131&quot;}"/>
</p:tagLst>
</file>

<file path=ppt/tags/tag390.xml><?xml version="1.0" encoding="utf-8"?>
<p:tagLst xmlns:p="http://schemas.openxmlformats.org/presentationml/2006/main">
  <p:tag name="TABLE_ENDDRAG_ORIGIN_RECT" val="309*209"/>
  <p:tag name="TABLE_ENDDRAG_RECT" val="387*188*309*209"/>
</p:tagLst>
</file>

<file path=ppt/tags/tag391.xml><?xml version="1.0" encoding="utf-8"?>
<p:tagLst xmlns:p="http://schemas.openxmlformats.org/presentationml/2006/main">
  <p:tag name="RESOURCE_RECORD_KEY" val="{&quot;10&quot;:[3505404,50062392,50063706,4590497],&quot;29&quot;:[50000031]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333333"/>
      </a:dk2>
      <a:lt2>
        <a:srgbClr val="F5F5F5"/>
      </a:lt2>
      <a:accent1>
        <a:srgbClr val="4A6FA5"/>
      </a:accent1>
      <a:accent2>
        <a:srgbClr val="E67E22"/>
      </a:accent2>
      <a:accent3>
        <a:srgbClr val="27AE60"/>
      </a:accent3>
      <a:accent4>
        <a:srgbClr val="9B59B6"/>
      </a:accent4>
      <a:accent5>
        <a:srgbClr val="E74C3C"/>
      </a:accent5>
      <a:accent6>
        <a:srgbClr val="F1C40F"/>
      </a:accent6>
      <a:hlink>
        <a:srgbClr val="2980B9"/>
      </a:hlink>
      <a:folHlink>
        <a:srgbClr val="8E44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11822</Words>
  <Application>WPS 演示</Application>
  <PresentationFormat>宽屏</PresentationFormat>
  <Paragraphs>1237</Paragraphs>
  <Slides>52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52</vt:i4>
      </vt:variant>
    </vt:vector>
  </HeadingPairs>
  <TitlesOfParts>
    <vt:vector size="71" baseType="lpstr">
      <vt:lpstr>Arial</vt:lpstr>
      <vt:lpstr>宋体</vt:lpstr>
      <vt:lpstr>Wingdings</vt:lpstr>
      <vt:lpstr>微软雅黑</vt:lpstr>
      <vt:lpstr>Wingdings</vt:lpstr>
      <vt:lpstr>DFKai-SB</vt:lpstr>
      <vt:lpstr>MingLiU-ExtB</vt:lpstr>
      <vt:lpstr>Segoe UI</vt:lpstr>
      <vt:lpstr>汉仪粗宋简</vt:lpstr>
      <vt:lpstr>Liter</vt:lpstr>
      <vt:lpstr>Oranienbaum</vt:lpstr>
      <vt:lpstr>PMingLiU-ExtB</vt:lpstr>
      <vt:lpstr>Arial Unicode MS</vt:lpstr>
      <vt:lpstr>Quattrocento Sans</vt:lpstr>
      <vt:lpstr>黑体</vt:lpstr>
      <vt:lpstr>Microsoft JhengHei</vt:lpstr>
      <vt:lpstr>Office 主题</vt:lpstr>
      <vt:lpstr>自定义设计方案</vt:lpstr>
      <vt:lpstr>1_Office 主题</vt:lpstr>
      <vt:lpstr>PowerPoint 演示文稿</vt:lpstr>
      <vt:lpstr>PowerPoint 演示文稿</vt:lpstr>
      <vt:lpstr>“激励与引导”是一件啥事？</vt:lpstr>
      <vt:lpstr>你怎么看待这三句话？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长沙景嘉微电子股份有限公司 </dc:title>
  <dc:creator>xiongliang060@jingjia.com</dc:creator>
  <cp:lastModifiedBy>盆子会</cp:lastModifiedBy>
  <cp:revision>1823</cp:revision>
  <dcterms:created xsi:type="dcterms:W3CDTF">2010-10-17T09:28:00Z</dcterms:created>
  <dcterms:modified xsi:type="dcterms:W3CDTF">2026-07-23T00:38:49Z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2052-12.1.0.26381</vt:lpwstr>
  </property>
  <property fmtid="{D5CDD505-2E9C-101B-9397-08002B2CF9AE}" pid="3" name="ICV">
    <vt:lpwstr>C2698F7BED9A4A9CACD78724984DA79F_13</vt:lpwstr>
  </property>
</Properties>
</file>